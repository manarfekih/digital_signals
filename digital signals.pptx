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gbalumo" charset="1" panose="00000000000000000000"/>
      <p:regular r:id="rId16"/>
    </p:embeddedFont>
    <p:embeddedFont>
      <p:font typeface="Calibri (MS)" charset="1" panose="020F0502020204030204"/>
      <p:regular r:id="rId17"/>
    </p:embeddedFont>
    <p:embeddedFont>
      <p:font typeface="Calibri (MS) Bold" charset="1" panose="020F0702030404030204"/>
      <p:regular r:id="rId18"/>
    </p:embeddedFont>
    <p:embeddedFont>
      <p:font typeface="Open Sans" charset="1" panose="020B0606030504020204"/>
      <p:regular r:id="rId19"/>
    </p:embeddedFont>
    <p:embeddedFont>
      <p:font typeface="Bree Serif" charset="1" panose="020005030400000200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BD8ED"/>
        </a:solidFill>
      </p:bgPr>
    </p:bg>
    <p:spTree>
      <p:nvGrpSpPr>
        <p:cNvPr id="1" name=""/>
        <p:cNvGrpSpPr/>
        <p:nvPr/>
      </p:nvGrpSpPr>
      <p:grpSpPr>
        <a:xfrm>
          <a:off x="0" y="0"/>
          <a:ext cx="0" cy="0"/>
          <a:chOff x="0" y="0"/>
          <a:chExt cx="0" cy="0"/>
        </a:xfrm>
      </p:grpSpPr>
      <p:sp>
        <p:nvSpPr>
          <p:cNvPr name="Freeform 2" id="2"/>
          <p:cNvSpPr/>
          <p:nvPr/>
        </p:nvSpPr>
        <p:spPr>
          <a:xfrm flipH="false" flipV="false" rot="-916514">
            <a:off x="458387" y="484701"/>
            <a:ext cx="515579" cy="484644"/>
          </a:xfrm>
          <a:custGeom>
            <a:avLst/>
            <a:gdLst/>
            <a:ahLst/>
            <a:cxnLst/>
            <a:rect r="r" b="b" t="t" l="l"/>
            <a:pathLst>
              <a:path h="484644" w="515579">
                <a:moveTo>
                  <a:pt x="0" y="0"/>
                </a:moveTo>
                <a:lnTo>
                  <a:pt x="515579" y="0"/>
                </a:lnTo>
                <a:lnTo>
                  <a:pt x="515579" y="484644"/>
                </a:lnTo>
                <a:lnTo>
                  <a:pt x="0" y="4846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125012" y="0"/>
            <a:ext cx="8162988" cy="10287000"/>
            <a:chOff x="0" y="0"/>
            <a:chExt cx="10910861" cy="13749871"/>
          </a:xfrm>
        </p:grpSpPr>
        <p:sp>
          <p:nvSpPr>
            <p:cNvPr name="Freeform 4" id="4"/>
            <p:cNvSpPr/>
            <p:nvPr/>
          </p:nvSpPr>
          <p:spPr>
            <a:xfrm flipH="false" flipV="false" rot="0">
              <a:off x="21509" y="16891"/>
              <a:ext cx="10867730" cy="13715999"/>
            </a:xfrm>
            <a:custGeom>
              <a:avLst/>
              <a:gdLst/>
              <a:ahLst/>
              <a:cxnLst/>
              <a:rect r="r" b="b" t="t" l="l"/>
              <a:pathLst>
                <a:path h="13715999" w="10867730">
                  <a:moveTo>
                    <a:pt x="0" y="0"/>
                  </a:moveTo>
                  <a:lnTo>
                    <a:pt x="10867730" y="0"/>
                  </a:lnTo>
                  <a:lnTo>
                    <a:pt x="10867730" y="13715999"/>
                  </a:lnTo>
                  <a:lnTo>
                    <a:pt x="0" y="13715999"/>
                  </a:lnTo>
                  <a:close/>
                </a:path>
              </a:pathLst>
            </a:custGeom>
            <a:blipFill>
              <a:blip r:embed="rId4"/>
              <a:stretch>
                <a:fillRect l="-10850" t="-10857" r="-56686" b="0"/>
              </a:stretch>
            </a:blipFill>
          </p:spPr>
        </p:sp>
        <p:sp>
          <p:nvSpPr>
            <p:cNvPr name="Freeform 5" id="5"/>
            <p:cNvSpPr/>
            <p:nvPr/>
          </p:nvSpPr>
          <p:spPr>
            <a:xfrm flipH="false" flipV="false" rot="0">
              <a:off x="0" y="0"/>
              <a:ext cx="10910748" cy="13749782"/>
            </a:xfrm>
            <a:custGeom>
              <a:avLst/>
              <a:gdLst/>
              <a:ahLst/>
              <a:cxnLst/>
              <a:rect r="r" b="b" t="t" l="l"/>
              <a:pathLst>
                <a:path h="13749782" w="10910748">
                  <a:moveTo>
                    <a:pt x="21509" y="0"/>
                  </a:moveTo>
                  <a:lnTo>
                    <a:pt x="10889239" y="0"/>
                  </a:lnTo>
                  <a:cubicBezTo>
                    <a:pt x="10901207" y="0"/>
                    <a:pt x="10910748" y="7620"/>
                    <a:pt x="10910748" y="16891"/>
                  </a:cubicBezTo>
                  <a:lnTo>
                    <a:pt x="10910748" y="13732890"/>
                  </a:lnTo>
                  <a:cubicBezTo>
                    <a:pt x="10910748" y="13742290"/>
                    <a:pt x="10901045" y="13749782"/>
                    <a:pt x="10889239" y="13749782"/>
                  </a:cubicBezTo>
                  <a:lnTo>
                    <a:pt x="21509" y="13749782"/>
                  </a:lnTo>
                  <a:cubicBezTo>
                    <a:pt x="9542" y="13749782"/>
                    <a:pt x="0" y="13742163"/>
                    <a:pt x="0" y="13732890"/>
                  </a:cubicBezTo>
                  <a:lnTo>
                    <a:pt x="0" y="16891"/>
                  </a:lnTo>
                  <a:cubicBezTo>
                    <a:pt x="0" y="7620"/>
                    <a:pt x="9703" y="0"/>
                    <a:pt x="21509" y="0"/>
                  </a:cubicBezTo>
                  <a:moveTo>
                    <a:pt x="21509" y="33909"/>
                  </a:moveTo>
                  <a:lnTo>
                    <a:pt x="21509" y="16891"/>
                  </a:lnTo>
                  <a:lnTo>
                    <a:pt x="43180" y="16891"/>
                  </a:lnTo>
                  <a:lnTo>
                    <a:pt x="43180" y="13732890"/>
                  </a:lnTo>
                  <a:lnTo>
                    <a:pt x="21509" y="13732890"/>
                  </a:lnTo>
                  <a:lnTo>
                    <a:pt x="21509" y="13716000"/>
                  </a:lnTo>
                  <a:lnTo>
                    <a:pt x="10889239" y="13716000"/>
                  </a:lnTo>
                  <a:lnTo>
                    <a:pt x="10889239" y="13732890"/>
                  </a:lnTo>
                  <a:lnTo>
                    <a:pt x="10867730" y="13732890"/>
                  </a:lnTo>
                  <a:lnTo>
                    <a:pt x="10867730" y="16891"/>
                  </a:lnTo>
                  <a:lnTo>
                    <a:pt x="10889239" y="16891"/>
                  </a:lnTo>
                  <a:lnTo>
                    <a:pt x="10889239" y="33909"/>
                  </a:lnTo>
                  <a:lnTo>
                    <a:pt x="21509" y="33909"/>
                  </a:lnTo>
                  <a:close/>
                </a:path>
              </a:pathLst>
            </a:custGeom>
            <a:solidFill>
              <a:srgbClr val="028090"/>
            </a:solidFill>
          </p:spPr>
        </p:sp>
      </p:grpSp>
      <p:sp>
        <p:nvSpPr>
          <p:cNvPr name="TextBox 6" id="6"/>
          <p:cNvSpPr txBox="true"/>
          <p:nvPr/>
        </p:nvSpPr>
        <p:spPr>
          <a:xfrm rot="0">
            <a:off x="1838090" y="1434938"/>
            <a:ext cx="5826800" cy="1351508"/>
          </a:xfrm>
          <a:prstGeom prst="rect">
            <a:avLst/>
          </a:prstGeom>
        </p:spPr>
        <p:txBody>
          <a:bodyPr anchor="t" rtlCol="false" tIns="0" lIns="0" bIns="0" rIns="0">
            <a:spAutoFit/>
          </a:bodyPr>
          <a:lstStyle/>
          <a:p>
            <a:pPr algn="ctr">
              <a:lnSpc>
                <a:spcPts val="11082"/>
              </a:lnSpc>
              <a:spcBef>
                <a:spcPct val="0"/>
              </a:spcBef>
            </a:pPr>
            <a:r>
              <a:rPr lang="en-US" sz="7916" spc="-435">
                <a:solidFill>
                  <a:srgbClr val="1800AD"/>
                </a:solidFill>
                <a:latin typeface="Agbalumo"/>
                <a:ea typeface="Agbalumo"/>
                <a:cs typeface="Agbalumo"/>
                <a:sym typeface="Agbalumo"/>
              </a:rPr>
              <a:t>Digital Signals</a:t>
            </a:r>
          </a:p>
        </p:txBody>
      </p:sp>
      <p:sp>
        <p:nvSpPr>
          <p:cNvPr name="TextBox 7" id="7"/>
          <p:cNvSpPr txBox="true"/>
          <p:nvPr/>
        </p:nvSpPr>
        <p:spPr>
          <a:xfrm rot="0">
            <a:off x="2016052" y="3191454"/>
            <a:ext cx="5128699" cy="463558"/>
          </a:xfrm>
          <a:prstGeom prst="rect">
            <a:avLst/>
          </a:prstGeom>
        </p:spPr>
        <p:txBody>
          <a:bodyPr anchor="t" rtlCol="false" tIns="0" lIns="0" bIns="0" rIns="0">
            <a:spAutoFit/>
          </a:bodyPr>
          <a:lstStyle/>
          <a:p>
            <a:pPr algn="ctr">
              <a:lnSpc>
                <a:spcPts val="3324"/>
              </a:lnSpc>
              <a:spcBef>
                <a:spcPct val="0"/>
              </a:spcBef>
            </a:pPr>
            <a:r>
              <a:rPr lang="en-US" sz="2374" spc="-130">
                <a:solidFill>
                  <a:srgbClr val="004AAD"/>
                </a:solidFill>
                <a:latin typeface="Calibri (MS)"/>
                <a:ea typeface="Calibri (MS)"/>
                <a:cs typeface="Calibri (MS)"/>
                <a:sym typeface="Calibri (MS)"/>
              </a:rPr>
              <a:t>S</a:t>
            </a:r>
            <a:r>
              <a:rPr lang="en-US" sz="2374" spc="-130">
                <a:solidFill>
                  <a:srgbClr val="004AAD"/>
                </a:solidFill>
                <a:latin typeface="Calibri (MS)"/>
                <a:ea typeface="Calibri (MS)"/>
                <a:cs typeface="Calibri (MS)"/>
                <a:sym typeface="Calibri (MS)"/>
              </a:rPr>
              <a:t>upervised Learning  -   ML   -   DL</a:t>
            </a:r>
          </a:p>
        </p:txBody>
      </p:sp>
      <p:grpSp>
        <p:nvGrpSpPr>
          <p:cNvPr name="Group 8" id="8"/>
          <p:cNvGrpSpPr/>
          <p:nvPr/>
        </p:nvGrpSpPr>
        <p:grpSpPr>
          <a:xfrm rot="0">
            <a:off x="274753" y="9258300"/>
            <a:ext cx="2970163" cy="453608"/>
            <a:chOff x="0" y="0"/>
            <a:chExt cx="4389120" cy="670314"/>
          </a:xfrm>
        </p:grpSpPr>
        <p:sp>
          <p:nvSpPr>
            <p:cNvPr name="Freeform 9" id="9"/>
            <p:cNvSpPr/>
            <p:nvPr/>
          </p:nvSpPr>
          <p:spPr>
            <a:xfrm flipH="false" flipV="false" rot="0">
              <a:off x="0" y="0"/>
              <a:ext cx="4389120" cy="670314"/>
            </a:xfrm>
            <a:custGeom>
              <a:avLst/>
              <a:gdLst/>
              <a:ahLst/>
              <a:cxnLst/>
              <a:rect r="r" b="b" t="t" l="l"/>
              <a:pathLst>
                <a:path h="670314" w="4389120">
                  <a:moveTo>
                    <a:pt x="0" y="0"/>
                  </a:moveTo>
                  <a:lnTo>
                    <a:pt x="4389120" y="0"/>
                  </a:lnTo>
                  <a:lnTo>
                    <a:pt x="4389120" y="670314"/>
                  </a:lnTo>
                  <a:lnTo>
                    <a:pt x="0" y="670314"/>
                  </a:lnTo>
                  <a:close/>
                </a:path>
              </a:pathLst>
            </a:custGeom>
            <a:blipFill>
              <a:blip r:embed="rId5">
                <a:alphaModFix amt="0"/>
              </a:blip>
              <a:stretch>
                <a:fillRect l="0" t="-76657" r="0" b="-78513"/>
              </a:stretch>
            </a:blipFill>
          </p:spPr>
        </p:sp>
        <p:sp>
          <p:nvSpPr>
            <p:cNvPr name="TextBox 10" id="10"/>
            <p:cNvSpPr txBox="true"/>
            <p:nvPr/>
          </p:nvSpPr>
          <p:spPr>
            <a:xfrm>
              <a:off x="0" y="-28575"/>
              <a:ext cx="4389120" cy="698889"/>
            </a:xfrm>
            <a:prstGeom prst="rect">
              <a:avLst/>
            </a:prstGeom>
          </p:spPr>
          <p:txBody>
            <a:bodyPr anchor="ctr" rtlCol="false" tIns="0" lIns="0" bIns="0" rIns="0"/>
            <a:lstStyle/>
            <a:p>
              <a:pPr algn="l">
                <a:lnSpc>
                  <a:spcPts val="1919"/>
                </a:lnSpc>
              </a:pPr>
              <a:r>
                <a:rPr lang="en-US" b="true" sz="1599" spc="225">
                  <a:solidFill>
                    <a:srgbClr val="000000"/>
                  </a:solidFill>
                  <a:latin typeface="Calibri (MS) Bold"/>
                  <a:ea typeface="Calibri (MS) Bold"/>
                  <a:cs typeface="Calibri (MS) Bold"/>
                  <a:sym typeface="Calibri (MS) Bold"/>
                </a:rPr>
                <a:t>Prepared By :</a:t>
              </a:r>
            </a:p>
          </p:txBody>
        </p:sp>
      </p:grpSp>
      <p:grpSp>
        <p:nvGrpSpPr>
          <p:cNvPr name="Group 11" id="11"/>
          <p:cNvGrpSpPr/>
          <p:nvPr/>
        </p:nvGrpSpPr>
        <p:grpSpPr>
          <a:xfrm rot="0">
            <a:off x="274753" y="9654593"/>
            <a:ext cx="3482598" cy="494723"/>
            <a:chOff x="0" y="0"/>
            <a:chExt cx="5146365" cy="731071"/>
          </a:xfrm>
        </p:grpSpPr>
        <p:sp>
          <p:nvSpPr>
            <p:cNvPr name="Freeform 12" id="12"/>
            <p:cNvSpPr/>
            <p:nvPr/>
          </p:nvSpPr>
          <p:spPr>
            <a:xfrm flipH="false" flipV="false" rot="0">
              <a:off x="0" y="0"/>
              <a:ext cx="5146366" cy="731071"/>
            </a:xfrm>
            <a:custGeom>
              <a:avLst/>
              <a:gdLst/>
              <a:ahLst/>
              <a:cxnLst/>
              <a:rect r="r" b="b" t="t" l="l"/>
              <a:pathLst>
                <a:path h="731071" w="5146366">
                  <a:moveTo>
                    <a:pt x="0" y="0"/>
                  </a:moveTo>
                  <a:lnTo>
                    <a:pt x="5146366" y="0"/>
                  </a:lnTo>
                  <a:lnTo>
                    <a:pt x="5146366" y="731071"/>
                  </a:lnTo>
                  <a:lnTo>
                    <a:pt x="0" y="731071"/>
                  </a:lnTo>
                  <a:close/>
                </a:path>
              </a:pathLst>
            </a:custGeom>
            <a:blipFill>
              <a:blip r:embed="rId5">
                <a:alphaModFix amt="0"/>
              </a:blip>
              <a:stretch>
                <a:fillRect l="0" t="-333410" r="-179547" b="-333471"/>
              </a:stretch>
            </a:blipFill>
          </p:spPr>
        </p:sp>
        <p:sp>
          <p:nvSpPr>
            <p:cNvPr name="TextBox 13" id="13"/>
            <p:cNvSpPr txBox="true"/>
            <p:nvPr/>
          </p:nvSpPr>
          <p:spPr>
            <a:xfrm>
              <a:off x="0" y="-47625"/>
              <a:ext cx="5146365" cy="778696"/>
            </a:xfrm>
            <a:prstGeom prst="rect">
              <a:avLst/>
            </a:prstGeom>
          </p:spPr>
          <p:txBody>
            <a:bodyPr anchor="ctr" rtlCol="false" tIns="0" lIns="0" bIns="0" rIns="0"/>
            <a:lstStyle/>
            <a:p>
              <a:pPr algn="l">
                <a:lnSpc>
                  <a:spcPts val="2520"/>
                </a:lnSpc>
              </a:pPr>
              <a:r>
                <a:rPr lang="en-US" sz="2100">
                  <a:solidFill>
                    <a:srgbClr val="000000"/>
                  </a:solidFill>
                  <a:latin typeface="Calibri (MS)"/>
                  <a:ea typeface="Calibri (MS)"/>
                  <a:cs typeface="Calibri (MS)"/>
                  <a:sym typeface="Calibri (MS)"/>
                </a:rPr>
                <a:t>Manar El Fakih Romdhane</a:t>
              </a:r>
            </a:p>
          </p:txBody>
        </p:sp>
      </p:gr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BD8ED"/>
        </a:solidFill>
      </p:bgPr>
    </p:bg>
    <p:spTree>
      <p:nvGrpSpPr>
        <p:cNvPr id="1" name=""/>
        <p:cNvGrpSpPr/>
        <p:nvPr/>
      </p:nvGrpSpPr>
      <p:grpSpPr>
        <a:xfrm>
          <a:off x="0" y="0"/>
          <a:ext cx="0" cy="0"/>
          <a:chOff x="0" y="0"/>
          <a:chExt cx="0" cy="0"/>
        </a:xfrm>
      </p:grpSpPr>
      <p:sp>
        <p:nvSpPr>
          <p:cNvPr name="Freeform 2" id="2"/>
          <p:cNvSpPr/>
          <p:nvPr/>
        </p:nvSpPr>
        <p:spPr>
          <a:xfrm flipH="false" flipV="false" rot="-916514">
            <a:off x="458387" y="484701"/>
            <a:ext cx="515579" cy="484644"/>
          </a:xfrm>
          <a:custGeom>
            <a:avLst/>
            <a:gdLst/>
            <a:ahLst/>
            <a:cxnLst/>
            <a:rect r="r" b="b" t="t" l="l"/>
            <a:pathLst>
              <a:path h="484644" w="515579">
                <a:moveTo>
                  <a:pt x="0" y="0"/>
                </a:moveTo>
                <a:lnTo>
                  <a:pt x="515579" y="0"/>
                </a:lnTo>
                <a:lnTo>
                  <a:pt x="515579" y="484644"/>
                </a:lnTo>
                <a:lnTo>
                  <a:pt x="0" y="4846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65563" y="574623"/>
            <a:ext cx="1836777" cy="1351508"/>
          </a:xfrm>
          <a:prstGeom prst="rect">
            <a:avLst/>
          </a:prstGeom>
        </p:spPr>
        <p:txBody>
          <a:bodyPr anchor="t" rtlCol="false" tIns="0" lIns="0" bIns="0" rIns="0">
            <a:spAutoFit/>
          </a:bodyPr>
          <a:lstStyle/>
          <a:p>
            <a:pPr algn="ctr">
              <a:lnSpc>
                <a:spcPts val="11082"/>
              </a:lnSpc>
              <a:spcBef>
                <a:spcPct val="0"/>
              </a:spcBef>
            </a:pPr>
            <a:r>
              <a:rPr lang="en-US" sz="7916" spc="-435">
                <a:solidFill>
                  <a:srgbClr val="1800AD"/>
                </a:solidFill>
                <a:latin typeface="Agbalumo"/>
                <a:ea typeface="Agbalumo"/>
                <a:cs typeface="Agbalumo"/>
                <a:sym typeface="Agbalumo"/>
              </a:rPr>
              <a:t>Plan</a:t>
            </a:r>
          </a:p>
        </p:txBody>
      </p:sp>
      <p:sp>
        <p:nvSpPr>
          <p:cNvPr name="TextBox 4" id="4"/>
          <p:cNvSpPr txBox="true"/>
          <p:nvPr/>
        </p:nvSpPr>
        <p:spPr>
          <a:xfrm rot="0">
            <a:off x="1515313" y="2273202"/>
            <a:ext cx="11217486" cy="6761007"/>
          </a:xfrm>
          <a:prstGeom prst="rect">
            <a:avLst/>
          </a:prstGeom>
        </p:spPr>
        <p:txBody>
          <a:bodyPr anchor="t" rtlCol="false" tIns="0" lIns="0" bIns="0" rIns="0">
            <a:spAutoFit/>
          </a:bodyPr>
          <a:lstStyle/>
          <a:p>
            <a:pPr algn="l" marL="786993" indent="-393496" lvl="1">
              <a:lnSpc>
                <a:spcPts val="9112"/>
              </a:lnSpc>
              <a:buFont typeface="Arial"/>
              <a:buChar char="•"/>
            </a:pPr>
            <a:r>
              <a:rPr lang="en-US" sz="3645" spc="-200">
                <a:solidFill>
                  <a:srgbClr val="000000"/>
                </a:solidFill>
                <a:latin typeface="Bree Serif"/>
                <a:ea typeface="Bree Serif"/>
                <a:cs typeface="Bree Serif"/>
                <a:sym typeface="Bree Serif"/>
              </a:rPr>
              <a:t>Problem &amp; Data Overview</a:t>
            </a:r>
          </a:p>
          <a:p>
            <a:pPr algn="l" marL="786993" indent="-393496" lvl="1">
              <a:lnSpc>
                <a:spcPts val="9112"/>
              </a:lnSpc>
              <a:buFont typeface="Arial"/>
              <a:buChar char="•"/>
            </a:pPr>
            <a:r>
              <a:rPr lang="en-US" sz="3645" spc="-200">
                <a:solidFill>
                  <a:srgbClr val="000000"/>
                </a:solidFill>
                <a:latin typeface="Bree Serif"/>
                <a:ea typeface="Bree Serif"/>
                <a:cs typeface="Bree Serif"/>
                <a:sym typeface="Bree Serif"/>
              </a:rPr>
              <a:t>Preprocessing </a:t>
            </a:r>
          </a:p>
          <a:p>
            <a:pPr algn="l" marL="786993" indent="-393496" lvl="1">
              <a:lnSpc>
                <a:spcPts val="9112"/>
              </a:lnSpc>
              <a:buFont typeface="Arial"/>
              <a:buChar char="•"/>
            </a:pPr>
            <a:r>
              <a:rPr lang="en-US" sz="3645" spc="-200">
                <a:solidFill>
                  <a:srgbClr val="000000"/>
                </a:solidFill>
                <a:latin typeface="Bree Serif"/>
                <a:ea typeface="Bree Serif"/>
                <a:cs typeface="Bree Serif"/>
                <a:sym typeface="Bree Serif"/>
              </a:rPr>
              <a:t>Modeling</a:t>
            </a:r>
          </a:p>
          <a:p>
            <a:pPr algn="l" marL="786993" indent="-393496" lvl="1">
              <a:lnSpc>
                <a:spcPts val="9112"/>
              </a:lnSpc>
              <a:buFont typeface="Arial"/>
              <a:buChar char="•"/>
            </a:pPr>
            <a:r>
              <a:rPr lang="en-US" sz="3645" spc="-200">
                <a:solidFill>
                  <a:srgbClr val="000000"/>
                </a:solidFill>
                <a:latin typeface="Bree Serif"/>
                <a:ea typeface="Bree Serif"/>
                <a:cs typeface="Bree Serif"/>
                <a:sym typeface="Bree Serif"/>
              </a:rPr>
              <a:t>Results</a:t>
            </a:r>
          </a:p>
          <a:p>
            <a:pPr algn="l" marL="786993" indent="-393496" lvl="1">
              <a:lnSpc>
                <a:spcPts val="9112"/>
              </a:lnSpc>
              <a:buFont typeface="Arial"/>
              <a:buChar char="•"/>
            </a:pPr>
            <a:r>
              <a:rPr lang="en-US" sz="3645" spc="-200">
                <a:solidFill>
                  <a:srgbClr val="000000"/>
                </a:solidFill>
                <a:latin typeface="Bree Serif"/>
                <a:ea typeface="Bree Serif"/>
                <a:cs typeface="Bree Serif"/>
                <a:sym typeface="Bree Serif"/>
              </a:rPr>
              <a:t>Deployment</a:t>
            </a:r>
          </a:p>
          <a:p>
            <a:pPr algn="l">
              <a:lnSpc>
                <a:spcPts val="9112"/>
              </a:lnSpc>
            </a:pP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BD8ED"/>
        </a:solidFill>
      </p:bgPr>
    </p:bg>
    <p:spTree>
      <p:nvGrpSpPr>
        <p:cNvPr id="1" name=""/>
        <p:cNvGrpSpPr/>
        <p:nvPr/>
      </p:nvGrpSpPr>
      <p:grpSpPr>
        <a:xfrm>
          <a:off x="0" y="0"/>
          <a:ext cx="0" cy="0"/>
          <a:chOff x="0" y="0"/>
          <a:chExt cx="0" cy="0"/>
        </a:xfrm>
      </p:grpSpPr>
      <p:sp>
        <p:nvSpPr>
          <p:cNvPr name="Freeform 2" id="2"/>
          <p:cNvSpPr/>
          <p:nvPr/>
        </p:nvSpPr>
        <p:spPr>
          <a:xfrm flipH="false" flipV="false" rot="-7562482">
            <a:off x="1354180" y="9015978"/>
            <a:ext cx="515579" cy="484644"/>
          </a:xfrm>
          <a:custGeom>
            <a:avLst/>
            <a:gdLst/>
            <a:ahLst/>
            <a:cxnLst/>
            <a:rect r="r" b="b" t="t" l="l"/>
            <a:pathLst>
              <a:path h="484644" w="515579">
                <a:moveTo>
                  <a:pt x="0" y="0"/>
                </a:moveTo>
                <a:lnTo>
                  <a:pt x="515579" y="0"/>
                </a:lnTo>
                <a:lnTo>
                  <a:pt x="515579" y="484644"/>
                </a:lnTo>
                <a:lnTo>
                  <a:pt x="0" y="4846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614401">
            <a:off x="16101854" y="2523641"/>
            <a:ext cx="515579" cy="484644"/>
          </a:xfrm>
          <a:custGeom>
            <a:avLst/>
            <a:gdLst/>
            <a:ahLst/>
            <a:cxnLst/>
            <a:rect r="r" b="b" t="t" l="l"/>
            <a:pathLst>
              <a:path h="484644" w="515579">
                <a:moveTo>
                  <a:pt x="0" y="0"/>
                </a:moveTo>
                <a:lnTo>
                  <a:pt x="515579" y="0"/>
                </a:lnTo>
                <a:lnTo>
                  <a:pt x="515579" y="484644"/>
                </a:lnTo>
                <a:lnTo>
                  <a:pt x="0" y="4846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023192" y="2520315"/>
            <a:ext cx="5246370" cy="5246370"/>
            <a:chOff x="0" y="0"/>
            <a:chExt cx="13716000" cy="13716000"/>
          </a:xfrm>
        </p:grpSpPr>
        <p:sp>
          <p:nvSpPr>
            <p:cNvPr name="Freeform 5" id="5"/>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4"/>
              <a:stretch>
                <a:fillRect l="0" t="0" r="0" b="0"/>
              </a:stretch>
            </a:blipFill>
            <a:ln w="38100" cap="sq">
              <a:solidFill>
                <a:srgbClr val="1800AD"/>
              </a:solidFill>
              <a:prstDash val="solid"/>
              <a:miter/>
            </a:ln>
          </p:spPr>
        </p:sp>
      </p:grpSp>
      <p:sp>
        <p:nvSpPr>
          <p:cNvPr name="TextBox 6" id="6"/>
          <p:cNvSpPr txBox="true"/>
          <p:nvPr/>
        </p:nvSpPr>
        <p:spPr>
          <a:xfrm rot="0">
            <a:off x="1028700" y="773807"/>
            <a:ext cx="13512591" cy="741045"/>
          </a:xfrm>
          <a:prstGeom prst="rect">
            <a:avLst/>
          </a:prstGeom>
        </p:spPr>
        <p:txBody>
          <a:bodyPr anchor="t" rtlCol="false" tIns="0" lIns="0" bIns="0" rIns="0">
            <a:spAutoFit/>
          </a:bodyPr>
          <a:lstStyle/>
          <a:p>
            <a:pPr algn="l">
              <a:lnSpc>
                <a:spcPts val="5340"/>
              </a:lnSpc>
            </a:pPr>
            <a:r>
              <a:rPr lang="en-US" sz="6000" spc="-330">
                <a:solidFill>
                  <a:srgbClr val="323962"/>
                </a:solidFill>
                <a:latin typeface="Bree Serif"/>
                <a:ea typeface="Bree Serif"/>
                <a:cs typeface="Bree Serif"/>
                <a:sym typeface="Bree Serif"/>
              </a:rPr>
              <a:t>Problem Definition </a:t>
            </a:r>
          </a:p>
        </p:txBody>
      </p:sp>
      <p:sp>
        <p:nvSpPr>
          <p:cNvPr name="TextBox 7" id="7"/>
          <p:cNvSpPr txBox="true"/>
          <p:nvPr/>
        </p:nvSpPr>
        <p:spPr>
          <a:xfrm rot="0">
            <a:off x="1395441" y="2345680"/>
            <a:ext cx="7428287" cy="3689037"/>
          </a:xfrm>
          <a:prstGeom prst="rect">
            <a:avLst/>
          </a:prstGeom>
        </p:spPr>
        <p:txBody>
          <a:bodyPr anchor="t" rtlCol="false" tIns="0" lIns="0" bIns="0" rIns="0">
            <a:spAutoFit/>
          </a:bodyPr>
          <a:lstStyle/>
          <a:p>
            <a:pPr algn="just">
              <a:lnSpc>
                <a:spcPts val="4258"/>
              </a:lnSpc>
            </a:pPr>
            <a:r>
              <a:rPr lang="en-US" sz="2504" spc="-87">
                <a:solidFill>
                  <a:srgbClr val="000000"/>
                </a:solidFill>
                <a:latin typeface="Bree Serif"/>
                <a:ea typeface="Bree Serif"/>
                <a:cs typeface="Bree Serif"/>
                <a:sym typeface="Bree Serif"/>
              </a:rPr>
              <a:t>Mental health disorders often remain undetected because people tend to express emotional distress online before seeking professional help. Social media and online forums contain valuable early warning signals, but identifying them manually is difficult due to the large volume of data.</a:t>
            </a:r>
          </a:p>
          <a:p>
            <a:pPr algn="just">
              <a:lnSpc>
                <a:spcPts val="4258"/>
              </a:lnSpc>
            </a:pPr>
          </a:p>
        </p:txBody>
      </p:sp>
      <p:sp>
        <p:nvSpPr>
          <p:cNvPr name="TextBox 8" id="8"/>
          <p:cNvSpPr txBox="true"/>
          <p:nvPr/>
        </p:nvSpPr>
        <p:spPr>
          <a:xfrm rot="0">
            <a:off x="1395441" y="6405371"/>
            <a:ext cx="6883845" cy="1361314"/>
          </a:xfrm>
          <a:prstGeom prst="rect">
            <a:avLst/>
          </a:prstGeom>
        </p:spPr>
        <p:txBody>
          <a:bodyPr anchor="t" rtlCol="false" tIns="0" lIns="0" bIns="0" rIns="0">
            <a:spAutoFit/>
          </a:bodyPr>
          <a:lstStyle/>
          <a:p>
            <a:pPr algn="l">
              <a:lnSpc>
                <a:spcPts val="5735"/>
              </a:lnSpc>
            </a:pPr>
            <a:r>
              <a:rPr lang="en-US" sz="2399" spc="-83">
                <a:solidFill>
                  <a:srgbClr val="000000"/>
                </a:solidFill>
                <a:latin typeface="Bree Serif"/>
                <a:ea typeface="Bree Serif"/>
                <a:cs typeface="Bree Serif"/>
                <a:sym typeface="Bree Serif"/>
              </a:rPr>
              <a:t>===&gt;  </a:t>
            </a:r>
            <a:r>
              <a:rPr lang="en-US" sz="2399" spc="-83">
                <a:solidFill>
                  <a:srgbClr val="000000"/>
                </a:solidFill>
                <a:latin typeface="Bree Serif"/>
                <a:ea typeface="Bree Serif"/>
                <a:cs typeface="Bree Serif"/>
                <a:sym typeface="Bree Serif"/>
              </a:rPr>
              <a:t>AI &amp; NLP offer an opportunity for automated, scalable risk awareness</a:t>
            </a: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BD8ED"/>
        </a:solidFill>
      </p:bgPr>
    </p:bg>
    <p:spTree>
      <p:nvGrpSpPr>
        <p:cNvPr id="1" name=""/>
        <p:cNvGrpSpPr/>
        <p:nvPr/>
      </p:nvGrpSpPr>
      <p:grpSpPr>
        <a:xfrm>
          <a:off x="0" y="0"/>
          <a:ext cx="0" cy="0"/>
          <a:chOff x="0" y="0"/>
          <a:chExt cx="0" cy="0"/>
        </a:xfrm>
      </p:grpSpPr>
      <p:sp>
        <p:nvSpPr>
          <p:cNvPr name="TextBox 2" id="2"/>
          <p:cNvSpPr txBox="true"/>
          <p:nvPr/>
        </p:nvSpPr>
        <p:spPr>
          <a:xfrm rot="0">
            <a:off x="840200" y="579228"/>
            <a:ext cx="10008558" cy="741045"/>
          </a:xfrm>
          <a:prstGeom prst="rect">
            <a:avLst/>
          </a:prstGeom>
        </p:spPr>
        <p:txBody>
          <a:bodyPr anchor="t" rtlCol="false" tIns="0" lIns="0" bIns="0" rIns="0">
            <a:spAutoFit/>
          </a:bodyPr>
          <a:lstStyle/>
          <a:p>
            <a:pPr algn="l">
              <a:lnSpc>
                <a:spcPts val="5340"/>
              </a:lnSpc>
            </a:pPr>
            <a:r>
              <a:rPr lang="en-US" sz="6000" spc="-330">
                <a:solidFill>
                  <a:srgbClr val="323962"/>
                </a:solidFill>
                <a:latin typeface="Bree Serif"/>
                <a:ea typeface="Bree Serif"/>
                <a:cs typeface="Bree Serif"/>
                <a:sym typeface="Bree Serif"/>
              </a:rPr>
              <a:t>Dataset Description</a:t>
            </a:r>
          </a:p>
        </p:txBody>
      </p:sp>
      <p:sp>
        <p:nvSpPr>
          <p:cNvPr name="Freeform 3" id="3"/>
          <p:cNvSpPr/>
          <p:nvPr/>
        </p:nvSpPr>
        <p:spPr>
          <a:xfrm flipH="false" flipV="false" rot="-4403018">
            <a:off x="5825574" y="5369460"/>
            <a:ext cx="515579" cy="484644"/>
          </a:xfrm>
          <a:custGeom>
            <a:avLst/>
            <a:gdLst/>
            <a:ahLst/>
            <a:cxnLst/>
            <a:rect r="r" b="b" t="t" l="l"/>
            <a:pathLst>
              <a:path h="484644" w="515579">
                <a:moveTo>
                  <a:pt x="0" y="0"/>
                </a:moveTo>
                <a:lnTo>
                  <a:pt x="515579" y="0"/>
                </a:lnTo>
                <a:lnTo>
                  <a:pt x="515579" y="484644"/>
                </a:lnTo>
                <a:lnTo>
                  <a:pt x="0" y="4846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4" id="4"/>
          <p:cNvGraphicFramePr>
            <a:graphicFrameLocks noGrp="true"/>
          </p:cNvGraphicFramePr>
          <p:nvPr/>
        </p:nvGraphicFramePr>
        <p:xfrm>
          <a:off x="840200" y="1834623"/>
          <a:ext cx="13923573" cy="4277501"/>
        </p:xfrm>
        <a:graphic>
          <a:graphicData uri="http://schemas.openxmlformats.org/drawingml/2006/table">
            <a:tbl>
              <a:tblPr/>
              <a:tblGrid>
                <a:gridCol w="2921358"/>
                <a:gridCol w="2921358"/>
                <a:gridCol w="2921358"/>
                <a:gridCol w="5159499"/>
              </a:tblGrid>
              <a:tr h="607986">
                <a:tc>
                  <a:txBody>
                    <a:bodyPr anchor="t" rtlCol="false"/>
                    <a:lstStyle/>
                    <a:p>
                      <a:pPr algn="just">
                        <a:lnSpc>
                          <a:spcPts val="2520"/>
                        </a:lnSpc>
                        <a:defRPr/>
                      </a:pPr>
                      <a:r>
                        <a:rPr lang="en-US" sz="2100">
                          <a:solidFill>
                            <a:srgbClr val="000000"/>
                          </a:solidFill>
                          <a:latin typeface="Bree Serif"/>
                          <a:ea typeface="Bree Serif"/>
                          <a:cs typeface="Bree Serif"/>
                          <a:sym typeface="Bree Serif"/>
                        </a:rPr>
                        <a:t>Dataset</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99C5FF"/>
                    </a:solidFill>
                  </a:tcPr>
                </a:tc>
                <a:tc>
                  <a:txBody>
                    <a:bodyPr anchor="t" rtlCol="false"/>
                    <a:lstStyle/>
                    <a:p>
                      <a:pPr algn="just">
                        <a:lnSpc>
                          <a:spcPts val="2520"/>
                        </a:lnSpc>
                        <a:defRPr/>
                      </a:pPr>
                      <a:r>
                        <a:rPr lang="en-US" sz="2100">
                          <a:solidFill>
                            <a:srgbClr val="000000"/>
                          </a:solidFill>
                          <a:latin typeface="Bree Serif"/>
                          <a:ea typeface="Bree Serif"/>
                          <a:cs typeface="Bree Serif"/>
                          <a:sym typeface="Bree Serif"/>
                        </a:rPr>
                        <a:t>Source</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99C5FF"/>
                    </a:solidFill>
                  </a:tcPr>
                </a:tc>
                <a:tc>
                  <a:txBody>
                    <a:bodyPr anchor="t" rtlCol="false"/>
                    <a:lstStyle/>
                    <a:p>
                      <a:pPr algn="just">
                        <a:lnSpc>
                          <a:spcPts val="2520"/>
                        </a:lnSpc>
                        <a:defRPr/>
                      </a:pPr>
                      <a:r>
                        <a:rPr lang="en-US" sz="2100">
                          <a:solidFill>
                            <a:srgbClr val="000000"/>
                          </a:solidFill>
                          <a:latin typeface="Bree Serif"/>
                          <a:ea typeface="Bree Serif"/>
                          <a:cs typeface="Bree Serif"/>
                          <a:sym typeface="Bree Serif"/>
                        </a:rPr>
                        <a:t>Samples</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99C5FF"/>
                    </a:solidFill>
                  </a:tcPr>
                </a:tc>
                <a:tc>
                  <a:txBody>
                    <a:bodyPr anchor="t" rtlCol="false"/>
                    <a:lstStyle/>
                    <a:p>
                      <a:pPr algn="just">
                        <a:lnSpc>
                          <a:spcPts val="2520"/>
                        </a:lnSpc>
                        <a:defRPr/>
                      </a:pPr>
                      <a:r>
                        <a:rPr lang="en-US" sz="2100">
                          <a:solidFill>
                            <a:srgbClr val="000000"/>
                          </a:solidFill>
                          <a:latin typeface="Bree Serif"/>
                          <a:ea typeface="Bree Serif"/>
                          <a:cs typeface="Bree Serif"/>
                          <a:sym typeface="Bree Serif"/>
                        </a:rPr>
                        <a:t>Original Labels</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99C5FF"/>
                    </a:solidFill>
                  </a:tcPr>
                </a:tc>
              </a:tr>
              <a:tr h="922778">
                <a:tc>
                  <a:txBody>
                    <a:bodyPr anchor="t" rtlCol="false"/>
                    <a:lstStyle/>
                    <a:p>
                      <a:pPr algn="just">
                        <a:lnSpc>
                          <a:spcPts val="2520"/>
                        </a:lnSpc>
                        <a:defRPr/>
                      </a:pPr>
                      <a:r>
                        <a:rPr lang="en-US" sz="2100">
                          <a:solidFill>
                            <a:srgbClr val="0D1B2A"/>
                          </a:solidFill>
                          <a:latin typeface="Bree Serif"/>
                          <a:ea typeface="Bree Serif"/>
                          <a:cs typeface="Bree Serif"/>
                          <a:sym typeface="Bree Serif"/>
                        </a:rPr>
                        <a:t>df1 </a:t>
                      </a:r>
                      <a:endParaRPr lang="en-US" sz="1100"/>
                    </a:p>
                    <a:p>
                      <a:pPr algn="just">
                        <a:lnSpc>
                          <a:spcPts val="2520"/>
                        </a:lnSpc>
                      </a:pPr>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just">
                        <a:lnSpc>
                          <a:spcPts val="2520"/>
                        </a:lnSpc>
                        <a:defRPr/>
                      </a:pPr>
                      <a:r>
                        <a:rPr lang="en-US" sz="2100">
                          <a:solidFill>
                            <a:srgbClr val="0D1B2A"/>
                          </a:solidFill>
                          <a:latin typeface="Bree Serif"/>
                          <a:ea typeface="Bree Serif"/>
                          <a:cs typeface="Bree Serif"/>
                          <a:sym typeface="Bree Serif"/>
                        </a:rPr>
                        <a:t>twitter</a:t>
                      </a:r>
                      <a:endParaRPr lang="en-US" sz="1100"/>
                    </a:p>
                    <a:p>
                      <a:pPr algn="just">
                        <a:lnSpc>
                          <a:spcPts val="2520"/>
                        </a:lnSpc>
                      </a:pPr>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just">
                        <a:lnSpc>
                          <a:spcPts val="2520"/>
                        </a:lnSpc>
                        <a:defRPr/>
                      </a:pPr>
                      <a:r>
                        <a:rPr lang="en-US" sz="2100">
                          <a:solidFill>
                            <a:srgbClr val="0D1B2A"/>
                          </a:solidFill>
                          <a:latin typeface="Bree Serif"/>
                          <a:ea typeface="Bree Serif"/>
                          <a:cs typeface="Bree Serif"/>
                          <a:sym typeface="Bree Serif"/>
                        </a:rPr>
                        <a:t>7,517</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just">
                        <a:lnSpc>
                          <a:spcPts val="2520"/>
                        </a:lnSpc>
                        <a:defRPr/>
                      </a:pPr>
                      <a:r>
                        <a:rPr lang="en-US" sz="2100">
                          <a:solidFill>
                            <a:srgbClr val="0D1B2A"/>
                          </a:solidFill>
                          <a:latin typeface="Bree Serif"/>
                          <a:ea typeface="Bree Serif"/>
                          <a:cs typeface="Bree Serif"/>
                          <a:sym typeface="Bree Serif"/>
                        </a:rPr>
                        <a:t>Anxiety/Normal/Depression/Suicidal…</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r>
              <a:tr h="607986">
                <a:tc>
                  <a:txBody>
                    <a:bodyPr anchor="t" rtlCol="false"/>
                    <a:lstStyle/>
                    <a:p>
                      <a:pPr algn="just">
                        <a:lnSpc>
                          <a:spcPts val="2520"/>
                        </a:lnSpc>
                        <a:defRPr/>
                      </a:pPr>
                      <a:r>
                        <a:rPr lang="en-US" sz="2100">
                          <a:solidFill>
                            <a:srgbClr val="0D1B2A"/>
                          </a:solidFill>
                          <a:latin typeface="Bree Serif"/>
                          <a:ea typeface="Bree Serif"/>
                          <a:cs typeface="Bree Serif"/>
                          <a:sym typeface="Bree Serif"/>
                        </a:rPr>
                        <a:t>df2 </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E8F4F6"/>
                    </a:solidFill>
                  </a:tcPr>
                </a:tc>
                <a:tc>
                  <a:txBody>
                    <a:bodyPr anchor="t" rtlCol="false"/>
                    <a:lstStyle/>
                    <a:p>
                      <a:pPr algn="just">
                        <a:lnSpc>
                          <a:spcPts val="2520"/>
                        </a:lnSpc>
                        <a:defRPr/>
                      </a:pPr>
                      <a:r>
                        <a:rPr lang="en-US" sz="2100">
                          <a:solidFill>
                            <a:srgbClr val="0D1B2A"/>
                          </a:solidFill>
                          <a:latin typeface="Bree Serif"/>
                          <a:ea typeface="Bree Serif"/>
                          <a:cs typeface="Bree Serif"/>
                          <a:sym typeface="Bree Serif"/>
                        </a:rPr>
                        <a:t>Kaggle</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E8F4F6"/>
                    </a:solidFill>
                  </a:tcPr>
                </a:tc>
                <a:tc>
                  <a:txBody>
                    <a:bodyPr anchor="t" rtlCol="false"/>
                    <a:lstStyle/>
                    <a:p>
                      <a:pPr algn="just">
                        <a:lnSpc>
                          <a:spcPts val="2520"/>
                        </a:lnSpc>
                        <a:defRPr/>
                      </a:pPr>
                      <a:r>
                        <a:rPr lang="en-US" sz="2100">
                          <a:solidFill>
                            <a:srgbClr val="0D1B2A"/>
                          </a:solidFill>
                          <a:latin typeface="Bree Serif"/>
                          <a:ea typeface="Bree Serif"/>
                          <a:cs typeface="Bree Serif"/>
                          <a:sym typeface="Bree Serif"/>
                        </a:rPr>
                        <a:t>1,487</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E8F4F6"/>
                    </a:solidFill>
                  </a:tcPr>
                </a:tc>
                <a:tc>
                  <a:txBody>
                    <a:bodyPr anchor="t" rtlCol="false"/>
                    <a:lstStyle/>
                    <a:p>
                      <a:pPr algn="just">
                        <a:lnSpc>
                          <a:spcPts val="2520"/>
                        </a:lnSpc>
                        <a:defRPr/>
                      </a:pPr>
                      <a:r>
                        <a:rPr lang="en-US" sz="2100">
                          <a:solidFill>
                            <a:srgbClr val="0D1B2A"/>
                          </a:solidFill>
                          <a:latin typeface="Bree Serif"/>
                          <a:ea typeface="Bree Serif"/>
                          <a:cs typeface="Bree Serif"/>
                          <a:sym typeface="Bree Serif"/>
                        </a:rPr>
                        <a:t>suicide / non-suicide</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E8F4F6"/>
                    </a:solidFill>
                  </a:tcPr>
                </a:tc>
              </a:tr>
              <a:tr h="607986">
                <a:tc>
                  <a:txBody>
                    <a:bodyPr anchor="t" rtlCol="false"/>
                    <a:lstStyle/>
                    <a:p>
                      <a:pPr algn="just">
                        <a:lnSpc>
                          <a:spcPts val="2520"/>
                        </a:lnSpc>
                        <a:defRPr/>
                      </a:pPr>
                      <a:r>
                        <a:rPr lang="en-US" sz="2100">
                          <a:solidFill>
                            <a:srgbClr val="0D1B2A"/>
                          </a:solidFill>
                          <a:latin typeface="Bree Serif"/>
                          <a:ea typeface="Bree Serif"/>
                          <a:cs typeface="Bree Serif"/>
                          <a:sym typeface="Bree Serif"/>
                        </a:rPr>
                        <a:t>df3 </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just">
                        <a:lnSpc>
                          <a:spcPts val="2520"/>
                        </a:lnSpc>
                        <a:defRPr/>
                      </a:pPr>
                      <a:r>
                        <a:rPr lang="en-US" sz="2100">
                          <a:solidFill>
                            <a:srgbClr val="0D1B2A"/>
                          </a:solidFill>
                          <a:latin typeface="Bree Serif"/>
                          <a:ea typeface="Bree Serif"/>
                          <a:cs typeface="Bree Serif"/>
                          <a:sym typeface="Bree Serif"/>
                        </a:rPr>
                        <a:t>Kaggle</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just">
                        <a:lnSpc>
                          <a:spcPts val="2520"/>
                        </a:lnSpc>
                        <a:defRPr/>
                      </a:pPr>
                      <a:r>
                        <a:rPr lang="en-US" sz="2100">
                          <a:solidFill>
                            <a:srgbClr val="0D1B2A"/>
                          </a:solidFill>
                          <a:latin typeface="Bree Serif"/>
                          <a:ea typeface="Bree Serif"/>
                          <a:cs typeface="Bree Serif"/>
                          <a:sym typeface="Bree Serif"/>
                        </a:rPr>
                        <a:t>2,218</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just">
                        <a:lnSpc>
                          <a:spcPts val="2520"/>
                        </a:lnSpc>
                        <a:defRPr/>
                      </a:pPr>
                      <a:r>
                        <a:rPr lang="en-US" sz="2100">
                          <a:solidFill>
                            <a:srgbClr val="0D1B2A"/>
                          </a:solidFill>
                          <a:latin typeface="Bree Serif"/>
                          <a:ea typeface="Bree Serif"/>
                          <a:cs typeface="Bree Serif"/>
                          <a:sym typeface="Bree Serif"/>
                        </a:rPr>
                        <a:t>0 / 1 (binary)</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r>
              <a:tr h="922778">
                <a:tc>
                  <a:txBody>
                    <a:bodyPr anchor="t" rtlCol="false"/>
                    <a:lstStyle/>
                    <a:p>
                      <a:pPr algn="just">
                        <a:lnSpc>
                          <a:spcPts val="2520"/>
                        </a:lnSpc>
                        <a:defRPr/>
                      </a:pPr>
                      <a:r>
                        <a:rPr lang="en-US" sz="2100">
                          <a:solidFill>
                            <a:srgbClr val="0D1B2A"/>
                          </a:solidFill>
                          <a:latin typeface="Bree Serif"/>
                          <a:ea typeface="Bree Serif"/>
                          <a:cs typeface="Bree Serif"/>
                          <a:sym typeface="Bree Serif"/>
                        </a:rPr>
                        <a:t>df4</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E8F4F6"/>
                    </a:solidFill>
                  </a:tcPr>
                </a:tc>
                <a:tc>
                  <a:txBody>
                    <a:bodyPr anchor="t" rtlCol="false"/>
                    <a:lstStyle/>
                    <a:p>
                      <a:pPr algn="just">
                        <a:lnSpc>
                          <a:spcPts val="2520"/>
                        </a:lnSpc>
                        <a:defRPr/>
                      </a:pPr>
                      <a:r>
                        <a:rPr lang="en-US" sz="2100">
                          <a:solidFill>
                            <a:srgbClr val="0D1B2A"/>
                          </a:solidFill>
                          <a:latin typeface="Bree Serif"/>
                          <a:ea typeface="Bree Serif"/>
                          <a:cs typeface="Bree Serif"/>
                          <a:sym typeface="Bree Serif"/>
                        </a:rPr>
                        <a:t>GitHub</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E8F4F6"/>
                    </a:solidFill>
                  </a:tcPr>
                </a:tc>
                <a:tc>
                  <a:txBody>
                    <a:bodyPr anchor="t" rtlCol="false"/>
                    <a:lstStyle/>
                    <a:p>
                      <a:pPr algn="just">
                        <a:lnSpc>
                          <a:spcPts val="2520"/>
                        </a:lnSpc>
                        <a:defRPr/>
                      </a:pPr>
                      <a:r>
                        <a:rPr lang="en-US" sz="2100">
                          <a:solidFill>
                            <a:srgbClr val="0D1B2A"/>
                          </a:solidFill>
                          <a:latin typeface="Bree Serif"/>
                          <a:ea typeface="Bree Serif"/>
                          <a:cs typeface="Bree Serif"/>
                          <a:sym typeface="Bree Serif"/>
                        </a:rPr>
                        <a:t>700</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E8F4F6"/>
                    </a:solidFill>
                  </a:tcPr>
                </a:tc>
                <a:tc>
                  <a:txBody>
                    <a:bodyPr anchor="t" rtlCol="false"/>
                    <a:lstStyle/>
                    <a:p>
                      <a:pPr algn="just">
                        <a:lnSpc>
                          <a:spcPts val="2520"/>
                        </a:lnSpc>
                        <a:defRPr/>
                      </a:pPr>
                      <a:r>
                        <a:rPr lang="en-US" sz="2100">
                          <a:solidFill>
                            <a:srgbClr val="0D1B2A"/>
                          </a:solidFill>
                          <a:latin typeface="Bree Serif"/>
                          <a:ea typeface="Bree Serif"/>
                          <a:cs typeface="Bree Serif"/>
                          <a:sym typeface="Bree Serif"/>
                        </a:rPr>
                        <a:t>Anxiety/BPD/depression…</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E8F4F6"/>
                    </a:solidFill>
                  </a:tcPr>
                </a:tc>
              </a:tr>
              <a:tr h="607986">
                <a:tc>
                  <a:txBody>
                    <a:bodyPr anchor="t" rtlCol="false"/>
                    <a:lstStyle/>
                    <a:p>
                      <a:pPr algn="just">
                        <a:lnSpc>
                          <a:spcPts val="2520"/>
                        </a:lnSpc>
                        <a:defRPr/>
                      </a:pPr>
                      <a:r>
                        <a:rPr lang="en-US" sz="2100">
                          <a:solidFill>
                            <a:srgbClr val="0D1B2A"/>
                          </a:solidFill>
                          <a:latin typeface="Bree Serif"/>
                          <a:ea typeface="Bree Serif"/>
                          <a:cs typeface="Bree Serif"/>
                          <a:sym typeface="Bree Serif"/>
                        </a:rPr>
                        <a:t>df5 </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just">
                        <a:lnSpc>
                          <a:spcPts val="2520"/>
                        </a:lnSpc>
                        <a:defRPr/>
                      </a:pPr>
                      <a:r>
                        <a:rPr lang="en-US" sz="2100">
                          <a:solidFill>
                            <a:srgbClr val="0D1B2A"/>
                          </a:solidFill>
                          <a:latin typeface="Bree Serif"/>
                          <a:ea typeface="Bree Serif"/>
                          <a:cs typeface="Bree Serif"/>
                          <a:sym typeface="Bree Serif"/>
                        </a:rPr>
                        <a:t>Mendeley</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just">
                        <a:lnSpc>
                          <a:spcPts val="2520"/>
                        </a:lnSpc>
                        <a:defRPr/>
                      </a:pPr>
                      <a:r>
                        <a:rPr lang="en-US" sz="2100">
                          <a:solidFill>
                            <a:srgbClr val="0D1B2A"/>
                          </a:solidFill>
                          <a:latin typeface="Bree Serif"/>
                          <a:ea typeface="Bree Serif"/>
                          <a:cs typeface="Bree Serif"/>
                          <a:sym typeface="Bree Serif"/>
                        </a:rPr>
                        <a:t>911</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just">
                        <a:lnSpc>
                          <a:spcPts val="2520"/>
                        </a:lnSpc>
                        <a:defRPr/>
                      </a:pPr>
                      <a:r>
                        <a:rPr lang="en-US" sz="2100">
                          <a:solidFill>
                            <a:srgbClr val="0D1B2A"/>
                          </a:solidFill>
                          <a:latin typeface="Bree Serif"/>
                          <a:ea typeface="Bree Serif"/>
                          <a:cs typeface="Bree Serif"/>
                          <a:sym typeface="Bree Serif"/>
                        </a:rPr>
                        <a:t>Unlabelled</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r>
            </a:tbl>
          </a:graphicData>
        </a:graphic>
      </p:graphicFrame>
      <p:grpSp>
        <p:nvGrpSpPr>
          <p:cNvPr name="Group 5" id="5"/>
          <p:cNvGrpSpPr/>
          <p:nvPr/>
        </p:nvGrpSpPr>
        <p:grpSpPr>
          <a:xfrm rot="0">
            <a:off x="627383" y="6799781"/>
            <a:ext cx="4068148" cy="2210621"/>
            <a:chOff x="0" y="0"/>
            <a:chExt cx="5447119" cy="2959951"/>
          </a:xfrm>
        </p:grpSpPr>
        <p:sp>
          <p:nvSpPr>
            <p:cNvPr name="Freeform 6" id="6"/>
            <p:cNvSpPr/>
            <p:nvPr/>
          </p:nvSpPr>
          <p:spPr>
            <a:xfrm flipH="false" flipV="false" rot="0">
              <a:off x="16891" y="16891"/>
              <a:ext cx="5413248" cy="2926080"/>
            </a:xfrm>
            <a:custGeom>
              <a:avLst/>
              <a:gdLst/>
              <a:ahLst/>
              <a:cxnLst/>
              <a:rect r="r" b="b" t="t" l="l"/>
              <a:pathLst>
                <a:path h="2926080" w="5413248">
                  <a:moveTo>
                    <a:pt x="0" y="0"/>
                  </a:moveTo>
                  <a:lnTo>
                    <a:pt x="5413248" y="0"/>
                  </a:lnTo>
                  <a:lnTo>
                    <a:pt x="5413248" y="2926080"/>
                  </a:lnTo>
                  <a:lnTo>
                    <a:pt x="0" y="2926080"/>
                  </a:lnTo>
                  <a:close/>
                </a:path>
              </a:pathLst>
            </a:custGeom>
            <a:solidFill>
              <a:srgbClr val="028090"/>
            </a:solidFill>
          </p:spPr>
        </p:sp>
        <p:sp>
          <p:nvSpPr>
            <p:cNvPr name="Freeform 7" id="7"/>
            <p:cNvSpPr/>
            <p:nvPr/>
          </p:nvSpPr>
          <p:spPr>
            <a:xfrm flipH="false" flipV="false" rot="0">
              <a:off x="0" y="0"/>
              <a:ext cx="5447030" cy="2959862"/>
            </a:xfrm>
            <a:custGeom>
              <a:avLst/>
              <a:gdLst/>
              <a:ahLst/>
              <a:cxnLst/>
              <a:rect r="r" b="b" t="t" l="l"/>
              <a:pathLst>
                <a:path h="2959862" w="5447030">
                  <a:moveTo>
                    <a:pt x="16891" y="0"/>
                  </a:moveTo>
                  <a:lnTo>
                    <a:pt x="5430139" y="0"/>
                  </a:lnTo>
                  <a:cubicBezTo>
                    <a:pt x="5439537" y="0"/>
                    <a:pt x="5447030" y="7620"/>
                    <a:pt x="5447030" y="16891"/>
                  </a:cubicBezTo>
                  <a:lnTo>
                    <a:pt x="5447030" y="2942971"/>
                  </a:lnTo>
                  <a:cubicBezTo>
                    <a:pt x="5447030" y="2952369"/>
                    <a:pt x="5439410" y="2959862"/>
                    <a:pt x="5430139" y="2959862"/>
                  </a:cubicBezTo>
                  <a:lnTo>
                    <a:pt x="16891" y="2959862"/>
                  </a:lnTo>
                  <a:cubicBezTo>
                    <a:pt x="7493" y="2959862"/>
                    <a:pt x="0" y="2952242"/>
                    <a:pt x="0" y="2942971"/>
                  </a:cubicBezTo>
                  <a:lnTo>
                    <a:pt x="0" y="16891"/>
                  </a:lnTo>
                  <a:cubicBezTo>
                    <a:pt x="0" y="7620"/>
                    <a:pt x="7620" y="0"/>
                    <a:pt x="16891" y="0"/>
                  </a:cubicBezTo>
                  <a:moveTo>
                    <a:pt x="16891" y="33909"/>
                  </a:moveTo>
                  <a:lnTo>
                    <a:pt x="16891" y="16891"/>
                  </a:lnTo>
                  <a:lnTo>
                    <a:pt x="33909" y="16891"/>
                  </a:lnTo>
                  <a:lnTo>
                    <a:pt x="33909" y="2942971"/>
                  </a:lnTo>
                  <a:lnTo>
                    <a:pt x="16891" y="2942971"/>
                  </a:lnTo>
                  <a:lnTo>
                    <a:pt x="16891" y="2926080"/>
                  </a:lnTo>
                  <a:lnTo>
                    <a:pt x="5430139" y="2926080"/>
                  </a:lnTo>
                  <a:lnTo>
                    <a:pt x="5430139" y="2942971"/>
                  </a:lnTo>
                  <a:lnTo>
                    <a:pt x="5413248" y="2942971"/>
                  </a:lnTo>
                  <a:lnTo>
                    <a:pt x="5413248" y="16891"/>
                  </a:lnTo>
                  <a:lnTo>
                    <a:pt x="5430139" y="16891"/>
                  </a:lnTo>
                  <a:lnTo>
                    <a:pt x="5430139" y="33909"/>
                  </a:lnTo>
                  <a:lnTo>
                    <a:pt x="16891" y="33909"/>
                  </a:lnTo>
                  <a:close/>
                </a:path>
              </a:pathLst>
            </a:custGeom>
            <a:solidFill>
              <a:srgbClr val="D8E8EB"/>
            </a:solidFill>
          </p:spPr>
        </p:sp>
      </p:grpSp>
      <p:grpSp>
        <p:nvGrpSpPr>
          <p:cNvPr name="Group 8" id="8"/>
          <p:cNvGrpSpPr/>
          <p:nvPr/>
        </p:nvGrpSpPr>
        <p:grpSpPr>
          <a:xfrm rot="0">
            <a:off x="640027" y="6958113"/>
            <a:ext cx="4042852" cy="1267488"/>
            <a:chOff x="0" y="0"/>
            <a:chExt cx="5413248" cy="1697125"/>
          </a:xfrm>
        </p:grpSpPr>
        <p:sp>
          <p:nvSpPr>
            <p:cNvPr name="Freeform 9" id="9"/>
            <p:cNvSpPr/>
            <p:nvPr/>
          </p:nvSpPr>
          <p:spPr>
            <a:xfrm flipH="false" flipV="false" rot="0">
              <a:off x="0" y="0"/>
              <a:ext cx="5413248" cy="1697124"/>
            </a:xfrm>
            <a:custGeom>
              <a:avLst/>
              <a:gdLst/>
              <a:ahLst/>
              <a:cxnLst/>
              <a:rect r="r" b="b" t="t" l="l"/>
              <a:pathLst>
                <a:path h="1697124" w="5413248">
                  <a:moveTo>
                    <a:pt x="0" y="0"/>
                  </a:moveTo>
                  <a:lnTo>
                    <a:pt x="5413248" y="0"/>
                  </a:lnTo>
                  <a:lnTo>
                    <a:pt x="5413248" y="1697124"/>
                  </a:lnTo>
                  <a:lnTo>
                    <a:pt x="0" y="1697124"/>
                  </a:lnTo>
                  <a:close/>
                </a:path>
              </a:pathLst>
            </a:custGeom>
            <a:blipFill>
              <a:blip r:embed="rId4">
                <a:alphaModFix amt="0"/>
              </a:blip>
              <a:stretch>
                <a:fillRect l="0" t="-12150" r="0" b="-12150"/>
              </a:stretch>
            </a:blipFill>
          </p:spPr>
        </p:sp>
        <p:sp>
          <p:nvSpPr>
            <p:cNvPr name="TextBox 10" id="10"/>
            <p:cNvSpPr txBox="true"/>
            <p:nvPr/>
          </p:nvSpPr>
          <p:spPr>
            <a:xfrm>
              <a:off x="0" y="0"/>
              <a:ext cx="5413248" cy="1697125"/>
            </a:xfrm>
            <a:prstGeom prst="rect">
              <a:avLst/>
            </a:prstGeom>
          </p:spPr>
          <p:txBody>
            <a:bodyPr anchor="ctr" rtlCol="false" tIns="0" lIns="0" bIns="0" rIns="0"/>
            <a:lstStyle/>
            <a:p>
              <a:pPr algn="ctr">
                <a:lnSpc>
                  <a:spcPts val="7559"/>
                </a:lnSpc>
              </a:pPr>
              <a:r>
                <a:rPr lang="en-US" sz="6300">
                  <a:solidFill>
                    <a:srgbClr val="FFFFFF"/>
                  </a:solidFill>
                  <a:latin typeface="Bree Serif"/>
                  <a:ea typeface="Bree Serif"/>
                  <a:cs typeface="Bree Serif"/>
                  <a:sym typeface="Bree Serif"/>
                </a:rPr>
                <a:t>11,917</a:t>
              </a:r>
            </a:p>
          </p:txBody>
        </p:sp>
      </p:grpSp>
      <p:grpSp>
        <p:nvGrpSpPr>
          <p:cNvPr name="Group 11" id="11"/>
          <p:cNvGrpSpPr/>
          <p:nvPr/>
        </p:nvGrpSpPr>
        <p:grpSpPr>
          <a:xfrm rot="0">
            <a:off x="640027" y="8014353"/>
            <a:ext cx="4042852" cy="874130"/>
            <a:chOff x="0" y="0"/>
            <a:chExt cx="5413248" cy="1170432"/>
          </a:xfrm>
        </p:grpSpPr>
        <p:sp>
          <p:nvSpPr>
            <p:cNvPr name="Freeform 12" id="12"/>
            <p:cNvSpPr/>
            <p:nvPr/>
          </p:nvSpPr>
          <p:spPr>
            <a:xfrm flipH="false" flipV="false" rot="0">
              <a:off x="0" y="0"/>
              <a:ext cx="5413248" cy="1170432"/>
            </a:xfrm>
            <a:custGeom>
              <a:avLst/>
              <a:gdLst/>
              <a:ahLst/>
              <a:cxnLst/>
              <a:rect r="r" b="b" t="t" l="l"/>
              <a:pathLst>
                <a:path h="1170432" w="5413248">
                  <a:moveTo>
                    <a:pt x="0" y="0"/>
                  </a:moveTo>
                  <a:lnTo>
                    <a:pt x="5413248" y="0"/>
                  </a:lnTo>
                  <a:lnTo>
                    <a:pt x="5413248" y="1170432"/>
                  </a:lnTo>
                  <a:lnTo>
                    <a:pt x="0" y="1170432"/>
                  </a:lnTo>
                  <a:close/>
                </a:path>
              </a:pathLst>
            </a:custGeom>
            <a:blipFill>
              <a:blip r:embed="rId4">
                <a:alphaModFix amt="0"/>
              </a:blip>
              <a:stretch>
                <a:fillRect l="0" t="-40118" r="0" b="-40118"/>
              </a:stretch>
            </a:blipFill>
          </p:spPr>
        </p:sp>
        <p:sp>
          <p:nvSpPr>
            <p:cNvPr name="TextBox 13" id="13"/>
            <p:cNvSpPr txBox="true"/>
            <p:nvPr/>
          </p:nvSpPr>
          <p:spPr>
            <a:xfrm>
              <a:off x="0" y="9525"/>
              <a:ext cx="5413248" cy="1160907"/>
            </a:xfrm>
            <a:prstGeom prst="rect">
              <a:avLst/>
            </a:prstGeom>
          </p:spPr>
          <p:txBody>
            <a:bodyPr anchor="ctr" rtlCol="false" tIns="0" lIns="0" bIns="0" rIns="0"/>
            <a:lstStyle/>
            <a:p>
              <a:pPr algn="ctr">
                <a:lnSpc>
                  <a:spcPts val="2279"/>
                </a:lnSpc>
              </a:pPr>
              <a:r>
                <a:rPr lang="en-US" sz="1899">
                  <a:solidFill>
                    <a:srgbClr val="D0ECF0"/>
                  </a:solidFill>
                  <a:latin typeface="Bree Serif"/>
                  <a:ea typeface="Bree Serif"/>
                  <a:cs typeface="Bree Serif"/>
                  <a:sym typeface="Bree Serif"/>
                </a:rPr>
                <a:t>Total  clean samples</a:t>
              </a:r>
            </a:p>
          </p:txBody>
        </p:sp>
      </p:grpSp>
      <p:grpSp>
        <p:nvGrpSpPr>
          <p:cNvPr name="Group 14" id="14"/>
          <p:cNvGrpSpPr/>
          <p:nvPr/>
        </p:nvGrpSpPr>
        <p:grpSpPr>
          <a:xfrm rot="0">
            <a:off x="4961611" y="6799781"/>
            <a:ext cx="4068148" cy="2210621"/>
            <a:chOff x="0" y="0"/>
            <a:chExt cx="5447119" cy="2959951"/>
          </a:xfrm>
        </p:grpSpPr>
        <p:sp>
          <p:nvSpPr>
            <p:cNvPr name="Freeform 15" id="15"/>
            <p:cNvSpPr/>
            <p:nvPr/>
          </p:nvSpPr>
          <p:spPr>
            <a:xfrm flipH="false" flipV="false" rot="0">
              <a:off x="16891" y="16891"/>
              <a:ext cx="5413248" cy="2926080"/>
            </a:xfrm>
            <a:custGeom>
              <a:avLst/>
              <a:gdLst/>
              <a:ahLst/>
              <a:cxnLst/>
              <a:rect r="r" b="b" t="t" l="l"/>
              <a:pathLst>
                <a:path h="2926080" w="5413248">
                  <a:moveTo>
                    <a:pt x="0" y="0"/>
                  </a:moveTo>
                  <a:lnTo>
                    <a:pt x="5413248" y="0"/>
                  </a:lnTo>
                  <a:lnTo>
                    <a:pt x="5413248" y="2926080"/>
                  </a:lnTo>
                  <a:lnTo>
                    <a:pt x="0" y="2926080"/>
                  </a:lnTo>
                  <a:close/>
                </a:path>
              </a:pathLst>
            </a:custGeom>
            <a:solidFill>
              <a:srgbClr val="E63946"/>
            </a:solidFill>
          </p:spPr>
        </p:sp>
        <p:sp>
          <p:nvSpPr>
            <p:cNvPr name="Freeform 16" id="16"/>
            <p:cNvSpPr/>
            <p:nvPr/>
          </p:nvSpPr>
          <p:spPr>
            <a:xfrm flipH="false" flipV="false" rot="0">
              <a:off x="0" y="0"/>
              <a:ext cx="5447030" cy="2959862"/>
            </a:xfrm>
            <a:custGeom>
              <a:avLst/>
              <a:gdLst/>
              <a:ahLst/>
              <a:cxnLst/>
              <a:rect r="r" b="b" t="t" l="l"/>
              <a:pathLst>
                <a:path h="2959862" w="5447030">
                  <a:moveTo>
                    <a:pt x="16891" y="0"/>
                  </a:moveTo>
                  <a:lnTo>
                    <a:pt x="5430139" y="0"/>
                  </a:lnTo>
                  <a:cubicBezTo>
                    <a:pt x="5439537" y="0"/>
                    <a:pt x="5447030" y="7620"/>
                    <a:pt x="5447030" y="16891"/>
                  </a:cubicBezTo>
                  <a:lnTo>
                    <a:pt x="5447030" y="2942971"/>
                  </a:lnTo>
                  <a:cubicBezTo>
                    <a:pt x="5447030" y="2952369"/>
                    <a:pt x="5439410" y="2959862"/>
                    <a:pt x="5430139" y="2959862"/>
                  </a:cubicBezTo>
                  <a:lnTo>
                    <a:pt x="16891" y="2959862"/>
                  </a:lnTo>
                  <a:cubicBezTo>
                    <a:pt x="7493" y="2959862"/>
                    <a:pt x="0" y="2952242"/>
                    <a:pt x="0" y="2942971"/>
                  </a:cubicBezTo>
                  <a:lnTo>
                    <a:pt x="0" y="16891"/>
                  </a:lnTo>
                  <a:cubicBezTo>
                    <a:pt x="0" y="7620"/>
                    <a:pt x="7620" y="0"/>
                    <a:pt x="16891" y="0"/>
                  </a:cubicBezTo>
                  <a:moveTo>
                    <a:pt x="16891" y="33909"/>
                  </a:moveTo>
                  <a:lnTo>
                    <a:pt x="16891" y="16891"/>
                  </a:lnTo>
                  <a:lnTo>
                    <a:pt x="33909" y="16891"/>
                  </a:lnTo>
                  <a:lnTo>
                    <a:pt x="33909" y="2942971"/>
                  </a:lnTo>
                  <a:lnTo>
                    <a:pt x="16891" y="2942971"/>
                  </a:lnTo>
                  <a:lnTo>
                    <a:pt x="16891" y="2926080"/>
                  </a:lnTo>
                  <a:lnTo>
                    <a:pt x="5430139" y="2926080"/>
                  </a:lnTo>
                  <a:lnTo>
                    <a:pt x="5430139" y="2942971"/>
                  </a:lnTo>
                  <a:lnTo>
                    <a:pt x="5413248" y="2942971"/>
                  </a:lnTo>
                  <a:lnTo>
                    <a:pt x="5413248" y="16891"/>
                  </a:lnTo>
                  <a:lnTo>
                    <a:pt x="5430139" y="16891"/>
                  </a:lnTo>
                  <a:lnTo>
                    <a:pt x="5430139" y="33909"/>
                  </a:lnTo>
                  <a:lnTo>
                    <a:pt x="16891" y="33909"/>
                  </a:lnTo>
                  <a:close/>
                </a:path>
              </a:pathLst>
            </a:custGeom>
            <a:solidFill>
              <a:srgbClr val="D8E8EB"/>
            </a:solidFill>
          </p:spPr>
        </p:sp>
      </p:grpSp>
      <p:grpSp>
        <p:nvGrpSpPr>
          <p:cNvPr name="Group 17" id="17"/>
          <p:cNvGrpSpPr/>
          <p:nvPr/>
        </p:nvGrpSpPr>
        <p:grpSpPr>
          <a:xfrm rot="0">
            <a:off x="4974255" y="6958113"/>
            <a:ext cx="4042852" cy="1267488"/>
            <a:chOff x="0" y="0"/>
            <a:chExt cx="5413248" cy="1697125"/>
          </a:xfrm>
        </p:grpSpPr>
        <p:sp>
          <p:nvSpPr>
            <p:cNvPr name="Freeform 18" id="18"/>
            <p:cNvSpPr/>
            <p:nvPr/>
          </p:nvSpPr>
          <p:spPr>
            <a:xfrm flipH="false" flipV="false" rot="0">
              <a:off x="0" y="0"/>
              <a:ext cx="5413248" cy="1697124"/>
            </a:xfrm>
            <a:custGeom>
              <a:avLst/>
              <a:gdLst/>
              <a:ahLst/>
              <a:cxnLst/>
              <a:rect r="r" b="b" t="t" l="l"/>
              <a:pathLst>
                <a:path h="1697124" w="5413248">
                  <a:moveTo>
                    <a:pt x="0" y="0"/>
                  </a:moveTo>
                  <a:lnTo>
                    <a:pt x="5413248" y="0"/>
                  </a:lnTo>
                  <a:lnTo>
                    <a:pt x="5413248" y="1697124"/>
                  </a:lnTo>
                  <a:lnTo>
                    <a:pt x="0" y="1697124"/>
                  </a:lnTo>
                  <a:close/>
                </a:path>
              </a:pathLst>
            </a:custGeom>
            <a:blipFill>
              <a:blip r:embed="rId4">
                <a:alphaModFix amt="0"/>
              </a:blip>
              <a:stretch>
                <a:fillRect l="0" t="-12150" r="0" b="-12150"/>
              </a:stretch>
            </a:blipFill>
          </p:spPr>
        </p:sp>
        <p:sp>
          <p:nvSpPr>
            <p:cNvPr name="TextBox 19" id="19"/>
            <p:cNvSpPr txBox="true"/>
            <p:nvPr/>
          </p:nvSpPr>
          <p:spPr>
            <a:xfrm>
              <a:off x="0" y="0"/>
              <a:ext cx="5413248" cy="1697125"/>
            </a:xfrm>
            <a:prstGeom prst="rect">
              <a:avLst/>
            </a:prstGeom>
          </p:spPr>
          <p:txBody>
            <a:bodyPr anchor="ctr" rtlCol="false" tIns="0" lIns="0" bIns="0" rIns="0"/>
            <a:lstStyle/>
            <a:p>
              <a:pPr algn="ctr">
                <a:lnSpc>
                  <a:spcPts val="7559"/>
                </a:lnSpc>
              </a:pPr>
              <a:r>
                <a:rPr lang="en-US" sz="6300">
                  <a:solidFill>
                    <a:srgbClr val="FFFFFF"/>
                  </a:solidFill>
                  <a:latin typeface="Bree Serif"/>
                  <a:ea typeface="Bree Serif"/>
                  <a:cs typeface="Bree Serif"/>
                  <a:sym typeface="Bree Serif"/>
                </a:rPr>
                <a:t>52.9%</a:t>
              </a:r>
            </a:p>
          </p:txBody>
        </p:sp>
      </p:grpSp>
      <p:grpSp>
        <p:nvGrpSpPr>
          <p:cNvPr name="Group 20" id="20"/>
          <p:cNvGrpSpPr/>
          <p:nvPr/>
        </p:nvGrpSpPr>
        <p:grpSpPr>
          <a:xfrm rot="0">
            <a:off x="4974255" y="8014353"/>
            <a:ext cx="4042852" cy="874130"/>
            <a:chOff x="0" y="0"/>
            <a:chExt cx="5413248" cy="1170432"/>
          </a:xfrm>
        </p:grpSpPr>
        <p:sp>
          <p:nvSpPr>
            <p:cNvPr name="Freeform 21" id="21"/>
            <p:cNvSpPr/>
            <p:nvPr/>
          </p:nvSpPr>
          <p:spPr>
            <a:xfrm flipH="false" flipV="false" rot="0">
              <a:off x="0" y="0"/>
              <a:ext cx="5413248" cy="1170432"/>
            </a:xfrm>
            <a:custGeom>
              <a:avLst/>
              <a:gdLst/>
              <a:ahLst/>
              <a:cxnLst/>
              <a:rect r="r" b="b" t="t" l="l"/>
              <a:pathLst>
                <a:path h="1170432" w="5413248">
                  <a:moveTo>
                    <a:pt x="0" y="0"/>
                  </a:moveTo>
                  <a:lnTo>
                    <a:pt x="5413248" y="0"/>
                  </a:lnTo>
                  <a:lnTo>
                    <a:pt x="5413248" y="1170432"/>
                  </a:lnTo>
                  <a:lnTo>
                    <a:pt x="0" y="1170432"/>
                  </a:lnTo>
                  <a:close/>
                </a:path>
              </a:pathLst>
            </a:custGeom>
            <a:blipFill>
              <a:blip r:embed="rId4">
                <a:alphaModFix amt="0"/>
              </a:blip>
              <a:stretch>
                <a:fillRect l="0" t="-40118" r="0" b="-40118"/>
              </a:stretch>
            </a:blipFill>
          </p:spPr>
        </p:sp>
        <p:sp>
          <p:nvSpPr>
            <p:cNvPr name="TextBox 22" id="22"/>
            <p:cNvSpPr txBox="true"/>
            <p:nvPr/>
          </p:nvSpPr>
          <p:spPr>
            <a:xfrm>
              <a:off x="0" y="9525"/>
              <a:ext cx="5413248" cy="1160907"/>
            </a:xfrm>
            <a:prstGeom prst="rect">
              <a:avLst/>
            </a:prstGeom>
          </p:spPr>
          <p:txBody>
            <a:bodyPr anchor="ctr" rtlCol="false" tIns="0" lIns="0" bIns="0" rIns="0"/>
            <a:lstStyle/>
            <a:p>
              <a:pPr algn="ctr">
                <a:lnSpc>
                  <a:spcPts val="2279"/>
                </a:lnSpc>
              </a:pPr>
              <a:r>
                <a:rPr lang="en-US" sz="1899">
                  <a:solidFill>
                    <a:srgbClr val="D0ECF0"/>
                  </a:solidFill>
                  <a:latin typeface="Bree Serif"/>
                  <a:ea typeface="Bree Serif"/>
                  <a:cs typeface="Bree Serif"/>
                  <a:sym typeface="Bree Serif"/>
                </a:rPr>
                <a:t>High Risk</a:t>
              </a:r>
            </a:p>
          </p:txBody>
        </p:sp>
      </p:grpSp>
      <p:grpSp>
        <p:nvGrpSpPr>
          <p:cNvPr name="Group 23" id="23"/>
          <p:cNvGrpSpPr/>
          <p:nvPr/>
        </p:nvGrpSpPr>
        <p:grpSpPr>
          <a:xfrm rot="0">
            <a:off x="9295840" y="6799781"/>
            <a:ext cx="4068148" cy="2210621"/>
            <a:chOff x="0" y="0"/>
            <a:chExt cx="5447119" cy="2959951"/>
          </a:xfrm>
        </p:grpSpPr>
        <p:sp>
          <p:nvSpPr>
            <p:cNvPr name="Freeform 24" id="24"/>
            <p:cNvSpPr/>
            <p:nvPr/>
          </p:nvSpPr>
          <p:spPr>
            <a:xfrm flipH="false" flipV="false" rot="0">
              <a:off x="16891" y="16891"/>
              <a:ext cx="5413248" cy="2926080"/>
            </a:xfrm>
            <a:custGeom>
              <a:avLst/>
              <a:gdLst/>
              <a:ahLst/>
              <a:cxnLst/>
              <a:rect r="r" b="b" t="t" l="l"/>
              <a:pathLst>
                <a:path h="2926080" w="5413248">
                  <a:moveTo>
                    <a:pt x="0" y="0"/>
                  </a:moveTo>
                  <a:lnTo>
                    <a:pt x="5413248" y="0"/>
                  </a:lnTo>
                  <a:lnTo>
                    <a:pt x="5413248" y="2926080"/>
                  </a:lnTo>
                  <a:lnTo>
                    <a:pt x="0" y="2926080"/>
                  </a:lnTo>
                  <a:close/>
                </a:path>
              </a:pathLst>
            </a:custGeom>
            <a:solidFill>
              <a:srgbClr val="2A9D8F"/>
            </a:solidFill>
          </p:spPr>
        </p:sp>
        <p:sp>
          <p:nvSpPr>
            <p:cNvPr name="Freeform 25" id="25"/>
            <p:cNvSpPr/>
            <p:nvPr/>
          </p:nvSpPr>
          <p:spPr>
            <a:xfrm flipH="false" flipV="false" rot="0">
              <a:off x="0" y="0"/>
              <a:ext cx="5447030" cy="2959862"/>
            </a:xfrm>
            <a:custGeom>
              <a:avLst/>
              <a:gdLst/>
              <a:ahLst/>
              <a:cxnLst/>
              <a:rect r="r" b="b" t="t" l="l"/>
              <a:pathLst>
                <a:path h="2959862" w="5447030">
                  <a:moveTo>
                    <a:pt x="16891" y="0"/>
                  </a:moveTo>
                  <a:lnTo>
                    <a:pt x="5430139" y="0"/>
                  </a:lnTo>
                  <a:cubicBezTo>
                    <a:pt x="5439537" y="0"/>
                    <a:pt x="5447030" y="7620"/>
                    <a:pt x="5447030" y="16891"/>
                  </a:cubicBezTo>
                  <a:lnTo>
                    <a:pt x="5447030" y="2942971"/>
                  </a:lnTo>
                  <a:cubicBezTo>
                    <a:pt x="5447030" y="2952369"/>
                    <a:pt x="5439410" y="2959862"/>
                    <a:pt x="5430139" y="2959862"/>
                  </a:cubicBezTo>
                  <a:lnTo>
                    <a:pt x="16891" y="2959862"/>
                  </a:lnTo>
                  <a:cubicBezTo>
                    <a:pt x="7493" y="2959862"/>
                    <a:pt x="0" y="2952242"/>
                    <a:pt x="0" y="2942971"/>
                  </a:cubicBezTo>
                  <a:lnTo>
                    <a:pt x="0" y="16891"/>
                  </a:lnTo>
                  <a:cubicBezTo>
                    <a:pt x="0" y="7620"/>
                    <a:pt x="7620" y="0"/>
                    <a:pt x="16891" y="0"/>
                  </a:cubicBezTo>
                  <a:moveTo>
                    <a:pt x="16891" y="33909"/>
                  </a:moveTo>
                  <a:lnTo>
                    <a:pt x="16891" y="16891"/>
                  </a:lnTo>
                  <a:lnTo>
                    <a:pt x="33909" y="16891"/>
                  </a:lnTo>
                  <a:lnTo>
                    <a:pt x="33909" y="2942971"/>
                  </a:lnTo>
                  <a:lnTo>
                    <a:pt x="16891" y="2942971"/>
                  </a:lnTo>
                  <a:lnTo>
                    <a:pt x="16891" y="2926080"/>
                  </a:lnTo>
                  <a:lnTo>
                    <a:pt x="5430139" y="2926080"/>
                  </a:lnTo>
                  <a:lnTo>
                    <a:pt x="5430139" y="2942971"/>
                  </a:lnTo>
                  <a:lnTo>
                    <a:pt x="5413248" y="2942971"/>
                  </a:lnTo>
                  <a:lnTo>
                    <a:pt x="5413248" y="16891"/>
                  </a:lnTo>
                  <a:lnTo>
                    <a:pt x="5430139" y="16891"/>
                  </a:lnTo>
                  <a:lnTo>
                    <a:pt x="5430139" y="33909"/>
                  </a:lnTo>
                  <a:lnTo>
                    <a:pt x="16891" y="33909"/>
                  </a:lnTo>
                  <a:close/>
                </a:path>
              </a:pathLst>
            </a:custGeom>
            <a:solidFill>
              <a:srgbClr val="D8E8EB"/>
            </a:solidFill>
          </p:spPr>
        </p:sp>
      </p:grpSp>
      <p:grpSp>
        <p:nvGrpSpPr>
          <p:cNvPr name="Group 26" id="26"/>
          <p:cNvGrpSpPr/>
          <p:nvPr/>
        </p:nvGrpSpPr>
        <p:grpSpPr>
          <a:xfrm rot="0">
            <a:off x="9308483" y="6958113"/>
            <a:ext cx="4042852" cy="1267488"/>
            <a:chOff x="0" y="0"/>
            <a:chExt cx="5413248" cy="1697125"/>
          </a:xfrm>
        </p:grpSpPr>
        <p:sp>
          <p:nvSpPr>
            <p:cNvPr name="Freeform 27" id="27"/>
            <p:cNvSpPr/>
            <p:nvPr/>
          </p:nvSpPr>
          <p:spPr>
            <a:xfrm flipH="false" flipV="false" rot="0">
              <a:off x="0" y="0"/>
              <a:ext cx="5413248" cy="1697124"/>
            </a:xfrm>
            <a:custGeom>
              <a:avLst/>
              <a:gdLst/>
              <a:ahLst/>
              <a:cxnLst/>
              <a:rect r="r" b="b" t="t" l="l"/>
              <a:pathLst>
                <a:path h="1697124" w="5413248">
                  <a:moveTo>
                    <a:pt x="0" y="0"/>
                  </a:moveTo>
                  <a:lnTo>
                    <a:pt x="5413248" y="0"/>
                  </a:lnTo>
                  <a:lnTo>
                    <a:pt x="5413248" y="1697124"/>
                  </a:lnTo>
                  <a:lnTo>
                    <a:pt x="0" y="1697124"/>
                  </a:lnTo>
                  <a:close/>
                </a:path>
              </a:pathLst>
            </a:custGeom>
            <a:blipFill>
              <a:blip r:embed="rId4">
                <a:alphaModFix amt="0"/>
              </a:blip>
              <a:stretch>
                <a:fillRect l="0" t="-12150" r="0" b="-12150"/>
              </a:stretch>
            </a:blipFill>
          </p:spPr>
        </p:sp>
        <p:sp>
          <p:nvSpPr>
            <p:cNvPr name="TextBox 28" id="28"/>
            <p:cNvSpPr txBox="true"/>
            <p:nvPr/>
          </p:nvSpPr>
          <p:spPr>
            <a:xfrm>
              <a:off x="0" y="0"/>
              <a:ext cx="5413248" cy="1697125"/>
            </a:xfrm>
            <a:prstGeom prst="rect">
              <a:avLst/>
            </a:prstGeom>
          </p:spPr>
          <p:txBody>
            <a:bodyPr anchor="ctr" rtlCol="false" tIns="0" lIns="0" bIns="0" rIns="0"/>
            <a:lstStyle/>
            <a:p>
              <a:pPr algn="ctr">
                <a:lnSpc>
                  <a:spcPts val="7559"/>
                </a:lnSpc>
              </a:pPr>
              <a:r>
                <a:rPr lang="en-US" sz="6300">
                  <a:solidFill>
                    <a:srgbClr val="FFFFFF"/>
                  </a:solidFill>
                  <a:latin typeface="Bree Serif"/>
                  <a:ea typeface="Bree Serif"/>
                  <a:cs typeface="Bree Serif"/>
                  <a:sym typeface="Bree Serif"/>
                </a:rPr>
                <a:t>30.1%</a:t>
              </a:r>
            </a:p>
          </p:txBody>
        </p:sp>
      </p:grpSp>
      <p:grpSp>
        <p:nvGrpSpPr>
          <p:cNvPr name="Group 29" id="29"/>
          <p:cNvGrpSpPr/>
          <p:nvPr/>
        </p:nvGrpSpPr>
        <p:grpSpPr>
          <a:xfrm rot="0">
            <a:off x="9308483" y="8014353"/>
            <a:ext cx="4042852" cy="874130"/>
            <a:chOff x="0" y="0"/>
            <a:chExt cx="5413248" cy="1170432"/>
          </a:xfrm>
        </p:grpSpPr>
        <p:sp>
          <p:nvSpPr>
            <p:cNvPr name="Freeform 30" id="30"/>
            <p:cNvSpPr/>
            <p:nvPr/>
          </p:nvSpPr>
          <p:spPr>
            <a:xfrm flipH="false" flipV="false" rot="0">
              <a:off x="0" y="0"/>
              <a:ext cx="5413248" cy="1170432"/>
            </a:xfrm>
            <a:custGeom>
              <a:avLst/>
              <a:gdLst/>
              <a:ahLst/>
              <a:cxnLst/>
              <a:rect r="r" b="b" t="t" l="l"/>
              <a:pathLst>
                <a:path h="1170432" w="5413248">
                  <a:moveTo>
                    <a:pt x="0" y="0"/>
                  </a:moveTo>
                  <a:lnTo>
                    <a:pt x="5413248" y="0"/>
                  </a:lnTo>
                  <a:lnTo>
                    <a:pt x="5413248" y="1170432"/>
                  </a:lnTo>
                  <a:lnTo>
                    <a:pt x="0" y="1170432"/>
                  </a:lnTo>
                  <a:close/>
                </a:path>
              </a:pathLst>
            </a:custGeom>
            <a:blipFill>
              <a:blip r:embed="rId4">
                <a:alphaModFix amt="0"/>
              </a:blip>
              <a:stretch>
                <a:fillRect l="0" t="-40118" r="0" b="-40118"/>
              </a:stretch>
            </a:blipFill>
          </p:spPr>
        </p:sp>
        <p:sp>
          <p:nvSpPr>
            <p:cNvPr name="TextBox 31" id="31"/>
            <p:cNvSpPr txBox="true"/>
            <p:nvPr/>
          </p:nvSpPr>
          <p:spPr>
            <a:xfrm>
              <a:off x="0" y="9525"/>
              <a:ext cx="5413248" cy="1160907"/>
            </a:xfrm>
            <a:prstGeom prst="rect">
              <a:avLst/>
            </a:prstGeom>
          </p:spPr>
          <p:txBody>
            <a:bodyPr anchor="ctr" rtlCol="false" tIns="0" lIns="0" bIns="0" rIns="0"/>
            <a:lstStyle/>
            <a:p>
              <a:pPr algn="ctr">
                <a:lnSpc>
                  <a:spcPts val="2279"/>
                </a:lnSpc>
              </a:pPr>
              <a:r>
                <a:rPr lang="en-US" sz="1899">
                  <a:solidFill>
                    <a:srgbClr val="D0ECF0"/>
                  </a:solidFill>
                  <a:latin typeface="Bree Serif"/>
                  <a:ea typeface="Bree Serif"/>
                  <a:cs typeface="Bree Serif"/>
                  <a:sym typeface="Bree Serif"/>
                </a:rPr>
                <a:t>Low Risk</a:t>
              </a:r>
            </a:p>
          </p:txBody>
        </p:sp>
      </p:grpSp>
      <p:grpSp>
        <p:nvGrpSpPr>
          <p:cNvPr name="Group 32" id="32"/>
          <p:cNvGrpSpPr/>
          <p:nvPr/>
        </p:nvGrpSpPr>
        <p:grpSpPr>
          <a:xfrm rot="0">
            <a:off x="13630068" y="6799781"/>
            <a:ext cx="4068148" cy="2210621"/>
            <a:chOff x="0" y="0"/>
            <a:chExt cx="5447119" cy="2959951"/>
          </a:xfrm>
        </p:grpSpPr>
        <p:sp>
          <p:nvSpPr>
            <p:cNvPr name="Freeform 33" id="33"/>
            <p:cNvSpPr/>
            <p:nvPr/>
          </p:nvSpPr>
          <p:spPr>
            <a:xfrm flipH="false" flipV="false" rot="0">
              <a:off x="16891" y="16891"/>
              <a:ext cx="5413248" cy="2926080"/>
            </a:xfrm>
            <a:custGeom>
              <a:avLst/>
              <a:gdLst/>
              <a:ahLst/>
              <a:cxnLst/>
              <a:rect r="r" b="b" t="t" l="l"/>
              <a:pathLst>
                <a:path h="2926080" w="5413248">
                  <a:moveTo>
                    <a:pt x="0" y="0"/>
                  </a:moveTo>
                  <a:lnTo>
                    <a:pt x="5413248" y="0"/>
                  </a:lnTo>
                  <a:lnTo>
                    <a:pt x="5413248" y="2926080"/>
                  </a:lnTo>
                  <a:lnTo>
                    <a:pt x="0" y="2926080"/>
                  </a:lnTo>
                  <a:close/>
                </a:path>
              </a:pathLst>
            </a:custGeom>
            <a:solidFill>
              <a:srgbClr val="F4A261"/>
            </a:solidFill>
          </p:spPr>
        </p:sp>
        <p:sp>
          <p:nvSpPr>
            <p:cNvPr name="Freeform 34" id="34"/>
            <p:cNvSpPr/>
            <p:nvPr/>
          </p:nvSpPr>
          <p:spPr>
            <a:xfrm flipH="false" flipV="false" rot="0">
              <a:off x="0" y="0"/>
              <a:ext cx="5447030" cy="2959862"/>
            </a:xfrm>
            <a:custGeom>
              <a:avLst/>
              <a:gdLst/>
              <a:ahLst/>
              <a:cxnLst/>
              <a:rect r="r" b="b" t="t" l="l"/>
              <a:pathLst>
                <a:path h="2959862" w="5447030">
                  <a:moveTo>
                    <a:pt x="16891" y="0"/>
                  </a:moveTo>
                  <a:lnTo>
                    <a:pt x="5430139" y="0"/>
                  </a:lnTo>
                  <a:cubicBezTo>
                    <a:pt x="5439537" y="0"/>
                    <a:pt x="5447030" y="7620"/>
                    <a:pt x="5447030" y="16891"/>
                  </a:cubicBezTo>
                  <a:lnTo>
                    <a:pt x="5447030" y="2942971"/>
                  </a:lnTo>
                  <a:cubicBezTo>
                    <a:pt x="5447030" y="2952369"/>
                    <a:pt x="5439410" y="2959862"/>
                    <a:pt x="5430139" y="2959862"/>
                  </a:cubicBezTo>
                  <a:lnTo>
                    <a:pt x="16891" y="2959862"/>
                  </a:lnTo>
                  <a:cubicBezTo>
                    <a:pt x="7493" y="2959862"/>
                    <a:pt x="0" y="2952242"/>
                    <a:pt x="0" y="2942971"/>
                  </a:cubicBezTo>
                  <a:lnTo>
                    <a:pt x="0" y="16891"/>
                  </a:lnTo>
                  <a:cubicBezTo>
                    <a:pt x="0" y="7620"/>
                    <a:pt x="7620" y="0"/>
                    <a:pt x="16891" y="0"/>
                  </a:cubicBezTo>
                  <a:moveTo>
                    <a:pt x="16891" y="33909"/>
                  </a:moveTo>
                  <a:lnTo>
                    <a:pt x="16891" y="16891"/>
                  </a:lnTo>
                  <a:lnTo>
                    <a:pt x="33909" y="16891"/>
                  </a:lnTo>
                  <a:lnTo>
                    <a:pt x="33909" y="2942971"/>
                  </a:lnTo>
                  <a:lnTo>
                    <a:pt x="16891" y="2942971"/>
                  </a:lnTo>
                  <a:lnTo>
                    <a:pt x="16891" y="2926080"/>
                  </a:lnTo>
                  <a:lnTo>
                    <a:pt x="5430139" y="2926080"/>
                  </a:lnTo>
                  <a:lnTo>
                    <a:pt x="5430139" y="2942971"/>
                  </a:lnTo>
                  <a:lnTo>
                    <a:pt x="5413248" y="2942971"/>
                  </a:lnTo>
                  <a:lnTo>
                    <a:pt x="5413248" y="16891"/>
                  </a:lnTo>
                  <a:lnTo>
                    <a:pt x="5430139" y="16891"/>
                  </a:lnTo>
                  <a:lnTo>
                    <a:pt x="5430139" y="33909"/>
                  </a:lnTo>
                  <a:lnTo>
                    <a:pt x="16891" y="33909"/>
                  </a:lnTo>
                  <a:close/>
                </a:path>
              </a:pathLst>
            </a:custGeom>
            <a:solidFill>
              <a:srgbClr val="D8E8EB"/>
            </a:solidFill>
          </p:spPr>
        </p:sp>
      </p:grpSp>
      <p:grpSp>
        <p:nvGrpSpPr>
          <p:cNvPr name="Group 35" id="35"/>
          <p:cNvGrpSpPr/>
          <p:nvPr/>
        </p:nvGrpSpPr>
        <p:grpSpPr>
          <a:xfrm rot="0">
            <a:off x="13642711" y="6958113"/>
            <a:ext cx="4042852" cy="1267488"/>
            <a:chOff x="0" y="0"/>
            <a:chExt cx="5413248" cy="1697125"/>
          </a:xfrm>
        </p:grpSpPr>
        <p:sp>
          <p:nvSpPr>
            <p:cNvPr name="Freeform 36" id="36"/>
            <p:cNvSpPr/>
            <p:nvPr/>
          </p:nvSpPr>
          <p:spPr>
            <a:xfrm flipH="false" flipV="false" rot="0">
              <a:off x="0" y="0"/>
              <a:ext cx="5413248" cy="1697124"/>
            </a:xfrm>
            <a:custGeom>
              <a:avLst/>
              <a:gdLst/>
              <a:ahLst/>
              <a:cxnLst/>
              <a:rect r="r" b="b" t="t" l="l"/>
              <a:pathLst>
                <a:path h="1697124" w="5413248">
                  <a:moveTo>
                    <a:pt x="0" y="0"/>
                  </a:moveTo>
                  <a:lnTo>
                    <a:pt x="5413248" y="0"/>
                  </a:lnTo>
                  <a:lnTo>
                    <a:pt x="5413248" y="1697124"/>
                  </a:lnTo>
                  <a:lnTo>
                    <a:pt x="0" y="1697124"/>
                  </a:lnTo>
                  <a:close/>
                </a:path>
              </a:pathLst>
            </a:custGeom>
            <a:blipFill>
              <a:blip r:embed="rId4">
                <a:alphaModFix amt="0"/>
              </a:blip>
              <a:stretch>
                <a:fillRect l="0" t="-12150" r="0" b="-12150"/>
              </a:stretch>
            </a:blipFill>
          </p:spPr>
        </p:sp>
        <p:sp>
          <p:nvSpPr>
            <p:cNvPr name="TextBox 37" id="37"/>
            <p:cNvSpPr txBox="true"/>
            <p:nvPr/>
          </p:nvSpPr>
          <p:spPr>
            <a:xfrm>
              <a:off x="0" y="0"/>
              <a:ext cx="5413248" cy="1697125"/>
            </a:xfrm>
            <a:prstGeom prst="rect">
              <a:avLst/>
            </a:prstGeom>
          </p:spPr>
          <p:txBody>
            <a:bodyPr anchor="ctr" rtlCol="false" tIns="0" lIns="0" bIns="0" rIns="0"/>
            <a:lstStyle/>
            <a:p>
              <a:pPr algn="ctr">
                <a:lnSpc>
                  <a:spcPts val="7559"/>
                </a:lnSpc>
              </a:pPr>
              <a:r>
                <a:rPr lang="en-US" sz="6300">
                  <a:solidFill>
                    <a:srgbClr val="FFFFFF"/>
                  </a:solidFill>
                  <a:latin typeface="Bree Serif"/>
                  <a:ea typeface="Bree Serif"/>
                  <a:cs typeface="Bree Serif"/>
                  <a:sym typeface="Bree Serif"/>
                </a:rPr>
                <a:t>17.0%</a:t>
              </a:r>
            </a:p>
          </p:txBody>
        </p:sp>
      </p:grpSp>
      <p:grpSp>
        <p:nvGrpSpPr>
          <p:cNvPr name="Group 38" id="38"/>
          <p:cNvGrpSpPr/>
          <p:nvPr/>
        </p:nvGrpSpPr>
        <p:grpSpPr>
          <a:xfrm rot="0">
            <a:off x="13642711" y="8014353"/>
            <a:ext cx="4042852" cy="874130"/>
            <a:chOff x="0" y="0"/>
            <a:chExt cx="5413248" cy="1170432"/>
          </a:xfrm>
        </p:grpSpPr>
        <p:sp>
          <p:nvSpPr>
            <p:cNvPr name="Freeform 39" id="39"/>
            <p:cNvSpPr/>
            <p:nvPr/>
          </p:nvSpPr>
          <p:spPr>
            <a:xfrm flipH="false" flipV="false" rot="0">
              <a:off x="0" y="0"/>
              <a:ext cx="5413248" cy="1170432"/>
            </a:xfrm>
            <a:custGeom>
              <a:avLst/>
              <a:gdLst/>
              <a:ahLst/>
              <a:cxnLst/>
              <a:rect r="r" b="b" t="t" l="l"/>
              <a:pathLst>
                <a:path h="1170432" w="5413248">
                  <a:moveTo>
                    <a:pt x="0" y="0"/>
                  </a:moveTo>
                  <a:lnTo>
                    <a:pt x="5413248" y="0"/>
                  </a:lnTo>
                  <a:lnTo>
                    <a:pt x="5413248" y="1170432"/>
                  </a:lnTo>
                  <a:lnTo>
                    <a:pt x="0" y="1170432"/>
                  </a:lnTo>
                  <a:close/>
                </a:path>
              </a:pathLst>
            </a:custGeom>
            <a:blipFill>
              <a:blip r:embed="rId4">
                <a:alphaModFix amt="0"/>
              </a:blip>
              <a:stretch>
                <a:fillRect l="0" t="-40118" r="0" b="-40118"/>
              </a:stretch>
            </a:blipFill>
          </p:spPr>
        </p:sp>
        <p:sp>
          <p:nvSpPr>
            <p:cNvPr name="TextBox 40" id="40"/>
            <p:cNvSpPr txBox="true"/>
            <p:nvPr/>
          </p:nvSpPr>
          <p:spPr>
            <a:xfrm>
              <a:off x="0" y="9525"/>
              <a:ext cx="5413248" cy="1160907"/>
            </a:xfrm>
            <a:prstGeom prst="rect">
              <a:avLst/>
            </a:prstGeom>
          </p:spPr>
          <p:txBody>
            <a:bodyPr anchor="ctr" rtlCol="false" tIns="0" lIns="0" bIns="0" rIns="0"/>
            <a:lstStyle/>
            <a:p>
              <a:pPr algn="ctr">
                <a:lnSpc>
                  <a:spcPts val="2279"/>
                </a:lnSpc>
              </a:pPr>
              <a:r>
                <a:rPr lang="en-US" sz="1899">
                  <a:solidFill>
                    <a:srgbClr val="D0ECF0"/>
                  </a:solidFill>
                  <a:latin typeface="Bree Serif"/>
                  <a:ea typeface="Bree Serif"/>
                  <a:cs typeface="Bree Serif"/>
                  <a:sym typeface="Bree Serif"/>
                </a:rPr>
                <a:t>Moderate Risk</a:t>
              </a:r>
            </a:p>
          </p:txBody>
        </p:sp>
      </p:grpSp>
      <p:sp>
        <p:nvSpPr>
          <p:cNvPr name="TextBox 41" id="41"/>
          <p:cNvSpPr txBox="true"/>
          <p:nvPr/>
        </p:nvSpPr>
        <p:spPr>
          <a:xfrm rot="0">
            <a:off x="840200" y="9518872"/>
            <a:ext cx="15292566" cy="400050"/>
          </a:xfrm>
          <a:prstGeom prst="rect">
            <a:avLst/>
          </a:prstGeom>
        </p:spPr>
        <p:txBody>
          <a:bodyPr anchor="t" rtlCol="false" tIns="0" lIns="0" bIns="0" rIns="0">
            <a:spAutoFit/>
          </a:bodyPr>
          <a:lstStyle/>
          <a:p>
            <a:pPr algn="ctr">
              <a:lnSpc>
                <a:spcPts val="3119"/>
              </a:lnSpc>
              <a:spcBef>
                <a:spcPct val="0"/>
              </a:spcBef>
            </a:pPr>
            <a:r>
              <a:rPr lang="en-US" sz="2599" spc="-90">
                <a:solidFill>
                  <a:srgbClr val="323962"/>
                </a:solidFill>
                <a:latin typeface="Bree Serif"/>
                <a:ea typeface="Bree Serif"/>
                <a:cs typeface="Bree Serif"/>
                <a:sym typeface="Bree Serif"/>
              </a:rPr>
              <a:t>Target Variable: risk_level ∈ { low_risk, moderate_risk, high_risk }</a:t>
            </a:r>
          </a:p>
        </p:txBody>
      </p:sp>
      <p:sp>
        <p:nvSpPr>
          <p:cNvPr name="TextBox 42" id="4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323962"/>
                </a:solidFill>
                <a:latin typeface="Bree Serif"/>
                <a:ea typeface="Bree Serif"/>
                <a:cs typeface="Bree Serif"/>
                <a:sym typeface="Bree Serif"/>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BD8ED"/>
        </a:solidFill>
      </p:bgPr>
    </p:bg>
    <p:spTree>
      <p:nvGrpSpPr>
        <p:cNvPr id="1" name=""/>
        <p:cNvGrpSpPr/>
        <p:nvPr/>
      </p:nvGrpSpPr>
      <p:grpSpPr>
        <a:xfrm>
          <a:off x="0" y="0"/>
          <a:ext cx="0" cy="0"/>
          <a:chOff x="0" y="0"/>
          <a:chExt cx="0" cy="0"/>
        </a:xfrm>
      </p:grpSpPr>
      <p:sp>
        <p:nvSpPr>
          <p:cNvPr name="TextBox 2" id="2"/>
          <p:cNvSpPr txBox="true"/>
          <p:nvPr/>
        </p:nvSpPr>
        <p:spPr>
          <a:xfrm rot="0">
            <a:off x="627383" y="484922"/>
            <a:ext cx="7121195" cy="506161"/>
          </a:xfrm>
          <a:prstGeom prst="rect">
            <a:avLst/>
          </a:prstGeom>
        </p:spPr>
        <p:txBody>
          <a:bodyPr anchor="t" rtlCol="false" tIns="0" lIns="0" bIns="0" rIns="0">
            <a:spAutoFit/>
          </a:bodyPr>
          <a:lstStyle/>
          <a:p>
            <a:pPr algn="just">
              <a:lnSpc>
                <a:spcPts val="3690"/>
              </a:lnSpc>
            </a:pPr>
            <a:r>
              <a:rPr lang="en-US" sz="4146" spc="-228">
                <a:solidFill>
                  <a:srgbClr val="323962"/>
                </a:solidFill>
                <a:latin typeface="Bree Serif"/>
                <a:ea typeface="Bree Serif"/>
                <a:cs typeface="Bree Serif"/>
                <a:sym typeface="Bree Serif"/>
              </a:rPr>
              <a:t>Data Preprocessing</a:t>
            </a:r>
          </a:p>
        </p:txBody>
      </p:sp>
      <p:grpSp>
        <p:nvGrpSpPr>
          <p:cNvPr name="Group 3" id="3"/>
          <p:cNvGrpSpPr/>
          <p:nvPr/>
        </p:nvGrpSpPr>
        <p:grpSpPr>
          <a:xfrm rot="0">
            <a:off x="628393" y="1448283"/>
            <a:ext cx="8072123" cy="1397003"/>
            <a:chOff x="0" y="0"/>
            <a:chExt cx="10762831" cy="1862671"/>
          </a:xfrm>
        </p:grpSpPr>
        <p:sp>
          <p:nvSpPr>
            <p:cNvPr name="Freeform 4" id="4"/>
            <p:cNvSpPr/>
            <p:nvPr/>
          </p:nvSpPr>
          <p:spPr>
            <a:xfrm flipH="false" flipV="false" rot="0">
              <a:off x="16891" y="16891"/>
              <a:ext cx="10728960" cy="1828800"/>
            </a:xfrm>
            <a:custGeom>
              <a:avLst/>
              <a:gdLst/>
              <a:ahLst/>
              <a:cxnLst/>
              <a:rect r="r" b="b" t="t" l="l"/>
              <a:pathLst>
                <a:path h="1828800" w="10728960">
                  <a:moveTo>
                    <a:pt x="0" y="0"/>
                  </a:moveTo>
                  <a:lnTo>
                    <a:pt x="10728960" y="0"/>
                  </a:lnTo>
                  <a:lnTo>
                    <a:pt x="10728960" y="1828800"/>
                  </a:lnTo>
                  <a:lnTo>
                    <a:pt x="0" y="1828800"/>
                  </a:lnTo>
                  <a:close/>
                </a:path>
              </a:pathLst>
            </a:custGeom>
            <a:solidFill>
              <a:srgbClr val="FFFFFF"/>
            </a:solidFill>
          </p:spPr>
        </p:sp>
        <p:sp>
          <p:nvSpPr>
            <p:cNvPr name="Freeform 5" id="5"/>
            <p:cNvSpPr/>
            <p:nvPr/>
          </p:nvSpPr>
          <p:spPr>
            <a:xfrm flipH="false" flipV="false" rot="0">
              <a:off x="0" y="0"/>
              <a:ext cx="10762742" cy="1862582"/>
            </a:xfrm>
            <a:custGeom>
              <a:avLst/>
              <a:gdLst/>
              <a:ahLst/>
              <a:cxnLst/>
              <a:rect r="r" b="b" t="t" l="l"/>
              <a:pathLst>
                <a:path h="1862582" w="10762742">
                  <a:moveTo>
                    <a:pt x="16891" y="0"/>
                  </a:moveTo>
                  <a:lnTo>
                    <a:pt x="10745851" y="0"/>
                  </a:lnTo>
                  <a:cubicBezTo>
                    <a:pt x="10755249" y="0"/>
                    <a:pt x="10762742" y="7620"/>
                    <a:pt x="10762742" y="16891"/>
                  </a:cubicBezTo>
                  <a:lnTo>
                    <a:pt x="10762742" y="1845691"/>
                  </a:lnTo>
                  <a:cubicBezTo>
                    <a:pt x="10762742" y="1855089"/>
                    <a:pt x="10755122" y="1862582"/>
                    <a:pt x="1074585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0745851" y="1828800"/>
                  </a:lnTo>
                  <a:lnTo>
                    <a:pt x="10745851" y="1845691"/>
                  </a:lnTo>
                  <a:lnTo>
                    <a:pt x="10728960" y="1845691"/>
                  </a:lnTo>
                  <a:lnTo>
                    <a:pt x="10728960" y="16891"/>
                  </a:lnTo>
                  <a:lnTo>
                    <a:pt x="10745851" y="16891"/>
                  </a:lnTo>
                  <a:lnTo>
                    <a:pt x="10745851" y="33909"/>
                  </a:lnTo>
                  <a:lnTo>
                    <a:pt x="16891" y="33909"/>
                  </a:lnTo>
                  <a:close/>
                </a:path>
              </a:pathLst>
            </a:custGeom>
            <a:solidFill>
              <a:srgbClr val="D8E8EB"/>
            </a:solidFill>
          </p:spPr>
        </p:sp>
      </p:grpSp>
      <p:grpSp>
        <p:nvGrpSpPr>
          <p:cNvPr name="Group 6" id="6"/>
          <p:cNvGrpSpPr/>
          <p:nvPr/>
        </p:nvGrpSpPr>
        <p:grpSpPr>
          <a:xfrm rot="0">
            <a:off x="628393" y="1448283"/>
            <a:ext cx="903227" cy="1397003"/>
            <a:chOff x="0" y="0"/>
            <a:chExt cx="1204303" cy="1862671"/>
          </a:xfrm>
        </p:grpSpPr>
        <p:sp>
          <p:nvSpPr>
            <p:cNvPr name="Freeform 7" id="7"/>
            <p:cNvSpPr/>
            <p:nvPr/>
          </p:nvSpPr>
          <p:spPr>
            <a:xfrm flipH="false" flipV="false" rot="0">
              <a:off x="16891" y="16891"/>
              <a:ext cx="1170432" cy="1828800"/>
            </a:xfrm>
            <a:custGeom>
              <a:avLst/>
              <a:gdLst/>
              <a:ahLst/>
              <a:cxnLst/>
              <a:rect r="r" b="b" t="t" l="l"/>
              <a:pathLst>
                <a:path h="1828800" w="1170432">
                  <a:moveTo>
                    <a:pt x="0" y="0"/>
                  </a:moveTo>
                  <a:lnTo>
                    <a:pt x="1170432" y="0"/>
                  </a:lnTo>
                  <a:lnTo>
                    <a:pt x="1170432" y="1828800"/>
                  </a:lnTo>
                  <a:lnTo>
                    <a:pt x="0" y="1828800"/>
                  </a:lnTo>
                  <a:close/>
                </a:path>
              </a:pathLst>
            </a:custGeom>
            <a:solidFill>
              <a:srgbClr val="AFBADB"/>
            </a:solidFill>
          </p:spPr>
        </p:sp>
        <p:sp>
          <p:nvSpPr>
            <p:cNvPr name="Freeform 8" id="8"/>
            <p:cNvSpPr/>
            <p:nvPr/>
          </p:nvSpPr>
          <p:spPr>
            <a:xfrm flipH="false" flipV="false" rot="0">
              <a:off x="0" y="0"/>
              <a:ext cx="1204214" cy="1862582"/>
            </a:xfrm>
            <a:custGeom>
              <a:avLst/>
              <a:gdLst/>
              <a:ahLst/>
              <a:cxnLst/>
              <a:rect r="r" b="b" t="t" l="l"/>
              <a:pathLst>
                <a:path h="1862582" w="1204214">
                  <a:moveTo>
                    <a:pt x="16891" y="0"/>
                  </a:moveTo>
                  <a:lnTo>
                    <a:pt x="1187323" y="0"/>
                  </a:lnTo>
                  <a:cubicBezTo>
                    <a:pt x="1196721" y="0"/>
                    <a:pt x="1204214" y="7620"/>
                    <a:pt x="1204214" y="16891"/>
                  </a:cubicBezTo>
                  <a:lnTo>
                    <a:pt x="1204214" y="1845691"/>
                  </a:lnTo>
                  <a:cubicBezTo>
                    <a:pt x="1204214" y="1855089"/>
                    <a:pt x="1196594" y="1862582"/>
                    <a:pt x="1187323"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187323" y="1828800"/>
                  </a:lnTo>
                  <a:lnTo>
                    <a:pt x="1187323" y="1845691"/>
                  </a:lnTo>
                  <a:lnTo>
                    <a:pt x="1170432" y="1845691"/>
                  </a:lnTo>
                  <a:lnTo>
                    <a:pt x="1170432" y="16891"/>
                  </a:lnTo>
                  <a:lnTo>
                    <a:pt x="1187323" y="16891"/>
                  </a:lnTo>
                  <a:lnTo>
                    <a:pt x="1187323" y="33909"/>
                  </a:lnTo>
                  <a:lnTo>
                    <a:pt x="16891" y="33909"/>
                  </a:lnTo>
                  <a:close/>
                </a:path>
              </a:pathLst>
            </a:custGeom>
            <a:solidFill>
              <a:srgbClr val="AFBADB"/>
            </a:solidFill>
          </p:spPr>
        </p:sp>
      </p:grpSp>
      <p:grpSp>
        <p:nvGrpSpPr>
          <p:cNvPr name="Group 9" id="9"/>
          <p:cNvGrpSpPr/>
          <p:nvPr/>
        </p:nvGrpSpPr>
        <p:grpSpPr>
          <a:xfrm rot="0">
            <a:off x="641090" y="1552420"/>
            <a:ext cx="877824" cy="1188720"/>
            <a:chOff x="0" y="0"/>
            <a:chExt cx="1170432" cy="1584960"/>
          </a:xfrm>
        </p:grpSpPr>
        <p:sp>
          <p:nvSpPr>
            <p:cNvPr name="Freeform 10" id="10"/>
            <p:cNvSpPr/>
            <p:nvPr/>
          </p:nvSpPr>
          <p:spPr>
            <a:xfrm flipH="false" flipV="false" rot="0">
              <a:off x="0" y="0"/>
              <a:ext cx="1170432" cy="1584960"/>
            </a:xfrm>
            <a:custGeom>
              <a:avLst/>
              <a:gdLst/>
              <a:ahLst/>
              <a:cxnLst/>
              <a:rect r="r" b="b" t="t" l="l"/>
              <a:pathLst>
                <a:path h="1584960" w="1170432">
                  <a:moveTo>
                    <a:pt x="0" y="0"/>
                  </a:moveTo>
                  <a:lnTo>
                    <a:pt x="1170432" y="0"/>
                  </a:lnTo>
                  <a:lnTo>
                    <a:pt x="1170432" y="1584960"/>
                  </a:lnTo>
                  <a:lnTo>
                    <a:pt x="0" y="1584960"/>
                  </a:lnTo>
                  <a:close/>
                </a:path>
              </a:pathLst>
            </a:custGeom>
            <a:blipFill>
              <a:blip r:embed="rId2">
                <a:alphaModFix amt="0"/>
              </a:blip>
              <a:stretch>
                <a:fillRect l="-123744" t="0" r="-123744" b="0"/>
              </a:stretch>
            </a:blipFill>
          </p:spPr>
        </p:sp>
        <p:sp>
          <p:nvSpPr>
            <p:cNvPr name="TextBox 11" id="11"/>
            <p:cNvSpPr txBox="true"/>
            <p:nvPr/>
          </p:nvSpPr>
          <p:spPr>
            <a:xfrm>
              <a:off x="0" y="0"/>
              <a:ext cx="1170432" cy="1584960"/>
            </a:xfrm>
            <a:prstGeom prst="rect">
              <a:avLst/>
            </a:prstGeom>
          </p:spPr>
          <p:txBody>
            <a:bodyPr anchor="ctr" rtlCol="false" tIns="0" lIns="0" bIns="0" rIns="0"/>
            <a:lstStyle/>
            <a:p>
              <a:pPr algn="ctr">
                <a:lnSpc>
                  <a:spcPts val="3359"/>
                </a:lnSpc>
              </a:pPr>
              <a:r>
                <a:rPr lang="en-US" sz="2799">
                  <a:solidFill>
                    <a:srgbClr val="FFFFFF"/>
                  </a:solidFill>
                  <a:latin typeface="Bree Serif"/>
                  <a:ea typeface="Bree Serif"/>
                  <a:cs typeface="Bree Serif"/>
                  <a:sym typeface="Bree Serif"/>
                </a:rPr>
                <a:t>01</a:t>
              </a:r>
            </a:p>
          </p:txBody>
        </p:sp>
      </p:grpSp>
      <p:grpSp>
        <p:nvGrpSpPr>
          <p:cNvPr name="Group 12" id="12"/>
          <p:cNvGrpSpPr/>
          <p:nvPr/>
        </p:nvGrpSpPr>
        <p:grpSpPr>
          <a:xfrm rot="0">
            <a:off x="1665218" y="1643860"/>
            <a:ext cx="6858000" cy="548640"/>
            <a:chOff x="0" y="0"/>
            <a:chExt cx="9144000" cy="731520"/>
          </a:xfrm>
        </p:grpSpPr>
        <p:sp>
          <p:nvSpPr>
            <p:cNvPr name="Freeform 13" id="13"/>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2">
                <a:alphaModFix amt="0"/>
              </a:blip>
              <a:stretch>
                <a:fillRect l="0" t="-193562" r="0" b="-193562"/>
              </a:stretch>
            </a:blipFill>
          </p:spPr>
        </p:sp>
        <p:sp>
          <p:nvSpPr>
            <p:cNvPr name="TextBox 14" id="14"/>
            <p:cNvSpPr txBox="true"/>
            <p:nvPr/>
          </p:nvSpPr>
          <p:spPr>
            <a:xfrm>
              <a:off x="0" y="0"/>
              <a:ext cx="9144000" cy="731520"/>
            </a:xfrm>
            <a:prstGeom prst="rect">
              <a:avLst/>
            </a:prstGeom>
          </p:spPr>
          <p:txBody>
            <a:bodyPr anchor="ctr" rtlCol="false" tIns="0" lIns="0" bIns="0" rIns="0"/>
            <a:lstStyle/>
            <a:p>
              <a:pPr algn="l">
                <a:lnSpc>
                  <a:spcPts val="2879"/>
                </a:lnSpc>
              </a:pPr>
              <a:r>
                <a:rPr lang="en-US" sz="2400">
                  <a:solidFill>
                    <a:srgbClr val="0D1B2A"/>
                  </a:solidFill>
                  <a:latin typeface="Bree Serif"/>
                  <a:ea typeface="Bree Serif"/>
                  <a:cs typeface="Bree Serif"/>
                  <a:sym typeface="Bree Serif"/>
                </a:rPr>
                <a:t>Text Normalization</a:t>
              </a:r>
            </a:p>
          </p:txBody>
        </p:sp>
      </p:grpSp>
      <p:grpSp>
        <p:nvGrpSpPr>
          <p:cNvPr name="Group 15" id="15"/>
          <p:cNvGrpSpPr/>
          <p:nvPr/>
        </p:nvGrpSpPr>
        <p:grpSpPr>
          <a:xfrm rot="0">
            <a:off x="1665218" y="2155924"/>
            <a:ext cx="6858000" cy="548640"/>
            <a:chOff x="0" y="0"/>
            <a:chExt cx="9144000" cy="731520"/>
          </a:xfrm>
        </p:grpSpPr>
        <p:sp>
          <p:nvSpPr>
            <p:cNvPr name="Freeform 16" id="16"/>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2">
                <a:alphaModFix amt="0"/>
              </a:blip>
              <a:stretch>
                <a:fillRect l="0" t="-193562" r="0" b="-193562"/>
              </a:stretch>
            </a:blipFill>
          </p:spPr>
        </p:sp>
        <p:sp>
          <p:nvSpPr>
            <p:cNvPr name="TextBox 17" id="17"/>
            <p:cNvSpPr txBox="true"/>
            <p:nvPr/>
          </p:nvSpPr>
          <p:spPr>
            <a:xfrm>
              <a:off x="0" y="-9525"/>
              <a:ext cx="9144000" cy="741045"/>
            </a:xfrm>
            <a:prstGeom prst="rect">
              <a:avLst/>
            </a:prstGeom>
          </p:spPr>
          <p:txBody>
            <a:bodyPr anchor="ctr" rtlCol="false" tIns="0" lIns="0" bIns="0" rIns="0"/>
            <a:lstStyle/>
            <a:p>
              <a:pPr algn="l">
                <a:lnSpc>
                  <a:spcPts val="2520"/>
                </a:lnSpc>
              </a:pPr>
              <a:r>
                <a:rPr lang="en-US" sz="2100">
                  <a:solidFill>
                    <a:srgbClr val="2E5D6A"/>
                  </a:solidFill>
                  <a:latin typeface="Bree Serif"/>
                  <a:ea typeface="Bree Serif"/>
                  <a:cs typeface="Bree Serif"/>
                  <a:sym typeface="Bree Serif"/>
                </a:rPr>
                <a:t>Lowercase · remove whitespace · standardize encoding</a:t>
              </a:r>
            </a:p>
          </p:txBody>
        </p:sp>
      </p:grpSp>
      <p:grpSp>
        <p:nvGrpSpPr>
          <p:cNvPr name="Group 18" id="18"/>
          <p:cNvGrpSpPr/>
          <p:nvPr/>
        </p:nvGrpSpPr>
        <p:grpSpPr>
          <a:xfrm rot="0">
            <a:off x="9187177" y="1448283"/>
            <a:ext cx="8072123" cy="1397003"/>
            <a:chOff x="0" y="0"/>
            <a:chExt cx="10762831" cy="1862671"/>
          </a:xfrm>
        </p:grpSpPr>
        <p:sp>
          <p:nvSpPr>
            <p:cNvPr name="Freeform 19" id="19"/>
            <p:cNvSpPr/>
            <p:nvPr/>
          </p:nvSpPr>
          <p:spPr>
            <a:xfrm flipH="false" flipV="false" rot="0">
              <a:off x="16891" y="16891"/>
              <a:ext cx="10728960" cy="1828800"/>
            </a:xfrm>
            <a:custGeom>
              <a:avLst/>
              <a:gdLst/>
              <a:ahLst/>
              <a:cxnLst/>
              <a:rect r="r" b="b" t="t" l="l"/>
              <a:pathLst>
                <a:path h="1828800" w="10728960">
                  <a:moveTo>
                    <a:pt x="0" y="0"/>
                  </a:moveTo>
                  <a:lnTo>
                    <a:pt x="10728960" y="0"/>
                  </a:lnTo>
                  <a:lnTo>
                    <a:pt x="10728960" y="1828800"/>
                  </a:lnTo>
                  <a:lnTo>
                    <a:pt x="0" y="1828800"/>
                  </a:lnTo>
                  <a:close/>
                </a:path>
              </a:pathLst>
            </a:custGeom>
            <a:solidFill>
              <a:srgbClr val="FFFFFF"/>
            </a:solidFill>
          </p:spPr>
        </p:sp>
        <p:sp>
          <p:nvSpPr>
            <p:cNvPr name="Freeform 20" id="20"/>
            <p:cNvSpPr/>
            <p:nvPr/>
          </p:nvSpPr>
          <p:spPr>
            <a:xfrm flipH="false" flipV="false" rot="0">
              <a:off x="0" y="0"/>
              <a:ext cx="10762742" cy="1862582"/>
            </a:xfrm>
            <a:custGeom>
              <a:avLst/>
              <a:gdLst/>
              <a:ahLst/>
              <a:cxnLst/>
              <a:rect r="r" b="b" t="t" l="l"/>
              <a:pathLst>
                <a:path h="1862582" w="10762742">
                  <a:moveTo>
                    <a:pt x="16891" y="0"/>
                  </a:moveTo>
                  <a:lnTo>
                    <a:pt x="10745851" y="0"/>
                  </a:lnTo>
                  <a:cubicBezTo>
                    <a:pt x="10755249" y="0"/>
                    <a:pt x="10762742" y="7620"/>
                    <a:pt x="10762742" y="16891"/>
                  </a:cubicBezTo>
                  <a:lnTo>
                    <a:pt x="10762742" y="1845691"/>
                  </a:lnTo>
                  <a:cubicBezTo>
                    <a:pt x="10762742" y="1855089"/>
                    <a:pt x="10755122" y="1862582"/>
                    <a:pt x="1074585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0745851" y="1828800"/>
                  </a:lnTo>
                  <a:lnTo>
                    <a:pt x="10745851" y="1845691"/>
                  </a:lnTo>
                  <a:lnTo>
                    <a:pt x="10728960" y="1845691"/>
                  </a:lnTo>
                  <a:lnTo>
                    <a:pt x="10728960" y="16891"/>
                  </a:lnTo>
                  <a:lnTo>
                    <a:pt x="10745851" y="16891"/>
                  </a:lnTo>
                  <a:lnTo>
                    <a:pt x="10745851" y="33909"/>
                  </a:lnTo>
                  <a:lnTo>
                    <a:pt x="16891" y="33909"/>
                  </a:lnTo>
                  <a:close/>
                </a:path>
              </a:pathLst>
            </a:custGeom>
            <a:solidFill>
              <a:srgbClr val="D8E8EB"/>
            </a:solidFill>
          </p:spPr>
        </p:sp>
      </p:grpSp>
      <p:grpSp>
        <p:nvGrpSpPr>
          <p:cNvPr name="Group 21" id="21"/>
          <p:cNvGrpSpPr/>
          <p:nvPr/>
        </p:nvGrpSpPr>
        <p:grpSpPr>
          <a:xfrm rot="0">
            <a:off x="9187177" y="1448283"/>
            <a:ext cx="903227" cy="1397003"/>
            <a:chOff x="0" y="0"/>
            <a:chExt cx="1204303" cy="1862671"/>
          </a:xfrm>
        </p:grpSpPr>
        <p:sp>
          <p:nvSpPr>
            <p:cNvPr name="Freeform 22" id="22"/>
            <p:cNvSpPr/>
            <p:nvPr/>
          </p:nvSpPr>
          <p:spPr>
            <a:xfrm flipH="false" flipV="false" rot="0">
              <a:off x="16891" y="16891"/>
              <a:ext cx="1170432" cy="1828800"/>
            </a:xfrm>
            <a:custGeom>
              <a:avLst/>
              <a:gdLst/>
              <a:ahLst/>
              <a:cxnLst/>
              <a:rect r="r" b="b" t="t" l="l"/>
              <a:pathLst>
                <a:path h="1828800" w="1170432">
                  <a:moveTo>
                    <a:pt x="0" y="0"/>
                  </a:moveTo>
                  <a:lnTo>
                    <a:pt x="1170432" y="0"/>
                  </a:lnTo>
                  <a:lnTo>
                    <a:pt x="1170432" y="1828800"/>
                  </a:lnTo>
                  <a:lnTo>
                    <a:pt x="0" y="1828800"/>
                  </a:lnTo>
                  <a:close/>
                </a:path>
              </a:pathLst>
            </a:custGeom>
            <a:solidFill>
              <a:srgbClr val="AFBADB"/>
            </a:solidFill>
          </p:spPr>
        </p:sp>
        <p:sp>
          <p:nvSpPr>
            <p:cNvPr name="Freeform 23" id="23"/>
            <p:cNvSpPr/>
            <p:nvPr/>
          </p:nvSpPr>
          <p:spPr>
            <a:xfrm flipH="false" flipV="false" rot="0">
              <a:off x="0" y="0"/>
              <a:ext cx="1204214" cy="1862582"/>
            </a:xfrm>
            <a:custGeom>
              <a:avLst/>
              <a:gdLst/>
              <a:ahLst/>
              <a:cxnLst/>
              <a:rect r="r" b="b" t="t" l="l"/>
              <a:pathLst>
                <a:path h="1862582" w="1204214">
                  <a:moveTo>
                    <a:pt x="16891" y="0"/>
                  </a:moveTo>
                  <a:lnTo>
                    <a:pt x="1187323" y="0"/>
                  </a:lnTo>
                  <a:cubicBezTo>
                    <a:pt x="1196721" y="0"/>
                    <a:pt x="1204214" y="7620"/>
                    <a:pt x="1204214" y="16891"/>
                  </a:cubicBezTo>
                  <a:lnTo>
                    <a:pt x="1204214" y="1845691"/>
                  </a:lnTo>
                  <a:cubicBezTo>
                    <a:pt x="1204214" y="1855089"/>
                    <a:pt x="1196594" y="1862582"/>
                    <a:pt x="1187323"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187323" y="1828800"/>
                  </a:lnTo>
                  <a:lnTo>
                    <a:pt x="1187323" y="1845691"/>
                  </a:lnTo>
                  <a:lnTo>
                    <a:pt x="1170432" y="1845691"/>
                  </a:lnTo>
                  <a:lnTo>
                    <a:pt x="1170432" y="16891"/>
                  </a:lnTo>
                  <a:lnTo>
                    <a:pt x="1187323" y="16891"/>
                  </a:lnTo>
                  <a:lnTo>
                    <a:pt x="1187323" y="33909"/>
                  </a:lnTo>
                  <a:lnTo>
                    <a:pt x="16891" y="33909"/>
                  </a:lnTo>
                  <a:close/>
                </a:path>
              </a:pathLst>
            </a:custGeom>
            <a:solidFill>
              <a:srgbClr val="AFBADB"/>
            </a:solidFill>
          </p:spPr>
        </p:sp>
      </p:grpSp>
      <p:grpSp>
        <p:nvGrpSpPr>
          <p:cNvPr name="Group 24" id="24"/>
          <p:cNvGrpSpPr/>
          <p:nvPr/>
        </p:nvGrpSpPr>
        <p:grpSpPr>
          <a:xfrm rot="0">
            <a:off x="9199874" y="1552420"/>
            <a:ext cx="877824" cy="1188720"/>
            <a:chOff x="0" y="0"/>
            <a:chExt cx="1170432" cy="1584960"/>
          </a:xfrm>
        </p:grpSpPr>
        <p:sp>
          <p:nvSpPr>
            <p:cNvPr name="Freeform 25" id="25"/>
            <p:cNvSpPr/>
            <p:nvPr/>
          </p:nvSpPr>
          <p:spPr>
            <a:xfrm flipH="false" flipV="false" rot="0">
              <a:off x="0" y="0"/>
              <a:ext cx="1170432" cy="1584960"/>
            </a:xfrm>
            <a:custGeom>
              <a:avLst/>
              <a:gdLst/>
              <a:ahLst/>
              <a:cxnLst/>
              <a:rect r="r" b="b" t="t" l="l"/>
              <a:pathLst>
                <a:path h="1584960" w="1170432">
                  <a:moveTo>
                    <a:pt x="0" y="0"/>
                  </a:moveTo>
                  <a:lnTo>
                    <a:pt x="1170432" y="0"/>
                  </a:lnTo>
                  <a:lnTo>
                    <a:pt x="1170432" y="1584960"/>
                  </a:lnTo>
                  <a:lnTo>
                    <a:pt x="0" y="1584960"/>
                  </a:lnTo>
                  <a:close/>
                </a:path>
              </a:pathLst>
            </a:custGeom>
            <a:blipFill>
              <a:blip r:embed="rId2">
                <a:alphaModFix amt="0"/>
              </a:blip>
              <a:stretch>
                <a:fillRect l="-123744" t="0" r="-123744" b="0"/>
              </a:stretch>
            </a:blipFill>
          </p:spPr>
        </p:sp>
        <p:sp>
          <p:nvSpPr>
            <p:cNvPr name="TextBox 26" id="26"/>
            <p:cNvSpPr txBox="true"/>
            <p:nvPr/>
          </p:nvSpPr>
          <p:spPr>
            <a:xfrm>
              <a:off x="0" y="0"/>
              <a:ext cx="1170432" cy="1584960"/>
            </a:xfrm>
            <a:prstGeom prst="rect">
              <a:avLst/>
            </a:prstGeom>
          </p:spPr>
          <p:txBody>
            <a:bodyPr anchor="ctr" rtlCol="false" tIns="0" lIns="0" bIns="0" rIns="0"/>
            <a:lstStyle/>
            <a:p>
              <a:pPr algn="ctr">
                <a:lnSpc>
                  <a:spcPts val="3359"/>
                </a:lnSpc>
              </a:pPr>
              <a:r>
                <a:rPr lang="en-US" sz="2799">
                  <a:solidFill>
                    <a:srgbClr val="FFFFFF"/>
                  </a:solidFill>
                  <a:latin typeface="Bree Serif"/>
                  <a:ea typeface="Bree Serif"/>
                  <a:cs typeface="Bree Serif"/>
                  <a:sym typeface="Bree Serif"/>
                </a:rPr>
                <a:t>02</a:t>
              </a:r>
            </a:p>
          </p:txBody>
        </p:sp>
      </p:grpSp>
      <p:grpSp>
        <p:nvGrpSpPr>
          <p:cNvPr name="Group 27" id="27"/>
          <p:cNvGrpSpPr/>
          <p:nvPr/>
        </p:nvGrpSpPr>
        <p:grpSpPr>
          <a:xfrm rot="0">
            <a:off x="10224002" y="1643860"/>
            <a:ext cx="6858000" cy="548640"/>
            <a:chOff x="0" y="0"/>
            <a:chExt cx="9144000" cy="731520"/>
          </a:xfrm>
        </p:grpSpPr>
        <p:sp>
          <p:nvSpPr>
            <p:cNvPr name="Freeform 28" id="28"/>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2">
                <a:alphaModFix amt="0"/>
              </a:blip>
              <a:stretch>
                <a:fillRect l="0" t="-193562" r="0" b="-193562"/>
              </a:stretch>
            </a:blipFill>
          </p:spPr>
        </p:sp>
        <p:sp>
          <p:nvSpPr>
            <p:cNvPr name="TextBox 29" id="29"/>
            <p:cNvSpPr txBox="true"/>
            <p:nvPr/>
          </p:nvSpPr>
          <p:spPr>
            <a:xfrm>
              <a:off x="0" y="0"/>
              <a:ext cx="9144000" cy="731520"/>
            </a:xfrm>
            <a:prstGeom prst="rect">
              <a:avLst/>
            </a:prstGeom>
          </p:spPr>
          <p:txBody>
            <a:bodyPr anchor="ctr" rtlCol="false" tIns="0" lIns="0" bIns="0" rIns="0"/>
            <a:lstStyle/>
            <a:p>
              <a:pPr algn="l">
                <a:lnSpc>
                  <a:spcPts val="2879"/>
                </a:lnSpc>
              </a:pPr>
              <a:r>
                <a:rPr lang="en-US" sz="2400">
                  <a:solidFill>
                    <a:srgbClr val="0D1B2A"/>
                  </a:solidFill>
                  <a:latin typeface="Bree Serif"/>
                  <a:ea typeface="Bree Serif"/>
                  <a:cs typeface="Bree Serif"/>
                  <a:sym typeface="Bree Serif"/>
                </a:rPr>
                <a:t>Noise Removal</a:t>
              </a:r>
            </a:p>
          </p:txBody>
        </p:sp>
      </p:grpSp>
      <p:grpSp>
        <p:nvGrpSpPr>
          <p:cNvPr name="Group 30" id="30"/>
          <p:cNvGrpSpPr/>
          <p:nvPr/>
        </p:nvGrpSpPr>
        <p:grpSpPr>
          <a:xfrm rot="0">
            <a:off x="10224002" y="2155924"/>
            <a:ext cx="6858000" cy="724129"/>
            <a:chOff x="0" y="0"/>
            <a:chExt cx="9144000" cy="965505"/>
          </a:xfrm>
        </p:grpSpPr>
        <p:sp>
          <p:nvSpPr>
            <p:cNvPr name="Freeform 31" id="31"/>
            <p:cNvSpPr/>
            <p:nvPr/>
          </p:nvSpPr>
          <p:spPr>
            <a:xfrm flipH="false" flipV="false" rot="0">
              <a:off x="0" y="0"/>
              <a:ext cx="9144000" cy="965505"/>
            </a:xfrm>
            <a:custGeom>
              <a:avLst/>
              <a:gdLst/>
              <a:ahLst/>
              <a:cxnLst/>
              <a:rect r="r" b="b" t="t" l="l"/>
              <a:pathLst>
                <a:path h="965505" w="9144000">
                  <a:moveTo>
                    <a:pt x="0" y="0"/>
                  </a:moveTo>
                  <a:lnTo>
                    <a:pt x="9144000" y="0"/>
                  </a:lnTo>
                  <a:lnTo>
                    <a:pt x="9144000" y="965505"/>
                  </a:lnTo>
                  <a:lnTo>
                    <a:pt x="0" y="965505"/>
                  </a:lnTo>
                  <a:close/>
                </a:path>
              </a:pathLst>
            </a:custGeom>
            <a:blipFill>
              <a:blip r:embed="rId2">
                <a:alphaModFix amt="0"/>
              </a:blip>
              <a:stretch>
                <a:fillRect l="0" t="-146654" r="0" b="-122419"/>
              </a:stretch>
            </a:blipFill>
          </p:spPr>
        </p:sp>
        <p:sp>
          <p:nvSpPr>
            <p:cNvPr name="TextBox 32" id="32"/>
            <p:cNvSpPr txBox="true"/>
            <p:nvPr/>
          </p:nvSpPr>
          <p:spPr>
            <a:xfrm>
              <a:off x="0" y="-9525"/>
              <a:ext cx="9144000" cy="975030"/>
            </a:xfrm>
            <a:prstGeom prst="rect">
              <a:avLst/>
            </a:prstGeom>
          </p:spPr>
          <p:txBody>
            <a:bodyPr anchor="ctr" rtlCol="false" tIns="0" lIns="0" bIns="0" rIns="0"/>
            <a:lstStyle/>
            <a:p>
              <a:pPr algn="l">
                <a:lnSpc>
                  <a:spcPts val="2520"/>
                </a:lnSpc>
              </a:pPr>
              <a:r>
                <a:rPr lang="en-US" sz="2100">
                  <a:solidFill>
                    <a:srgbClr val="2E5D6A"/>
                  </a:solidFill>
                  <a:latin typeface="Bree Serif"/>
                  <a:ea typeface="Bree Serif"/>
                  <a:cs typeface="Bree Serif"/>
                  <a:sym typeface="Bree Serif"/>
                </a:rPr>
                <a:t>Strip URLs · @mentions · HTML tags · punctuation · numbers</a:t>
              </a:r>
            </a:p>
          </p:txBody>
        </p:sp>
      </p:grpSp>
      <p:grpSp>
        <p:nvGrpSpPr>
          <p:cNvPr name="Group 33" id="33"/>
          <p:cNvGrpSpPr/>
          <p:nvPr/>
        </p:nvGrpSpPr>
        <p:grpSpPr>
          <a:xfrm rot="0">
            <a:off x="628393" y="3094203"/>
            <a:ext cx="8072123" cy="1397003"/>
            <a:chOff x="0" y="0"/>
            <a:chExt cx="10762831" cy="1862671"/>
          </a:xfrm>
        </p:grpSpPr>
        <p:sp>
          <p:nvSpPr>
            <p:cNvPr name="Freeform 34" id="34"/>
            <p:cNvSpPr/>
            <p:nvPr/>
          </p:nvSpPr>
          <p:spPr>
            <a:xfrm flipH="false" flipV="false" rot="0">
              <a:off x="16891" y="16891"/>
              <a:ext cx="10728960" cy="1828800"/>
            </a:xfrm>
            <a:custGeom>
              <a:avLst/>
              <a:gdLst/>
              <a:ahLst/>
              <a:cxnLst/>
              <a:rect r="r" b="b" t="t" l="l"/>
              <a:pathLst>
                <a:path h="1828800" w="10728960">
                  <a:moveTo>
                    <a:pt x="0" y="0"/>
                  </a:moveTo>
                  <a:lnTo>
                    <a:pt x="10728960" y="0"/>
                  </a:lnTo>
                  <a:lnTo>
                    <a:pt x="10728960" y="1828800"/>
                  </a:lnTo>
                  <a:lnTo>
                    <a:pt x="0" y="1828800"/>
                  </a:lnTo>
                  <a:close/>
                </a:path>
              </a:pathLst>
            </a:custGeom>
            <a:solidFill>
              <a:srgbClr val="FFFFFF"/>
            </a:solidFill>
          </p:spPr>
        </p:sp>
        <p:sp>
          <p:nvSpPr>
            <p:cNvPr name="Freeform 35" id="35"/>
            <p:cNvSpPr/>
            <p:nvPr/>
          </p:nvSpPr>
          <p:spPr>
            <a:xfrm flipH="false" flipV="false" rot="0">
              <a:off x="0" y="0"/>
              <a:ext cx="10762742" cy="1862582"/>
            </a:xfrm>
            <a:custGeom>
              <a:avLst/>
              <a:gdLst/>
              <a:ahLst/>
              <a:cxnLst/>
              <a:rect r="r" b="b" t="t" l="l"/>
              <a:pathLst>
                <a:path h="1862582" w="10762742">
                  <a:moveTo>
                    <a:pt x="16891" y="0"/>
                  </a:moveTo>
                  <a:lnTo>
                    <a:pt x="10745851" y="0"/>
                  </a:lnTo>
                  <a:cubicBezTo>
                    <a:pt x="10755249" y="0"/>
                    <a:pt x="10762742" y="7620"/>
                    <a:pt x="10762742" y="16891"/>
                  </a:cubicBezTo>
                  <a:lnTo>
                    <a:pt x="10762742" y="1845691"/>
                  </a:lnTo>
                  <a:cubicBezTo>
                    <a:pt x="10762742" y="1855089"/>
                    <a:pt x="10755122" y="1862582"/>
                    <a:pt x="1074585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0745851" y="1828800"/>
                  </a:lnTo>
                  <a:lnTo>
                    <a:pt x="10745851" y="1845691"/>
                  </a:lnTo>
                  <a:lnTo>
                    <a:pt x="10728960" y="1845691"/>
                  </a:lnTo>
                  <a:lnTo>
                    <a:pt x="10728960" y="16891"/>
                  </a:lnTo>
                  <a:lnTo>
                    <a:pt x="10745851" y="16891"/>
                  </a:lnTo>
                  <a:lnTo>
                    <a:pt x="10745851" y="33909"/>
                  </a:lnTo>
                  <a:lnTo>
                    <a:pt x="16891" y="33909"/>
                  </a:lnTo>
                  <a:close/>
                </a:path>
              </a:pathLst>
            </a:custGeom>
            <a:solidFill>
              <a:srgbClr val="D8E8EB"/>
            </a:solidFill>
          </p:spPr>
        </p:sp>
      </p:grpSp>
      <p:grpSp>
        <p:nvGrpSpPr>
          <p:cNvPr name="Group 36" id="36"/>
          <p:cNvGrpSpPr/>
          <p:nvPr/>
        </p:nvGrpSpPr>
        <p:grpSpPr>
          <a:xfrm rot="0">
            <a:off x="628393" y="3094203"/>
            <a:ext cx="903227" cy="1397003"/>
            <a:chOff x="0" y="0"/>
            <a:chExt cx="1204303" cy="1862671"/>
          </a:xfrm>
        </p:grpSpPr>
        <p:sp>
          <p:nvSpPr>
            <p:cNvPr name="Freeform 37" id="37"/>
            <p:cNvSpPr/>
            <p:nvPr/>
          </p:nvSpPr>
          <p:spPr>
            <a:xfrm flipH="false" flipV="false" rot="0">
              <a:off x="16891" y="16891"/>
              <a:ext cx="1170432" cy="1828800"/>
            </a:xfrm>
            <a:custGeom>
              <a:avLst/>
              <a:gdLst/>
              <a:ahLst/>
              <a:cxnLst/>
              <a:rect r="r" b="b" t="t" l="l"/>
              <a:pathLst>
                <a:path h="1828800" w="1170432">
                  <a:moveTo>
                    <a:pt x="0" y="0"/>
                  </a:moveTo>
                  <a:lnTo>
                    <a:pt x="1170432" y="0"/>
                  </a:lnTo>
                  <a:lnTo>
                    <a:pt x="1170432" y="1828800"/>
                  </a:lnTo>
                  <a:lnTo>
                    <a:pt x="0" y="1828800"/>
                  </a:lnTo>
                  <a:close/>
                </a:path>
              </a:pathLst>
            </a:custGeom>
            <a:solidFill>
              <a:srgbClr val="AFBADB"/>
            </a:solidFill>
          </p:spPr>
        </p:sp>
        <p:sp>
          <p:nvSpPr>
            <p:cNvPr name="Freeform 38" id="38"/>
            <p:cNvSpPr/>
            <p:nvPr/>
          </p:nvSpPr>
          <p:spPr>
            <a:xfrm flipH="false" flipV="false" rot="0">
              <a:off x="0" y="0"/>
              <a:ext cx="1204214" cy="1862582"/>
            </a:xfrm>
            <a:custGeom>
              <a:avLst/>
              <a:gdLst/>
              <a:ahLst/>
              <a:cxnLst/>
              <a:rect r="r" b="b" t="t" l="l"/>
              <a:pathLst>
                <a:path h="1862582" w="1204214">
                  <a:moveTo>
                    <a:pt x="16891" y="0"/>
                  </a:moveTo>
                  <a:lnTo>
                    <a:pt x="1187323" y="0"/>
                  </a:lnTo>
                  <a:cubicBezTo>
                    <a:pt x="1196721" y="0"/>
                    <a:pt x="1204214" y="7620"/>
                    <a:pt x="1204214" y="16891"/>
                  </a:cubicBezTo>
                  <a:lnTo>
                    <a:pt x="1204214" y="1845691"/>
                  </a:lnTo>
                  <a:cubicBezTo>
                    <a:pt x="1204214" y="1855089"/>
                    <a:pt x="1196594" y="1862582"/>
                    <a:pt x="1187323"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187323" y="1828800"/>
                  </a:lnTo>
                  <a:lnTo>
                    <a:pt x="1187323" y="1845691"/>
                  </a:lnTo>
                  <a:lnTo>
                    <a:pt x="1170432" y="1845691"/>
                  </a:lnTo>
                  <a:lnTo>
                    <a:pt x="1170432" y="16891"/>
                  </a:lnTo>
                  <a:lnTo>
                    <a:pt x="1187323" y="16891"/>
                  </a:lnTo>
                  <a:lnTo>
                    <a:pt x="1187323" y="33909"/>
                  </a:lnTo>
                  <a:lnTo>
                    <a:pt x="16891" y="33909"/>
                  </a:lnTo>
                  <a:close/>
                </a:path>
              </a:pathLst>
            </a:custGeom>
            <a:solidFill>
              <a:srgbClr val="99C5FF"/>
            </a:solidFill>
          </p:spPr>
        </p:sp>
      </p:grpSp>
      <p:grpSp>
        <p:nvGrpSpPr>
          <p:cNvPr name="Group 39" id="39"/>
          <p:cNvGrpSpPr/>
          <p:nvPr/>
        </p:nvGrpSpPr>
        <p:grpSpPr>
          <a:xfrm rot="0">
            <a:off x="641090" y="3198340"/>
            <a:ext cx="877824" cy="1188720"/>
            <a:chOff x="0" y="0"/>
            <a:chExt cx="1170432" cy="1584960"/>
          </a:xfrm>
        </p:grpSpPr>
        <p:sp>
          <p:nvSpPr>
            <p:cNvPr name="Freeform 40" id="40"/>
            <p:cNvSpPr/>
            <p:nvPr/>
          </p:nvSpPr>
          <p:spPr>
            <a:xfrm flipH="false" flipV="false" rot="0">
              <a:off x="0" y="0"/>
              <a:ext cx="1170432" cy="1584960"/>
            </a:xfrm>
            <a:custGeom>
              <a:avLst/>
              <a:gdLst/>
              <a:ahLst/>
              <a:cxnLst/>
              <a:rect r="r" b="b" t="t" l="l"/>
              <a:pathLst>
                <a:path h="1584960" w="1170432">
                  <a:moveTo>
                    <a:pt x="0" y="0"/>
                  </a:moveTo>
                  <a:lnTo>
                    <a:pt x="1170432" y="0"/>
                  </a:lnTo>
                  <a:lnTo>
                    <a:pt x="1170432" y="1584960"/>
                  </a:lnTo>
                  <a:lnTo>
                    <a:pt x="0" y="1584960"/>
                  </a:lnTo>
                  <a:close/>
                </a:path>
              </a:pathLst>
            </a:custGeom>
            <a:blipFill>
              <a:blip r:embed="rId2">
                <a:alphaModFix amt="0"/>
              </a:blip>
              <a:stretch>
                <a:fillRect l="-123744" t="0" r="-123744" b="0"/>
              </a:stretch>
            </a:blipFill>
          </p:spPr>
        </p:sp>
        <p:sp>
          <p:nvSpPr>
            <p:cNvPr name="TextBox 41" id="41"/>
            <p:cNvSpPr txBox="true"/>
            <p:nvPr/>
          </p:nvSpPr>
          <p:spPr>
            <a:xfrm>
              <a:off x="0" y="0"/>
              <a:ext cx="1170432" cy="1584960"/>
            </a:xfrm>
            <a:prstGeom prst="rect">
              <a:avLst/>
            </a:prstGeom>
          </p:spPr>
          <p:txBody>
            <a:bodyPr anchor="ctr" rtlCol="false" tIns="0" lIns="0" bIns="0" rIns="0"/>
            <a:lstStyle/>
            <a:p>
              <a:pPr algn="ctr">
                <a:lnSpc>
                  <a:spcPts val="3359"/>
                </a:lnSpc>
              </a:pPr>
              <a:r>
                <a:rPr lang="en-US" sz="2799">
                  <a:solidFill>
                    <a:srgbClr val="FFFFFF"/>
                  </a:solidFill>
                  <a:latin typeface="Bree Serif"/>
                  <a:ea typeface="Bree Serif"/>
                  <a:cs typeface="Bree Serif"/>
                  <a:sym typeface="Bree Serif"/>
                </a:rPr>
                <a:t>03</a:t>
              </a:r>
            </a:p>
          </p:txBody>
        </p:sp>
      </p:grpSp>
      <p:grpSp>
        <p:nvGrpSpPr>
          <p:cNvPr name="Group 42" id="42"/>
          <p:cNvGrpSpPr/>
          <p:nvPr/>
        </p:nvGrpSpPr>
        <p:grpSpPr>
          <a:xfrm rot="0">
            <a:off x="1665218" y="3289780"/>
            <a:ext cx="6858000" cy="548640"/>
            <a:chOff x="0" y="0"/>
            <a:chExt cx="9144000" cy="731520"/>
          </a:xfrm>
        </p:grpSpPr>
        <p:sp>
          <p:nvSpPr>
            <p:cNvPr name="Freeform 43" id="43"/>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2">
                <a:alphaModFix amt="0"/>
              </a:blip>
              <a:stretch>
                <a:fillRect l="0" t="-193562" r="0" b="-193562"/>
              </a:stretch>
            </a:blipFill>
          </p:spPr>
        </p:sp>
        <p:sp>
          <p:nvSpPr>
            <p:cNvPr name="TextBox 44" id="44"/>
            <p:cNvSpPr txBox="true"/>
            <p:nvPr/>
          </p:nvSpPr>
          <p:spPr>
            <a:xfrm>
              <a:off x="0" y="0"/>
              <a:ext cx="9144000" cy="731520"/>
            </a:xfrm>
            <a:prstGeom prst="rect">
              <a:avLst/>
            </a:prstGeom>
          </p:spPr>
          <p:txBody>
            <a:bodyPr anchor="ctr" rtlCol="false" tIns="0" lIns="0" bIns="0" rIns="0"/>
            <a:lstStyle/>
            <a:p>
              <a:pPr algn="l">
                <a:lnSpc>
                  <a:spcPts val="2879"/>
                </a:lnSpc>
              </a:pPr>
              <a:r>
                <a:rPr lang="en-US" sz="2400">
                  <a:solidFill>
                    <a:srgbClr val="0D1B2A"/>
                  </a:solidFill>
                  <a:latin typeface="Bree Serif"/>
                  <a:ea typeface="Bree Serif"/>
                  <a:cs typeface="Bree Serif"/>
                  <a:sym typeface="Bree Serif"/>
                </a:rPr>
                <a:t>Tokenization &amp; Lemmatization</a:t>
              </a:r>
            </a:p>
          </p:txBody>
        </p:sp>
      </p:grpSp>
      <p:grpSp>
        <p:nvGrpSpPr>
          <p:cNvPr name="Group 45" id="45"/>
          <p:cNvGrpSpPr/>
          <p:nvPr/>
        </p:nvGrpSpPr>
        <p:grpSpPr>
          <a:xfrm rot="0">
            <a:off x="1665218" y="3801844"/>
            <a:ext cx="6858000" cy="724129"/>
            <a:chOff x="0" y="0"/>
            <a:chExt cx="9144000" cy="965505"/>
          </a:xfrm>
        </p:grpSpPr>
        <p:sp>
          <p:nvSpPr>
            <p:cNvPr name="Freeform 46" id="46"/>
            <p:cNvSpPr/>
            <p:nvPr/>
          </p:nvSpPr>
          <p:spPr>
            <a:xfrm flipH="false" flipV="false" rot="0">
              <a:off x="0" y="0"/>
              <a:ext cx="9144000" cy="965505"/>
            </a:xfrm>
            <a:custGeom>
              <a:avLst/>
              <a:gdLst/>
              <a:ahLst/>
              <a:cxnLst/>
              <a:rect r="r" b="b" t="t" l="l"/>
              <a:pathLst>
                <a:path h="965505" w="9144000">
                  <a:moveTo>
                    <a:pt x="0" y="0"/>
                  </a:moveTo>
                  <a:lnTo>
                    <a:pt x="9144000" y="0"/>
                  </a:lnTo>
                  <a:lnTo>
                    <a:pt x="9144000" y="965505"/>
                  </a:lnTo>
                  <a:lnTo>
                    <a:pt x="0" y="965505"/>
                  </a:lnTo>
                  <a:close/>
                </a:path>
              </a:pathLst>
            </a:custGeom>
            <a:blipFill>
              <a:blip r:embed="rId2">
                <a:alphaModFix amt="0"/>
              </a:blip>
              <a:stretch>
                <a:fillRect l="0" t="-146654" r="0" b="-122419"/>
              </a:stretch>
            </a:blipFill>
          </p:spPr>
        </p:sp>
        <p:sp>
          <p:nvSpPr>
            <p:cNvPr name="TextBox 47" id="47"/>
            <p:cNvSpPr txBox="true"/>
            <p:nvPr/>
          </p:nvSpPr>
          <p:spPr>
            <a:xfrm>
              <a:off x="0" y="-9525"/>
              <a:ext cx="9144000" cy="975030"/>
            </a:xfrm>
            <a:prstGeom prst="rect">
              <a:avLst/>
            </a:prstGeom>
          </p:spPr>
          <p:txBody>
            <a:bodyPr anchor="ctr" rtlCol="false" tIns="0" lIns="0" bIns="0" rIns="0"/>
            <a:lstStyle/>
            <a:p>
              <a:pPr algn="l">
                <a:lnSpc>
                  <a:spcPts val="2520"/>
                </a:lnSpc>
              </a:pPr>
              <a:r>
                <a:rPr lang="en-US" sz="2100">
                  <a:solidFill>
                    <a:srgbClr val="2E5D6A"/>
                  </a:solidFill>
                  <a:latin typeface="Bree Serif"/>
                  <a:ea typeface="Bree Serif"/>
                  <a:cs typeface="Bree Serif"/>
                  <a:sym typeface="Bree Serif"/>
                </a:rPr>
                <a:t>WordNetLemmatizer → base forms  |  Custom stopword list</a:t>
              </a:r>
            </a:p>
          </p:txBody>
        </p:sp>
      </p:grpSp>
      <p:grpSp>
        <p:nvGrpSpPr>
          <p:cNvPr name="Group 48" id="48"/>
          <p:cNvGrpSpPr/>
          <p:nvPr/>
        </p:nvGrpSpPr>
        <p:grpSpPr>
          <a:xfrm rot="0">
            <a:off x="9187177" y="3094203"/>
            <a:ext cx="8072123" cy="1397003"/>
            <a:chOff x="0" y="0"/>
            <a:chExt cx="10762831" cy="1862671"/>
          </a:xfrm>
        </p:grpSpPr>
        <p:sp>
          <p:nvSpPr>
            <p:cNvPr name="Freeform 49" id="49"/>
            <p:cNvSpPr/>
            <p:nvPr/>
          </p:nvSpPr>
          <p:spPr>
            <a:xfrm flipH="false" flipV="false" rot="0">
              <a:off x="16891" y="16891"/>
              <a:ext cx="10728960" cy="1828800"/>
            </a:xfrm>
            <a:custGeom>
              <a:avLst/>
              <a:gdLst/>
              <a:ahLst/>
              <a:cxnLst/>
              <a:rect r="r" b="b" t="t" l="l"/>
              <a:pathLst>
                <a:path h="1828800" w="10728960">
                  <a:moveTo>
                    <a:pt x="0" y="0"/>
                  </a:moveTo>
                  <a:lnTo>
                    <a:pt x="10728960" y="0"/>
                  </a:lnTo>
                  <a:lnTo>
                    <a:pt x="10728960" y="1828800"/>
                  </a:lnTo>
                  <a:lnTo>
                    <a:pt x="0" y="1828800"/>
                  </a:lnTo>
                  <a:close/>
                </a:path>
              </a:pathLst>
            </a:custGeom>
            <a:solidFill>
              <a:srgbClr val="FFFFFF"/>
            </a:solidFill>
          </p:spPr>
        </p:sp>
        <p:sp>
          <p:nvSpPr>
            <p:cNvPr name="Freeform 50" id="50"/>
            <p:cNvSpPr/>
            <p:nvPr/>
          </p:nvSpPr>
          <p:spPr>
            <a:xfrm flipH="false" flipV="false" rot="0">
              <a:off x="0" y="0"/>
              <a:ext cx="10762742" cy="1862582"/>
            </a:xfrm>
            <a:custGeom>
              <a:avLst/>
              <a:gdLst/>
              <a:ahLst/>
              <a:cxnLst/>
              <a:rect r="r" b="b" t="t" l="l"/>
              <a:pathLst>
                <a:path h="1862582" w="10762742">
                  <a:moveTo>
                    <a:pt x="16891" y="0"/>
                  </a:moveTo>
                  <a:lnTo>
                    <a:pt x="10745851" y="0"/>
                  </a:lnTo>
                  <a:cubicBezTo>
                    <a:pt x="10755249" y="0"/>
                    <a:pt x="10762742" y="7620"/>
                    <a:pt x="10762742" y="16891"/>
                  </a:cubicBezTo>
                  <a:lnTo>
                    <a:pt x="10762742" y="1845691"/>
                  </a:lnTo>
                  <a:cubicBezTo>
                    <a:pt x="10762742" y="1855089"/>
                    <a:pt x="10755122" y="1862582"/>
                    <a:pt x="1074585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0745851" y="1828800"/>
                  </a:lnTo>
                  <a:lnTo>
                    <a:pt x="10745851" y="1845691"/>
                  </a:lnTo>
                  <a:lnTo>
                    <a:pt x="10728960" y="1845691"/>
                  </a:lnTo>
                  <a:lnTo>
                    <a:pt x="10728960" y="16891"/>
                  </a:lnTo>
                  <a:lnTo>
                    <a:pt x="10745851" y="16891"/>
                  </a:lnTo>
                  <a:lnTo>
                    <a:pt x="10745851" y="33909"/>
                  </a:lnTo>
                  <a:lnTo>
                    <a:pt x="16891" y="33909"/>
                  </a:lnTo>
                  <a:close/>
                </a:path>
              </a:pathLst>
            </a:custGeom>
            <a:solidFill>
              <a:srgbClr val="D8E8EB"/>
            </a:solidFill>
          </p:spPr>
        </p:sp>
      </p:grpSp>
      <p:grpSp>
        <p:nvGrpSpPr>
          <p:cNvPr name="Group 51" id="51"/>
          <p:cNvGrpSpPr/>
          <p:nvPr/>
        </p:nvGrpSpPr>
        <p:grpSpPr>
          <a:xfrm rot="0">
            <a:off x="9187177" y="3094203"/>
            <a:ext cx="903227" cy="1397003"/>
            <a:chOff x="0" y="0"/>
            <a:chExt cx="1204303" cy="1862671"/>
          </a:xfrm>
        </p:grpSpPr>
        <p:sp>
          <p:nvSpPr>
            <p:cNvPr name="Freeform 52" id="52"/>
            <p:cNvSpPr/>
            <p:nvPr/>
          </p:nvSpPr>
          <p:spPr>
            <a:xfrm flipH="false" flipV="false" rot="0">
              <a:off x="16891" y="16891"/>
              <a:ext cx="1170432" cy="1828800"/>
            </a:xfrm>
            <a:custGeom>
              <a:avLst/>
              <a:gdLst/>
              <a:ahLst/>
              <a:cxnLst/>
              <a:rect r="r" b="b" t="t" l="l"/>
              <a:pathLst>
                <a:path h="1828800" w="1170432">
                  <a:moveTo>
                    <a:pt x="0" y="0"/>
                  </a:moveTo>
                  <a:lnTo>
                    <a:pt x="1170432" y="0"/>
                  </a:lnTo>
                  <a:lnTo>
                    <a:pt x="1170432" y="1828800"/>
                  </a:lnTo>
                  <a:lnTo>
                    <a:pt x="0" y="1828800"/>
                  </a:lnTo>
                  <a:close/>
                </a:path>
              </a:pathLst>
            </a:custGeom>
            <a:solidFill>
              <a:srgbClr val="AFBADB"/>
            </a:solidFill>
          </p:spPr>
        </p:sp>
        <p:sp>
          <p:nvSpPr>
            <p:cNvPr name="Freeform 53" id="53"/>
            <p:cNvSpPr/>
            <p:nvPr/>
          </p:nvSpPr>
          <p:spPr>
            <a:xfrm flipH="false" flipV="false" rot="0">
              <a:off x="0" y="0"/>
              <a:ext cx="1204214" cy="1862582"/>
            </a:xfrm>
            <a:custGeom>
              <a:avLst/>
              <a:gdLst/>
              <a:ahLst/>
              <a:cxnLst/>
              <a:rect r="r" b="b" t="t" l="l"/>
              <a:pathLst>
                <a:path h="1862582" w="1204214">
                  <a:moveTo>
                    <a:pt x="16891" y="0"/>
                  </a:moveTo>
                  <a:lnTo>
                    <a:pt x="1187323" y="0"/>
                  </a:lnTo>
                  <a:cubicBezTo>
                    <a:pt x="1196721" y="0"/>
                    <a:pt x="1204214" y="7620"/>
                    <a:pt x="1204214" y="16891"/>
                  </a:cubicBezTo>
                  <a:lnTo>
                    <a:pt x="1204214" y="1845691"/>
                  </a:lnTo>
                  <a:cubicBezTo>
                    <a:pt x="1204214" y="1855089"/>
                    <a:pt x="1196594" y="1862582"/>
                    <a:pt x="1187323"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187323" y="1828800"/>
                  </a:lnTo>
                  <a:lnTo>
                    <a:pt x="1187323" y="1845691"/>
                  </a:lnTo>
                  <a:lnTo>
                    <a:pt x="1170432" y="1845691"/>
                  </a:lnTo>
                  <a:lnTo>
                    <a:pt x="1170432" y="16891"/>
                  </a:lnTo>
                  <a:lnTo>
                    <a:pt x="1187323" y="16891"/>
                  </a:lnTo>
                  <a:lnTo>
                    <a:pt x="1187323" y="33909"/>
                  </a:lnTo>
                  <a:lnTo>
                    <a:pt x="16891" y="33909"/>
                  </a:lnTo>
                  <a:close/>
                </a:path>
              </a:pathLst>
            </a:custGeom>
            <a:solidFill>
              <a:srgbClr val="028090"/>
            </a:solidFill>
          </p:spPr>
        </p:sp>
      </p:grpSp>
      <p:grpSp>
        <p:nvGrpSpPr>
          <p:cNvPr name="Group 54" id="54"/>
          <p:cNvGrpSpPr/>
          <p:nvPr/>
        </p:nvGrpSpPr>
        <p:grpSpPr>
          <a:xfrm rot="0">
            <a:off x="9199874" y="3198340"/>
            <a:ext cx="877824" cy="1188720"/>
            <a:chOff x="0" y="0"/>
            <a:chExt cx="1170432" cy="1584960"/>
          </a:xfrm>
        </p:grpSpPr>
        <p:sp>
          <p:nvSpPr>
            <p:cNvPr name="Freeform 55" id="55"/>
            <p:cNvSpPr/>
            <p:nvPr/>
          </p:nvSpPr>
          <p:spPr>
            <a:xfrm flipH="false" flipV="false" rot="0">
              <a:off x="0" y="0"/>
              <a:ext cx="1170432" cy="1584960"/>
            </a:xfrm>
            <a:custGeom>
              <a:avLst/>
              <a:gdLst/>
              <a:ahLst/>
              <a:cxnLst/>
              <a:rect r="r" b="b" t="t" l="l"/>
              <a:pathLst>
                <a:path h="1584960" w="1170432">
                  <a:moveTo>
                    <a:pt x="0" y="0"/>
                  </a:moveTo>
                  <a:lnTo>
                    <a:pt x="1170432" y="0"/>
                  </a:lnTo>
                  <a:lnTo>
                    <a:pt x="1170432" y="1584960"/>
                  </a:lnTo>
                  <a:lnTo>
                    <a:pt x="0" y="1584960"/>
                  </a:lnTo>
                  <a:close/>
                </a:path>
              </a:pathLst>
            </a:custGeom>
            <a:blipFill>
              <a:blip r:embed="rId2">
                <a:alphaModFix amt="0"/>
              </a:blip>
              <a:stretch>
                <a:fillRect l="-123744" t="0" r="-123744" b="0"/>
              </a:stretch>
            </a:blipFill>
          </p:spPr>
        </p:sp>
        <p:sp>
          <p:nvSpPr>
            <p:cNvPr name="TextBox 56" id="56"/>
            <p:cNvSpPr txBox="true"/>
            <p:nvPr/>
          </p:nvSpPr>
          <p:spPr>
            <a:xfrm>
              <a:off x="0" y="0"/>
              <a:ext cx="1170432" cy="1584960"/>
            </a:xfrm>
            <a:prstGeom prst="rect">
              <a:avLst/>
            </a:prstGeom>
          </p:spPr>
          <p:txBody>
            <a:bodyPr anchor="ctr" rtlCol="false" tIns="0" lIns="0" bIns="0" rIns="0"/>
            <a:lstStyle/>
            <a:p>
              <a:pPr algn="ctr">
                <a:lnSpc>
                  <a:spcPts val="3359"/>
                </a:lnSpc>
              </a:pPr>
              <a:r>
                <a:rPr lang="en-US" sz="2799">
                  <a:solidFill>
                    <a:srgbClr val="FFFFFF"/>
                  </a:solidFill>
                  <a:latin typeface="Bree Serif"/>
                  <a:ea typeface="Bree Serif"/>
                  <a:cs typeface="Bree Serif"/>
                  <a:sym typeface="Bree Serif"/>
                </a:rPr>
                <a:t>04</a:t>
              </a:r>
            </a:p>
          </p:txBody>
        </p:sp>
      </p:grpSp>
      <p:grpSp>
        <p:nvGrpSpPr>
          <p:cNvPr name="Group 57" id="57"/>
          <p:cNvGrpSpPr/>
          <p:nvPr/>
        </p:nvGrpSpPr>
        <p:grpSpPr>
          <a:xfrm rot="0">
            <a:off x="10224002" y="3289780"/>
            <a:ext cx="6858000" cy="548640"/>
            <a:chOff x="0" y="0"/>
            <a:chExt cx="9144000" cy="731520"/>
          </a:xfrm>
        </p:grpSpPr>
        <p:sp>
          <p:nvSpPr>
            <p:cNvPr name="Freeform 58" id="58"/>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2">
                <a:alphaModFix amt="0"/>
              </a:blip>
              <a:stretch>
                <a:fillRect l="0" t="-193562" r="0" b="-193562"/>
              </a:stretch>
            </a:blipFill>
          </p:spPr>
        </p:sp>
        <p:sp>
          <p:nvSpPr>
            <p:cNvPr name="TextBox 59" id="59"/>
            <p:cNvSpPr txBox="true"/>
            <p:nvPr/>
          </p:nvSpPr>
          <p:spPr>
            <a:xfrm>
              <a:off x="0" y="0"/>
              <a:ext cx="9144000" cy="731520"/>
            </a:xfrm>
            <a:prstGeom prst="rect">
              <a:avLst/>
            </a:prstGeom>
          </p:spPr>
          <p:txBody>
            <a:bodyPr anchor="ctr" rtlCol="false" tIns="0" lIns="0" bIns="0" rIns="0"/>
            <a:lstStyle/>
            <a:p>
              <a:pPr algn="l">
                <a:lnSpc>
                  <a:spcPts val="2879"/>
                </a:lnSpc>
              </a:pPr>
              <a:r>
                <a:rPr lang="en-US" sz="2400">
                  <a:solidFill>
                    <a:srgbClr val="0D1B2A"/>
                  </a:solidFill>
                  <a:latin typeface="Bree Serif"/>
                  <a:ea typeface="Bree Serif"/>
                  <a:cs typeface="Bree Serif"/>
                  <a:sym typeface="Bree Serif"/>
                </a:rPr>
                <a:t>Quality Filtering</a:t>
              </a:r>
            </a:p>
          </p:txBody>
        </p:sp>
      </p:grpSp>
      <p:grpSp>
        <p:nvGrpSpPr>
          <p:cNvPr name="Group 60" id="60"/>
          <p:cNvGrpSpPr/>
          <p:nvPr/>
        </p:nvGrpSpPr>
        <p:grpSpPr>
          <a:xfrm rot="0">
            <a:off x="10224002" y="3801844"/>
            <a:ext cx="6858000" cy="548640"/>
            <a:chOff x="0" y="0"/>
            <a:chExt cx="9144000" cy="731520"/>
          </a:xfrm>
        </p:grpSpPr>
        <p:sp>
          <p:nvSpPr>
            <p:cNvPr name="Freeform 61" id="61"/>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2">
                <a:alphaModFix amt="0"/>
              </a:blip>
              <a:stretch>
                <a:fillRect l="0" t="-193562" r="0" b="-193562"/>
              </a:stretch>
            </a:blipFill>
          </p:spPr>
        </p:sp>
        <p:sp>
          <p:nvSpPr>
            <p:cNvPr name="TextBox 62" id="62"/>
            <p:cNvSpPr txBox="true"/>
            <p:nvPr/>
          </p:nvSpPr>
          <p:spPr>
            <a:xfrm>
              <a:off x="0" y="-9525"/>
              <a:ext cx="9144000" cy="741045"/>
            </a:xfrm>
            <a:prstGeom prst="rect">
              <a:avLst/>
            </a:prstGeom>
          </p:spPr>
          <p:txBody>
            <a:bodyPr anchor="ctr" rtlCol="false" tIns="0" lIns="0" bIns="0" rIns="0"/>
            <a:lstStyle/>
            <a:p>
              <a:pPr algn="l">
                <a:lnSpc>
                  <a:spcPts val="2520"/>
                </a:lnSpc>
              </a:pPr>
              <a:r>
                <a:rPr lang="en-US" sz="2100">
                  <a:solidFill>
                    <a:srgbClr val="2E5D6A"/>
                  </a:solidFill>
                  <a:latin typeface="Bree Serif"/>
                  <a:ea typeface="Bree Serif"/>
                  <a:cs typeface="Bree Serif"/>
                  <a:sym typeface="Bree Serif"/>
                </a:rPr>
                <a:t>Drop texts &lt; 3 tokens · remove duplicates &amp; nulls</a:t>
              </a:r>
            </a:p>
          </p:txBody>
        </p:sp>
      </p:grpSp>
      <p:grpSp>
        <p:nvGrpSpPr>
          <p:cNvPr name="Group 63" id="63"/>
          <p:cNvGrpSpPr/>
          <p:nvPr/>
        </p:nvGrpSpPr>
        <p:grpSpPr>
          <a:xfrm rot="0">
            <a:off x="628393" y="4740123"/>
            <a:ext cx="8072123" cy="1397003"/>
            <a:chOff x="0" y="0"/>
            <a:chExt cx="10762831" cy="1862671"/>
          </a:xfrm>
        </p:grpSpPr>
        <p:sp>
          <p:nvSpPr>
            <p:cNvPr name="Freeform 64" id="64"/>
            <p:cNvSpPr/>
            <p:nvPr/>
          </p:nvSpPr>
          <p:spPr>
            <a:xfrm flipH="false" flipV="false" rot="0">
              <a:off x="16891" y="16891"/>
              <a:ext cx="10728960" cy="1828800"/>
            </a:xfrm>
            <a:custGeom>
              <a:avLst/>
              <a:gdLst/>
              <a:ahLst/>
              <a:cxnLst/>
              <a:rect r="r" b="b" t="t" l="l"/>
              <a:pathLst>
                <a:path h="1828800" w="10728960">
                  <a:moveTo>
                    <a:pt x="0" y="0"/>
                  </a:moveTo>
                  <a:lnTo>
                    <a:pt x="10728960" y="0"/>
                  </a:lnTo>
                  <a:lnTo>
                    <a:pt x="10728960" y="1828800"/>
                  </a:lnTo>
                  <a:lnTo>
                    <a:pt x="0" y="1828800"/>
                  </a:lnTo>
                  <a:close/>
                </a:path>
              </a:pathLst>
            </a:custGeom>
            <a:solidFill>
              <a:srgbClr val="FFFFFF"/>
            </a:solidFill>
          </p:spPr>
        </p:sp>
        <p:sp>
          <p:nvSpPr>
            <p:cNvPr name="Freeform 65" id="65"/>
            <p:cNvSpPr/>
            <p:nvPr/>
          </p:nvSpPr>
          <p:spPr>
            <a:xfrm flipH="false" flipV="false" rot="0">
              <a:off x="0" y="0"/>
              <a:ext cx="10762742" cy="1862582"/>
            </a:xfrm>
            <a:custGeom>
              <a:avLst/>
              <a:gdLst/>
              <a:ahLst/>
              <a:cxnLst/>
              <a:rect r="r" b="b" t="t" l="l"/>
              <a:pathLst>
                <a:path h="1862582" w="10762742">
                  <a:moveTo>
                    <a:pt x="16891" y="0"/>
                  </a:moveTo>
                  <a:lnTo>
                    <a:pt x="10745851" y="0"/>
                  </a:lnTo>
                  <a:cubicBezTo>
                    <a:pt x="10755249" y="0"/>
                    <a:pt x="10762742" y="7620"/>
                    <a:pt x="10762742" y="16891"/>
                  </a:cubicBezTo>
                  <a:lnTo>
                    <a:pt x="10762742" y="1845691"/>
                  </a:lnTo>
                  <a:cubicBezTo>
                    <a:pt x="10762742" y="1855089"/>
                    <a:pt x="10755122" y="1862582"/>
                    <a:pt x="1074585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0745851" y="1828800"/>
                  </a:lnTo>
                  <a:lnTo>
                    <a:pt x="10745851" y="1845691"/>
                  </a:lnTo>
                  <a:lnTo>
                    <a:pt x="10728960" y="1845691"/>
                  </a:lnTo>
                  <a:lnTo>
                    <a:pt x="10728960" y="16891"/>
                  </a:lnTo>
                  <a:lnTo>
                    <a:pt x="10745851" y="16891"/>
                  </a:lnTo>
                  <a:lnTo>
                    <a:pt x="10745851" y="33909"/>
                  </a:lnTo>
                  <a:lnTo>
                    <a:pt x="16891" y="33909"/>
                  </a:lnTo>
                  <a:close/>
                </a:path>
              </a:pathLst>
            </a:custGeom>
            <a:solidFill>
              <a:srgbClr val="D8E8EB"/>
            </a:solidFill>
          </p:spPr>
        </p:sp>
      </p:grpSp>
      <p:grpSp>
        <p:nvGrpSpPr>
          <p:cNvPr name="Group 66" id="66"/>
          <p:cNvGrpSpPr/>
          <p:nvPr/>
        </p:nvGrpSpPr>
        <p:grpSpPr>
          <a:xfrm rot="0">
            <a:off x="628393" y="4740123"/>
            <a:ext cx="903227" cy="1397003"/>
            <a:chOff x="0" y="0"/>
            <a:chExt cx="1204303" cy="1862671"/>
          </a:xfrm>
        </p:grpSpPr>
        <p:sp>
          <p:nvSpPr>
            <p:cNvPr name="Freeform 67" id="67"/>
            <p:cNvSpPr/>
            <p:nvPr/>
          </p:nvSpPr>
          <p:spPr>
            <a:xfrm flipH="false" flipV="false" rot="0">
              <a:off x="16891" y="16891"/>
              <a:ext cx="1170432" cy="1828800"/>
            </a:xfrm>
            <a:custGeom>
              <a:avLst/>
              <a:gdLst/>
              <a:ahLst/>
              <a:cxnLst/>
              <a:rect r="r" b="b" t="t" l="l"/>
              <a:pathLst>
                <a:path h="1828800" w="1170432">
                  <a:moveTo>
                    <a:pt x="0" y="0"/>
                  </a:moveTo>
                  <a:lnTo>
                    <a:pt x="1170432" y="0"/>
                  </a:lnTo>
                  <a:lnTo>
                    <a:pt x="1170432" y="1828800"/>
                  </a:lnTo>
                  <a:lnTo>
                    <a:pt x="0" y="1828800"/>
                  </a:lnTo>
                  <a:close/>
                </a:path>
              </a:pathLst>
            </a:custGeom>
            <a:solidFill>
              <a:srgbClr val="AFBADB"/>
            </a:solidFill>
          </p:spPr>
        </p:sp>
        <p:sp>
          <p:nvSpPr>
            <p:cNvPr name="Freeform 68" id="68"/>
            <p:cNvSpPr/>
            <p:nvPr/>
          </p:nvSpPr>
          <p:spPr>
            <a:xfrm flipH="false" flipV="false" rot="0">
              <a:off x="0" y="0"/>
              <a:ext cx="1204214" cy="1862582"/>
            </a:xfrm>
            <a:custGeom>
              <a:avLst/>
              <a:gdLst/>
              <a:ahLst/>
              <a:cxnLst/>
              <a:rect r="r" b="b" t="t" l="l"/>
              <a:pathLst>
                <a:path h="1862582" w="1204214">
                  <a:moveTo>
                    <a:pt x="16891" y="0"/>
                  </a:moveTo>
                  <a:lnTo>
                    <a:pt x="1187323" y="0"/>
                  </a:lnTo>
                  <a:cubicBezTo>
                    <a:pt x="1196721" y="0"/>
                    <a:pt x="1204214" y="7620"/>
                    <a:pt x="1204214" y="16891"/>
                  </a:cubicBezTo>
                  <a:lnTo>
                    <a:pt x="1204214" y="1845691"/>
                  </a:lnTo>
                  <a:cubicBezTo>
                    <a:pt x="1204214" y="1855089"/>
                    <a:pt x="1196594" y="1862582"/>
                    <a:pt x="1187323"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187323" y="1828800"/>
                  </a:lnTo>
                  <a:lnTo>
                    <a:pt x="1187323" y="1845691"/>
                  </a:lnTo>
                  <a:lnTo>
                    <a:pt x="1170432" y="1845691"/>
                  </a:lnTo>
                  <a:lnTo>
                    <a:pt x="1170432" y="16891"/>
                  </a:lnTo>
                  <a:lnTo>
                    <a:pt x="1187323" y="16891"/>
                  </a:lnTo>
                  <a:lnTo>
                    <a:pt x="1187323" y="33909"/>
                  </a:lnTo>
                  <a:lnTo>
                    <a:pt x="16891" y="33909"/>
                  </a:lnTo>
                  <a:close/>
                </a:path>
              </a:pathLst>
            </a:custGeom>
            <a:solidFill>
              <a:srgbClr val="AFBADB"/>
            </a:solidFill>
          </p:spPr>
        </p:sp>
      </p:grpSp>
      <p:grpSp>
        <p:nvGrpSpPr>
          <p:cNvPr name="Group 69" id="69"/>
          <p:cNvGrpSpPr/>
          <p:nvPr/>
        </p:nvGrpSpPr>
        <p:grpSpPr>
          <a:xfrm rot="0">
            <a:off x="641090" y="4844260"/>
            <a:ext cx="877824" cy="1188720"/>
            <a:chOff x="0" y="0"/>
            <a:chExt cx="1170432" cy="1584960"/>
          </a:xfrm>
        </p:grpSpPr>
        <p:sp>
          <p:nvSpPr>
            <p:cNvPr name="Freeform 70" id="70"/>
            <p:cNvSpPr/>
            <p:nvPr/>
          </p:nvSpPr>
          <p:spPr>
            <a:xfrm flipH="false" flipV="false" rot="0">
              <a:off x="0" y="0"/>
              <a:ext cx="1170432" cy="1584960"/>
            </a:xfrm>
            <a:custGeom>
              <a:avLst/>
              <a:gdLst/>
              <a:ahLst/>
              <a:cxnLst/>
              <a:rect r="r" b="b" t="t" l="l"/>
              <a:pathLst>
                <a:path h="1584960" w="1170432">
                  <a:moveTo>
                    <a:pt x="0" y="0"/>
                  </a:moveTo>
                  <a:lnTo>
                    <a:pt x="1170432" y="0"/>
                  </a:lnTo>
                  <a:lnTo>
                    <a:pt x="1170432" y="1584960"/>
                  </a:lnTo>
                  <a:lnTo>
                    <a:pt x="0" y="1584960"/>
                  </a:lnTo>
                  <a:close/>
                </a:path>
              </a:pathLst>
            </a:custGeom>
            <a:blipFill>
              <a:blip r:embed="rId2">
                <a:alphaModFix amt="0"/>
              </a:blip>
              <a:stretch>
                <a:fillRect l="-123744" t="0" r="-123744" b="0"/>
              </a:stretch>
            </a:blipFill>
          </p:spPr>
        </p:sp>
        <p:sp>
          <p:nvSpPr>
            <p:cNvPr name="TextBox 71" id="71"/>
            <p:cNvSpPr txBox="true"/>
            <p:nvPr/>
          </p:nvSpPr>
          <p:spPr>
            <a:xfrm>
              <a:off x="0" y="0"/>
              <a:ext cx="1170432" cy="1584960"/>
            </a:xfrm>
            <a:prstGeom prst="rect">
              <a:avLst/>
            </a:prstGeom>
          </p:spPr>
          <p:txBody>
            <a:bodyPr anchor="ctr" rtlCol="false" tIns="0" lIns="0" bIns="0" rIns="0"/>
            <a:lstStyle/>
            <a:p>
              <a:pPr algn="ctr">
                <a:lnSpc>
                  <a:spcPts val="3359"/>
                </a:lnSpc>
              </a:pPr>
              <a:r>
                <a:rPr lang="en-US" sz="2799">
                  <a:solidFill>
                    <a:srgbClr val="FFFFFF"/>
                  </a:solidFill>
                  <a:latin typeface="Bree Serif"/>
                  <a:ea typeface="Bree Serif"/>
                  <a:cs typeface="Bree Serif"/>
                  <a:sym typeface="Bree Serif"/>
                </a:rPr>
                <a:t>05</a:t>
              </a:r>
            </a:p>
          </p:txBody>
        </p:sp>
      </p:grpSp>
      <p:grpSp>
        <p:nvGrpSpPr>
          <p:cNvPr name="Group 72" id="72"/>
          <p:cNvGrpSpPr/>
          <p:nvPr/>
        </p:nvGrpSpPr>
        <p:grpSpPr>
          <a:xfrm rot="0">
            <a:off x="1665218" y="4935700"/>
            <a:ext cx="6858000" cy="548640"/>
            <a:chOff x="0" y="0"/>
            <a:chExt cx="9144000" cy="731520"/>
          </a:xfrm>
        </p:grpSpPr>
        <p:sp>
          <p:nvSpPr>
            <p:cNvPr name="Freeform 73" id="73"/>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2">
                <a:alphaModFix amt="0"/>
              </a:blip>
              <a:stretch>
                <a:fillRect l="0" t="-193562" r="0" b="-193562"/>
              </a:stretch>
            </a:blipFill>
          </p:spPr>
        </p:sp>
        <p:sp>
          <p:nvSpPr>
            <p:cNvPr name="TextBox 74" id="74"/>
            <p:cNvSpPr txBox="true"/>
            <p:nvPr/>
          </p:nvSpPr>
          <p:spPr>
            <a:xfrm>
              <a:off x="0" y="0"/>
              <a:ext cx="9144000" cy="731520"/>
            </a:xfrm>
            <a:prstGeom prst="rect">
              <a:avLst/>
            </a:prstGeom>
          </p:spPr>
          <p:txBody>
            <a:bodyPr anchor="ctr" rtlCol="false" tIns="0" lIns="0" bIns="0" rIns="0"/>
            <a:lstStyle/>
            <a:p>
              <a:pPr algn="l">
                <a:lnSpc>
                  <a:spcPts val="2879"/>
                </a:lnSpc>
              </a:pPr>
              <a:r>
                <a:rPr lang="en-US" sz="2400">
                  <a:solidFill>
                    <a:srgbClr val="0D1B2A"/>
                  </a:solidFill>
                  <a:latin typeface="Bree Serif"/>
                  <a:ea typeface="Bree Serif"/>
                  <a:cs typeface="Bree Serif"/>
                  <a:sym typeface="Bree Serif"/>
                </a:rPr>
                <a:t>Label Harmonization</a:t>
              </a:r>
            </a:p>
          </p:txBody>
        </p:sp>
      </p:grpSp>
      <p:grpSp>
        <p:nvGrpSpPr>
          <p:cNvPr name="Group 75" id="75"/>
          <p:cNvGrpSpPr/>
          <p:nvPr/>
        </p:nvGrpSpPr>
        <p:grpSpPr>
          <a:xfrm rot="0">
            <a:off x="1665218" y="5447764"/>
            <a:ext cx="6858000" cy="548640"/>
            <a:chOff x="0" y="0"/>
            <a:chExt cx="9144000" cy="731520"/>
          </a:xfrm>
        </p:grpSpPr>
        <p:sp>
          <p:nvSpPr>
            <p:cNvPr name="Freeform 76" id="76"/>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2">
                <a:alphaModFix amt="0"/>
              </a:blip>
              <a:stretch>
                <a:fillRect l="0" t="-193562" r="0" b="-193562"/>
              </a:stretch>
            </a:blipFill>
          </p:spPr>
        </p:sp>
        <p:sp>
          <p:nvSpPr>
            <p:cNvPr name="TextBox 77" id="77"/>
            <p:cNvSpPr txBox="true"/>
            <p:nvPr/>
          </p:nvSpPr>
          <p:spPr>
            <a:xfrm>
              <a:off x="0" y="-9525"/>
              <a:ext cx="9144000" cy="741045"/>
            </a:xfrm>
            <a:prstGeom prst="rect">
              <a:avLst/>
            </a:prstGeom>
          </p:spPr>
          <p:txBody>
            <a:bodyPr anchor="ctr" rtlCol="false" tIns="0" lIns="0" bIns="0" rIns="0"/>
            <a:lstStyle/>
            <a:p>
              <a:pPr algn="l">
                <a:lnSpc>
                  <a:spcPts val="2520"/>
                </a:lnSpc>
              </a:pPr>
              <a:r>
                <a:rPr lang="en-US" sz="2100">
                  <a:solidFill>
                    <a:srgbClr val="2E5D6A"/>
                  </a:solidFill>
                  <a:latin typeface="Bree Serif"/>
                  <a:ea typeface="Bree Serif"/>
                  <a:cs typeface="Bree Serif"/>
                  <a:sym typeface="Bree Serif"/>
                </a:rPr>
                <a:t>Map 5 schemas → low/moderate/high_risk</a:t>
              </a:r>
            </a:p>
          </p:txBody>
        </p:sp>
      </p:grpSp>
      <p:grpSp>
        <p:nvGrpSpPr>
          <p:cNvPr name="Group 78" id="78"/>
          <p:cNvGrpSpPr/>
          <p:nvPr/>
        </p:nvGrpSpPr>
        <p:grpSpPr>
          <a:xfrm rot="0">
            <a:off x="9187177" y="4740123"/>
            <a:ext cx="8072123" cy="1397003"/>
            <a:chOff x="0" y="0"/>
            <a:chExt cx="10762831" cy="1862671"/>
          </a:xfrm>
        </p:grpSpPr>
        <p:sp>
          <p:nvSpPr>
            <p:cNvPr name="Freeform 79" id="79"/>
            <p:cNvSpPr/>
            <p:nvPr/>
          </p:nvSpPr>
          <p:spPr>
            <a:xfrm flipH="false" flipV="false" rot="0">
              <a:off x="16891" y="16891"/>
              <a:ext cx="10728960" cy="1828800"/>
            </a:xfrm>
            <a:custGeom>
              <a:avLst/>
              <a:gdLst/>
              <a:ahLst/>
              <a:cxnLst/>
              <a:rect r="r" b="b" t="t" l="l"/>
              <a:pathLst>
                <a:path h="1828800" w="10728960">
                  <a:moveTo>
                    <a:pt x="0" y="0"/>
                  </a:moveTo>
                  <a:lnTo>
                    <a:pt x="10728960" y="0"/>
                  </a:lnTo>
                  <a:lnTo>
                    <a:pt x="10728960" y="1828800"/>
                  </a:lnTo>
                  <a:lnTo>
                    <a:pt x="0" y="1828800"/>
                  </a:lnTo>
                  <a:close/>
                </a:path>
              </a:pathLst>
            </a:custGeom>
            <a:solidFill>
              <a:srgbClr val="FFFFFF"/>
            </a:solidFill>
          </p:spPr>
        </p:sp>
        <p:sp>
          <p:nvSpPr>
            <p:cNvPr name="Freeform 80" id="80"/>
            <p:cNvSpPr/>
            <p:nvPr/>
          </p:nvSpPr>
          <p:spPr>
            <a:xfrm flipH="false" flipV="false" rot="0">
              <a:off x="0" y="0"/>
              <a:ext cx="10762742" cy="1862582"/>
            </a:xfrm>
            <a:custGeom>
              <a:avLst/>
              <a:gdLst/>
              <a:ahLst/>
              <a:cxnLst/>
              <a:rect r="r" b="b" t="t" l="l"/>
              <a:pathLst>
                <a:path h="1862582" w="10762742">
                  <a:moveTo>
                    <a:pt x="16891" y="0"/>
                  </a:moveTo>
                  <a:lnTo>
                    <a:pt x="10745851" y="0"/>
                  </a:lnTo>
                  <a:cubicBezTo>
                    <a:pt x="10755249" y="0"/>
                    <a:pt x="10762742" y="7620"/>
                    <a:pt x="10762742" y="16891"/>
                  </a:cubicBezTo>
                  <a:lnTo>
                    <a:pt x="10762742" y="1845691"/>
                  </a:lnTo>
                  <a:cubicBezTo>
                    <a:pt x="10762742" y="1855089"/>
                    <a:pt x="10755122" y="1862582"/>
                    <a:pt x="10745851"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0745851" y="1828800"/>
                  </a:lnTo>
                  <a:lnTo>
                    <a:pt x="10745851" y="1845691"/>
                  </a:lnTo>
                  <a:lnTo>
                    <a:pt x="10728960" y="1845691"/>
                  </a:lnTo>
                  <a:lnTo>
                    <a:pt x="10728960" y="16891"/>
                  </a:lnTo>
                  <a:lnTo>
                    <a:pt x="10745851" y="16891"/>
                  </a:lnTo>
                  <a:lnTo>
                    <a:pt x="10745851" y="33909"/>
                  </a:lnTo>
                  <a:lnTo>
                    <a:pt x="16891" y="33909"/>
                  </a:lnTo>
                  <a:close/>
                </a:path>
              </a:pathLst>
            </a:custGeom>
            <a:solidFill>
              <a:srgbClr val="D8E8EB"/>
            </a:solidFill>
          </p:spPr>
        </p:sp>
      </p:grpSp>
      <p:grpSp>
        <p:nvGrpSpPr>
          <p:cNvPr name="Group 81" id="81"/>
          <p:cNvGrpSpPr/>
          <p:nvPr/>
        </p:nvGrpSpPr>
        <p:grpSpPr>
          <a:xfrm rot="0">
            <a:off x="9187177" y="4740123"/>
            <a:ext cx="903227" cy="1397003"/>
            <a:chOff x="0" y="0"/>
            <a:chExt cx="1204303" cy="1862671"/>
          </a:xfrm>
        </p:grpSpPr>
        <p:sp>
          <p:nvSpPr>
            <p:cNvPr name="Freeform 82" id="82"/>
            <p:cNvSpPr/>
            <p:nvPr/>
          </p:nvSpPr>
          <p:spPr>
            <a:xfrm flipH="false" flipV="false" rot="0">
              <a:off x="16891" y="16891"/>
              <a:ext cx="1170432" cy="1828800"/>
            </a:xfrm>
            <a:custGeom>
              <a:avLst/>
              <a:gdLst/>
              <a:ahLst/>
              <a:cxnLst/>
              <a:rect r="r" b="b" t="t" l="l"/>
              <a:pathLst>
                <a:path h="1828800" w="1170432">
                  <a:moveTo>
                    <a:pt x="0" y="0"/>
                  </a:moveTo>
                  <a:lnTo>
                    <a:pt x="1170432" y="0"/>
                  </a:lnTo>
                  <a:lnTo>
                    <a:pt x="1170432" y="1828800"/>
                  </a:lnTo>
                  <a:lnTo>
                    <a:pt x="0" y="1828800"/>
                  </a:lnTo>
                  <a:close/>
                </a:path>
              </a:pathLst>
            </a:custGeom>
            <a:solidFill>
              <a:srgbClr val="AFBADB"/>
            </a:solidFill>
          </p:spPr>
        </p:sp>
        <p:sp>
          <p:nvSpPr>
            <p:cNvPr name="Freeform 83" id="83"/>
            <p:cNvSpPr/>
            <p:nvPr/>
          </p:nvSpPr>
          <p:spPr>
            <a:xfrm flipH="false" flipV="false" rot="0">
              <a:off x="0" y="0"/>
              <a:ext cx="1204214" cy="1862582"/>
            </a:xfrm>
            <a:custGeom>
              <a:avLst/>
              <a:gdLst/>
              <a:ahLst/>
              <a:cxnLst/>
              <a:rect r="r" b="b" t="t" l="l"/>
              <a:pathLst>
                <a:path h="1862582" w="1204214">
                  <a:moveTo>
                    <a:pt x="16891" y="0"/>
                  </a:moveTo>
                  <a:lnTo>
                    <a:pt x="1187323" y="0"/>
                  </a:lnTo>
                  <a:cubicBezTo>
                    <a:pt x="1196721" y="0"/>
                    <a:pt x="1204214" y="7620"/>
                    <a:pt x="1204214" y="16891"/>
                  </a:cubicBezTo>
                  <a:lnTo>
                    <a:pt x="1204214" y="1845691"/>
                  </a:lnTo>
                  <a:cubicBezTo>
                    <a:pt x="1204214" y="1855089"/>
                    <a:pt x="1196594" y="1862582"/>
                    <a:pt x="1187323"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187323" y="1828800"/>
                  </a:lnTo>
                  <a:lnTo>
                    <a:pt x="1187323" y="1845691"/>
                  </a:lnTo>
                  <a:lnTo>
                    <a:pt x="1170432" y="1845691"/>
                  </a:lnTo>
                  <a:lnTo>
                    <a:pt x="1170432" y="16891"/>
                  </a:lnTo>
                  <a:lnTo>
                    <a:pt x="1187323" y="16891"/>
                  </a:lnTo>
                  <a:lnTo>
                    <a:pt x="1187323" y="33909"/>
                  </a:lnTo>
                  <a:lnTo>
                    <a:pt x="16891" y="33909"/>
                  </a:lnTo>
                  <a:close/>
                </a:path>
              </a:pathLst>
            </a:custGeom>
            <a:solidFill>
              <a:srgbClr val="F4A261"/>
            </a:solidFill>
          </p:spPr>
        </p:sp>
      </p:grpSp>
      <p:grpSp>
        <p:nvGrpSpPr>
          <p:cNvPr name="Group 84" id="84"/>
          <p:cNvGrpSpPr/>
          <p:nvPr/>
        </p:nvGrpSpPr>
        <p:grpSpPr>
          <a:xfrm rot="0">
            <a:off x="9199874" y="4844260"/>
            <a:ext cx="877824" cy="1188720"/>
            <a:chOff x="0" y="0"/>
            <a:chExt cx="1170432" cy="1584960"/>
          </a:xfrm>
        </p:grpSpPr>
        <p:sp>
          <p:nvSpPr>
            <p:cNvPr name="Freeform 85" id="85"/>
            <p:cNvSpPr/>
            <p:nvPr/>
          </p:nvSpPr>
          <p:spPr>
            <a:xfrm flipH="false" flipV="false" rot="0">
              <a:off x="0" y="0"/>
              <a:ext cx="1170432" cy="1584960"/>
            </a:xfrm>
            <a:custGeom>
              <a:avLst/>
              <a:gdLst/>
              <a:ahLst/>
              <a:cxnLst/>
              <a:rect r="r" b="b" t="t" l="l"/>
              <a:pathLst>
                <a:path h="1584960" w="1170432">
                  <a:moveTo>
                    <a:pt x="0" y="0"/>
                  </a:moveTo>
                  <a:lnTo>
                    <a:pt x="1170432" y="0"/>
                  </a:lnTo>
                  <a:lnTo>
                    <a:pt x="1170432" y="1584960"/>
                  </a:lnTo>
                  <a:lnTo>
                    <a:pt x="0" y="1584960"/>
                  </a:lnTo>
                  <a:close/>
                </a:path>
              </a:pathLst>
            </a:custGeom>
            <a:blipFill>
              <a:blip r:embed="rId2">
                <a:alphaModFix amt="0"/>
              </a:blip>
              <a:stretch>
                <a:fillRect l="-123744" t="0" r="-123744" b="0"/>
              </a:stretch>
            </a:blipFill>
          </p:spPr>
        </p:sp>
        <p:sp>
          <p:nvSpPr>
            <p:cNvPr name="TextBox 86" id="86"/>
            <p:cNvSpPr txBox="true"/>
            <p:nvPr/>
          </p:nvSpPr>
          <p:spPr>
            <a:xfrm>
              <a:off x="0" y="0"/>
              <a:ext cx="1170432" cy="1584960"/>
            </a:xfrm>
            <a:prstGeom prst="rect">
              <a:avLst/>
            </a:prstGeom>
          </p:spPr>
          <p:txBody>
            <a:bodyPr anchor="ctr" rtlCol="false" tIns="0" lIns="0" bIns="0" rIns="0"/>
            <a:lstStyle/>
            <a:p>
              <a:pPr algn="ctr">
                <a:lnSpc>
                  <a:spcPts val="3359"/>
                </a:lnSpc>
              </a:pPr>
              <a:r>
                <a:rPr lang="en-US" sz="2799">
                  <a:solidFill>
                    <a:srgbClr val="FFFFFF"/>
                  </a:solidFill>
                  <a:latin typeface="Bree Serif"/>
                  <a:ea typeface="Bree Serif"/>
                  <a:cs typeface="Bree Serif"/>
                  <a:sym typeface="Bree Serif"/>
                </a:rPr>
                <a:t>06</a:t>
              </a:r>
            </a:p>
          </p:txBody>
        </p:sp>
      </p:grpSp>
      <p:grpSp>
        <p:nvGrpSpPr>
          <p:cNvPr name="Group 87" id="87"/>
          <p:cNvGrpSpPr/>
          <p:nvPr/>
        </p:nvGrpSpPr>
        <p:grpSpPr>
          <a:xfrm rot="0">
            <a:off x="10224002" y="4935700"/>
            <a:ext cx="6858000" cy="548640"/>
            <a:chOff x="0" y="0"/>
            <a:chExt cx="9144000" cy="731520"/>
          </a:xfrm>
        </p:grpSpPr>
        <p:sp>
          <p:nvSpPr>
            <p:cNvPr name="Freeform 88" id="88"/>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2">
                <a:alphaModFix amt="0"/>
              </a:blip>
              <a:stretch>
                <a:fillRect l="0" t="-193562" r="0" b="-193562"/>
              </a:stretch>
            </a:blipFill>
          </p:spPr>
        </p:sp>
        <p:sp>
          <p:nvSpPr>
            <p:cNvPr name="TextBox 89" id="89"/>
            <p:cNvSpPr txBox="true"/>
            <p:nvPr/>
          </p:nvSpPr>
          <p:spPr>
            <a:xfrm>
              <a:off x="0" y="0"/>
              <a:ext cx="9144000" cy="731520"/>
            </a:xfrm>
            <a:prstGeom prst="rect">
              <a:avLst/>
            </a:prstGeom>
          </p:spPr>
          <p:txBody>
            <a:bodyPr anchor="ctr" rtlCol="false" tIns="0" lIns="0" bIns="0" rIns="0"/>
            <a:lstStyle/>
            <a:p>
              <a:pPr algn="l">
                <a:lnSpc>
                  <a:spcPts val="2879"/>
                </a:lnSpc>
              </a:pPr>
              <a:r>
                <a:rPr lang="en-US" sz="2400">
                  <a:solidFill>
                    <a:srgbClr val="0D1B2A"/>
                  </a:solidFill>
                  <a:latin typeface="Bree Serif"/>
                  <a:ea typeface="Bree Serif"/>
                  <a:cs typeface="Bree Serif"/>
                  <a:sym typeface="Bree Serif"/>
                </a:rPr>
                <a:t>Semi-Supervised Labelling</a:t>
              </a:r>
            </a:p>
          </p:txBody>
        </p:sp>
      </p:grpSp>
      <p:grpSp>
        <p:nvGrpSpPr>
          <p:cNvPr name="Group 90" id="90"/>
          <p:cNvGrpSpPr/>
          <p:nvPr/>
        </p:nvGrpSpPr>
        <p:grpSpPr>
          <a:xfrm rot="0">
            <a:off x="10224002" y="5447764"/>
            <a:ext cx="6858000" cy="724129"/>
            <a:chOff x="0" y="0"/>
            <a:chExt cx="9144000" cy="965505"/>
          </a:xfrm>
        </p:grpSpPr>
        <p:sp>
          <p:nvSpPr>
            <p:cNvPr name="Freeform 91" id="91"/>
            <p:cNvSpPr/>
            <p:nvPr/>
          </p:nvSpPr>
          <p:spPr>
            <a:xfrm flipH="false" flipV="false" rot="0">
              <a:off x="0" y="0"/>
              <a:ext cx="9144000" cy="965505"/>
            </a:xfrm>
            <a:custGeom>
              <a:avLst/>
              <a:gdLst/>
              <a:ahLst/>
              <a:cxnLst/>
              <a:rect r="r" b="b" t="t" l="l"/>
              <a:pathLst>
                <a:path h="965505" w="9144000">
                  <a:moveTo>
                    <a:pt x="0" y="0"/>
                  </a:moveTo>
                  <a:lnTo>
                    <a:pt x="9144000" y="0"/>
                  </a:lnTo>
                  <a:lnTo>
                    <a:pt x="9144000" y="965505"/>
                  </a:lnTo>
                  <a:lnTo>
                    <a:pt x="0" y="965505"/>
                  </a:lnTo>
                  <a:close/>
                </a:path>
              </a:pathLst>
            </a:custGeom>
            <a:blipFill>
              <a:blip r:embed="rId2">
                <a:alphaModFix amt="0"/>
              </a:blip>
              <a:stretch>
                <a:fillRect l="0" t="-146654" r="0" b="-122419"/>
              </a:stretch>
            </a:blipFill>
          </p:spPr>
        </p:sp>
        <p:sp>
          <p:nvSpPr>
            <p:cNvPr name="TextBox 92" id="92"/>
            <p:cNvSpPr txBox="true"/>
            <p:nvPr/>
          </p:nvSpPr>
          <p:spPr>
            <a:xfrm>
              <a:off x="0" y="-9525"/>
              <a:ext cx="9144000" cy="975030"/>
            </a:xfrm>
            <a:prstGeom prst="rect">
              <a:avLst/>
            </a:prstGeom>
          </p:spPr>
          <p:txBody>
            <a:bodyPr anchor="ctr" rtlCol="false" tIns="0" lIns="0" bIns="0" rIns="0"/>
            <a:lstStyle/>
            <a:p>
              <a:pPr algn="l">
                <a:lnSpc>
                  <a:spcPts val="2520"/>
                </a:lnSpc>
              </a:pPr>
              <a:r>
                <a:rPr lang="en-US" sz="2100">
                  <a:solidFill>
                    <a:srgbClr val="2E5D6A"/>
                  </a:solidFill>
                  <a:latin typeface="Bree Serif"/>
                  <a:ea typeface="Bree Serif"/>
                  <a:cs typeface="Bree Serif"/>
                  <a:sym typeface="Bree Serif"/>
                </a:rPr>
                <a:t>Pseudo-label df5 &amp; df2 non-suicide via LR baseline (conf ≥ 0.80)</a:t>
              </a:r>
            </a:p>
          </p:txBody>
        </p:sp>
      </p:grpSp>
      <p:grpSp>
        <p:nvGrpSpPr>
          <p:cNvPr name="Group 93" id="93"/>
          <p:cNvGrpSpPr/>
          <p:nvPr/>
        </p:nvGrpSpPr>
        <p:grpSpPr>
          <a:xfrm rot="0">
            <a:off x="627383" y="8705088"/>
            <a:ext cx="17033243" cy="704024"/>
            <a:chOff x="0" y="0"/>
            <a:chExt cx="22710991" cy="938699"/>
          </a:xfrm>
        </p:grpSpPr>
        <p:sp>
          <p:nvSpPr>
            <p:cNvPr name="Freeform 94" id="94"/>
            <p:cNvSpPr/>
            <p:nvPr/>
          </p:nvSpPr>
          <p:spPr>
            <a:xfrm flipH="false" flipV="false" rot="0">
              <a:off x="16891" y="8860"/>
              <a:ext cx="22677119" cy="920932"/>
            </a:xfrm>
            <a:custGeom>
              <a:avLst/>
              <a:gdLst/>
              <a:ahLst/>
              <a:cxnLst/>
              <a:rect r="r" b="b" t="t" l="l"/>
              <a:pathLst>
                <a:path h="920932" w="22677119">
                  <a:moveTo>
                    <a:pt x="0" y="0"/>
                  </a:moveTo>
                  <a:lnTo>
                    <a:pt x="22677119" y="0"/>
                  </a:lnTo>
                  <a:lnTo>
                    <a:pt x="22677119" y="920932"/>
                  </a:lnTo>
                  <a:lnTo>
                    <a:pt x="0" y="920932"/>
                  </a:lnTo>
                  <a:close/>
                </a:path>
              </a:pathLst>
            </a:custGeom>
            <a:solidFill>
              <a:srgbClr val="E8F4F6"/>
            </a:solidFill>
          </p:spPr>
        </p:sp>
        <p:sp>
          <p:nvSpPr>
            <p:cNvPr name="Freeform 95" id="95"/>
            <p:cNvSpPr/>
            <p:nvPr/>
          </p:nvSpPr>
          <p:spPr>
            <a:xfrm flipH="false" flipV="false" rot="0">
              <a:off x="0" y="0"/>
              <a:ext cx="22710902" cy="938653"/>
            </a:xfrm>
            <a:custGeom>
              <a:avLst/>
              <a:gdLst/>
              <a:ahLst/>
              <a:cxnLst/>
              <a:rect r="r" b="b" t="t" l="l"/>
              <a:pathLst>
                <a:path h="938653" w="22710902">
                  <a:moveTo>
                    <a:pt x="16891" y="0"/>
                  </a:moveTo>
                  <a:lnTo>
                    <a:pt x="22694010" y="0"/>
                  </a:lnTo>
                  <a:cubicBezTo>
                    <a:pt x="22703408" y="0"/>
                    <a:pt x="22710902" y="3997"/>
                    <a:pt x="22710902" y="8860"/>
                  </a:cubicBezTo>
                  <a:lnTo>
                    <a:pt x="22710902" y="929792"/>
                  </a:lnTo>
                  <a:cubicBezTo>
                    <a:pt x="22710902" y="934722"/>
                    <a:pt x="22703282" y="938653"/>
                    <a:pt x="22694010" y="938653"/>
                  </a:cubicBezTo>
                  <a:lnTo>
                    <a:pt x="16891" y="938653"/>
                  </a:lnTo>
                  <a:cubicBezTo>
                    <a:pt x="7493" y="938653"/>
                    <a:pt x="0" y="934656"/>
                    <a:pt x="0" y="929792"/>
                  </a:cubicBezTo>
                  <a:lnTo>
                    <a:pt x="0" y="8860"/>
                  </a:lnTo>
                  <a:cubicBezTo>
                    <a:pt x="0" y="3997"/>
                    <a:pt x="7620" y="0"/>
                    <a:pt x="16891" y="0"/>
                  </a:cubicBezTo>
                  <a:moveTo>
                    <a:pt x="16891" y="17787"/>
                  </a:moveTo>
                  <a:lnTo>
                    <a:pt x="16891" y="8860"/>
                  </a:lnTo>
                  <a:lnTo>
                    <a:pt x="33909" y="8860"/>
                  </a:lnTo>
                  <a:lnTo>
                    <a:pt x="33909" y="929792"/>
                  </a:lnTo>
                  <a:lnTo>
                    <a:pt x="16891" y="929792"/>
                  </a:lnTo>
                  <a:lnTo>
                    <a:pt x="16891" y="920932"/>
                  </a:lnTo>
                  <a:lnTo>
                    <a:pt x="22694010" y="920932"/>
                  </a:lnTo>
                  <a:lnTo>
                    <a:pt x="22694010" y="929792"/>
                  </a:lnTo>
                  <a:lnTo>
                    <a:pt x="22677120" y="929792"/>
                  </a:lnTo>
                  <a:lnTo>
                    <a:pt x="22677120" y="8860"/>
                  </a:lnTo>
                  <a:lnTo>
                    <a:pt x="22694010" y="8860"/>
                  </a:lnTo>
                  <a:lnTo>
                    <a:pt x="22694010" y="17787"/>
                  </a:lnTo>
                  <a:lnTo>
                    <a:pt x="16891" y="17787"/>
                  </a:lnTo>
                  <a:close/>
                </a:path>
              </a:pathLst>
            </a:custGeom>
            <a:solidFill>
              <a:srgbClr val="D8E8EB"/>
            </a:solidFill>
          </p:spPr>
        </p:sp>
      </p:grpSp>
      <p:grpSp>
        <p:nvGrpSpPr>
          <p:cNvPr name="Group 96" id="96"/>
          <p:cNvGrpSpPr/>
          <p:nvPr/>
        </p:nvGrpSpPr>
        <p:grpSpPr>
          <a:xfrm rot="0">
            <a:off x="914400" y="8705088"/>
            <a:ext cx="4023360" cy="548640"/>
            <a:chOff x="0" y="0"/>
            <a:chExt cx="5364480" cy="731520"/>
          </a:xfrm>
        </p:grpSpPr>
        <p:sp>
          <p:nvSpPr>
            <p:cNvPr name="Freeform 97" id="97"/>
            <p:cNvSpPr/>
            <p:nvPr/>
          </p:nvSpPr>
          <p:spPr>
            <a:xfrm flipH="false" flipV="false" rot="0">
              <a:off x="0" y="0"/>
              <a:ext cx="5364480" cy="731520"/>
            </a:xfrm>
            <a:custGeom>
              <a:avLst/>
              <a:gdLst/>
              <a:ahLst/>
              <a:cxnLst/>
              <a:rect r="r" b="b" t="t" l="l"/>
              <a:pathLst>
                <a:path h="731520" w="5364480">
                  <a:moveTo>
                    <a:pt x="0" y="0"/>
                  </a:moveTo>
                  <a:lnTo>
                    <a:pt x="5364480" y="0"/>
                  </a:lnTo>
                  <a:lnTo>
                    <a:pt x="5364480" y="731520"/>
                  </a:lnTo>
                  <a:lnTo>
                    <a:pt x="0" y="731520"/>
                  </a:lnTo>
                  <a:close/>
                </a:path>
              </a:pathLst>
            </a:custGeom>
            <a:blipFill>
              <a:blip r:embed="rId2">
                <a:alphaModFix amt="0"/>
              </a:blip>
              <a:stretch>
                <a:fillRect l="0" t="-92890" r="0" b="-92890"/>
              </a:stretch>
            </a:blipFill>
          </p:spPr>
        </p:sp>
        <p:sp>
          <p:nvSpPr>
            <p:cNvPr name="TextBox 98" id="98"/>
            <p:cNvSpPr txBox="true"/>
            <p:nvPr/>
          </p:nvSpPr>
          <p:spPr>
            <a:xfrm>
              <a:off x="0" y="0"/>
              <a:ext cx="5364480" cy="731520"/>
            </a:xfrm>
            <a:prstGeom prst="rect">
              <a:avLst/>
            </a:prstGeom>
          </p:spPr>
          <p:txBody>
            <a:bodyPr anchor="ctr" rtlCol="false" tIns="0" lIns="0" bIns="0" rIns="0"/>
            <a:lstStyle/>
            <a:p>
              <a:pPr algn="l">
                <a:lnSpc>
                  <a:spcPts val="2760"/>
                </a:lnSpc>
              </a:pPr>
              <a:r>
                <a:rPr lang="en-US" sz="2300">
                  <a:solidFill>
                    <a:srgbClr val="0D1B2A"/>
                  </a:solidFill>
                  <a:latin typeface="Bree Serif"/>
                  <a:ea typeface="Bree Serif"/>
                  <a:cs typeface="Bree Serif"/>
                  <a:sym typeface="Bree Serif"/>
                </a:rPr>
                <a:t>Train / Test Split Strategy:</a:t>
              </a:r>
            </a:p>
          </p:txBody>
        </p:sp>
      </p:grpSp>
      <p:grpSp>
        <p:nvGrpSpPr>
          <p:cNvPr name="Group 99" id="99"/>
          <p:cNvGrpSpPr/>
          <p:nvPr/>
        </p:nvGrpSpPr>
        <p:grpSpPr>
          <a:xfrm rot="0">
            <a:off x="5212080" y="8705088"/>
            <a:ext cx="5669280" cy="548640"/>
            <a:chOff x="0" y="0"/>
            <a:chExt cx="7559040" cy="731520"/>
          </a:xfrm>
        </p:grpSpPr>
        <p:sp>
          <p:nvSpPr>
            <p:cNvPr name="Freeform 100" id="100"/>
            <p:cNvSpPr/>
            <p:nvPr/>
          </p:nvSpPr>
          <p:spPr>
            <a:xfrm flipH="false" flipV="false" rot="0">
              <a:off x="0" y="0"/>
              <a:ext cx="7559040" cy="731520"/>
            </a:xfrm>
            <a:custGeom>
              <a:avLst/>
              <a:gdLst/>
              <a:ahLst/>
              <a:cxnLst/>
              <a:rect r="r" b="b" t="t" l="l"/>
              <a:pathLst>
                <a:path h="731520" w="7559040">
                  <a:moveTo>
                    <a:pt x="0" y="0"/>
                  </a:moveTo>
                  <a:lnTo>
                    <a:pt x="7559040" y="0"/>
                  </a:lnTo>
                  <a:lnTo>
                    <a:pt x="7559040" y="731520"/>
                  </a:lnTo>
                  <a:lnTo>
                    <a:pt x="0" y="731520"/>
                  </a:lnTo>
                  <a:close/>
                </a:path>
              </a:pathLst>
            </a:custGeom>
            <a:blipFill>
              <a:blip r:embed="rId2">
                <a:alphaModFix amt="0"/>
              </a:blip>
              <a:stretch>
                <a:fillRect l="0" t="-151345" r="0" b="-151345"/>
              </a:stretch>
            </a:blipFill>
          </p:spPr>
        </p:sp>
        <p:sp>
          <p:nvSpPr>
            <p:cNvPr name="TextBox 101" id="101"/>
            <p:cNvSpPr txBox="true"/>
            <p:nvPr/>
          </p:nvSpPr>
          <p:spPr>
            <a:xfrm>
              <a:off x="0" y="0"/>
              <a:ext cx="7559040" cy="731520"/>
            </a:xfrm>
            <a:prstGeom prst="rect">
              <a:avLst/>
            </a:prstGeom>
          </p:spPr>
          <p:txBody>
            <a:bodyPr anchor="ctr" rtlCol="false" tIns="0" lIns="0" bIns="0" rIns="0"/>
            <a:lstStyle/>
            <a:p>
              <a:pPr algn="l">
                <a:lnSpc>
                  <a:spcPts val="2760"/>
                </a:lnSpc>
              </a:pPr>
              <a:r>
                <a:rPr lang="en-US" sz="2300">
                  <a:solidFill>
                    <a:srgbClr val="2E5D6A"/>
                  </a:solidFill>
                  <a:latin typeface="Bree Serif"/>
                  <a:ea typeface="Bree Serif"/>
                  <a:cs typeface="Bree Serif"/>
                  <a:sym typeface="Bree Serif"/>
                </a:rPr>
                <a:t>ML Models: Train 80%  ·  Val ·  Test 20%</a:t>
              </a:r>
            </a:p>
          </p:txBody>
        </p:sp>
      </p:grpSp>
      <p:grpSp>
        <p:nvGrpSpPr>
          <p:cNvPr name="Group 102" id="102"/>
          <p:cNvGrpSpPr/>
          <p:nvPr/>
        </p:nvGrpSpPr>
        <p:grpSpPr>
          <a:xfrm rot="0">
            <a:off x="11247120" y="8705088"/>
            <a:ext cx="5669280" cy="548640"/>
            <a:chOff x="0" y="0"/>
            <a:chExt cx="7559040" cy="731520"/>
          </a:xfrm>
        </p:grpSpPr>
        <p:sp>
          <p:nvSpPr>
            <p:cNvPr name="Freeform 103" id="103"/>
            <p:cNvSpPr/>
            <p:nvPr/>
          </p:nvSpPr>
          <p:spPr>
            <a:xfrm flipH="false" flipV="false" rot="0">
              <a:off x="0" y="0"/>
              <a:ext cx="7559040" cy="731520"/>
            </a:xfrm>
            <a:custGeom>
              <a:avLst/>
              <a:gdLst/>
              <a:ahLst/>
              <a:cxnLst/>
              <a:rect r="r" b="b" t="t" l="l"/>
              <a:pathLst>
                <a:path h="731520" w="7559040">
                  <a:moveTo>
                    <a:pt x="0" y="0"/>
                  </a:moveTo>
                  <a:lnTo>
                    <a:pt x="7559040" y="0"/>
                  </a:lnTo>
                  <a:lnTo>
                    <a:pt x="7559040" y="731520"/>
                  </a:lnTo>
                  <a:lnTo>
                    <a:pt x="0" y="731520"/>
                  </a:lnTo>
                  <a:close/>
                </a:path>
              </a:pathLst>
            </a:custGeom>
            <a:blipFill>
              <a:blip r:embed="rId2">
                <a:alphaModFix amt="0"/>
              </a:blip>
              <a:stretch>
                <a:fillRect l="0" t="-151345" r="0" b="-151345"/>
              </a:stretch>
            </a:blipFill>
          </p:spPr>
        </p:sp>
        <p:sp>
          <p:nvSpPr>
            <p:cNvPr name="TextBox 104" id="104"/>
            <p:cNvSpPr txBox="true"/>
            <p:nvPr/>
          </p:nvSpPr>
          <p:spPr>
            <a:xfrm>
              <a:off x="0" y="0"/>
              <a:ext cx="7559040" cy="731520"/>
            </a:xfrm>
            <a:prstGeom prst="rect">
              <a:avLst/>
            </a:prstGeom>
          </p:spPr>
          <p:txBody>
            <a:bodyPr anchor="ctr" rtlCol="false" tIns="0" lIns="0" bIns="0" rIns="0"/>
            <a:lstStyle/>
            <a:p>
              <a:pPr algn="l">
                <a:lnSpc>
                  <a:spcPts val="2760"/>
                </a:lnSpc>
              </a:pPr>
              <a:r>
                <a:rPr lang="en-US" sz="2300">
                  <a:solidFill>
                    <a:srgbClr val="2E5D6A"/>
                  </a:solidFill>
                  <a:latin typeface="Bree Serif"/>
                  <a:ea typeface="Bree Serif"/>
                  <a:cs typeface="Bree Serif"/>
                  <a:sym typeface="Bree Serif"/>
                </a:rPr>
                <a:t>BiLSTM: Train 70%  ·  Val 15%  ·  Test 15%</a:t>
              </a:r>
            </a:p>
          </p:txBody>
        </p:sp>
      </p:grpSp>
      <p:sp>
        <p:nvSpPr>
          <p:cNvPr name="TextBox 105" id="105"/>
          <p:cNvSpPr txBox="true"/>
          <p:nvPr/>
        </p:nvSpPr>
        <p:spPr>
          <a:xfrm rot="0">
            <a:off x="17531801" y="976078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323962"/>
                </a:solidFill>
                <a:latin typeface="Bree Serif"/>
                <a:ea typeface="Bree Serif"/>
                <a:cs typeface="Bree Serif"/>
                <a:sym typeface="Bree Serif"/>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BD8ED"/>
        </a:solidFill>
      </p:bgPr>
    </p:bg>
    <p:spTree>
      <p:nvGrpSpPr>
        <p:cNvPr id="1" name=""/>
        <p:cNvGrpSpPr/>
        <p:nvPr/>
      </p:nvGrpSpPr>
      <p:grpSpPr>
        <a:xfrm>
          <a:off x="0" y="0"/>
          <a:ext cx="0" cy="0"/>
          <a:chOff x="0" y="0"/>
          <a:chExt cx="0" cy="0"/>
        </a:xfrm>
      </p:grpSpPr>
      <p:sp>
        <p:nvSpPr>
          <p:cNvPr name="Freeform 2" id="2"/>
          <p:cNvSpPr/>
          <p:nvPr/>
        </p:nvSpPr>
        <p:spPr>
          <a:xfrm flipH="false" flipV="false" rot="9371307">
            <a:off x="16175973" y="8549725"/>
            <a:ext cx="515579" cy="484644"/>
          </a:xfrm>
          <a:custGeom>
            <a:avLst/>
            <a:gdLst/>
            <a:ahLst/>
            <a:cxnLst/>
            <a:rect r="r" b="b" t="t" l="l"/>
            <a:pathLst>
              <a:path h="484644" w="515579">
                <a:moveTo>
                  <a:pt x="0" y="0"/>
                </a:moveTo>
                <a:lnTo>
                  <a:pt x="515579" y="0"/>
                </a:lnTo>
                <a:lnTo>
                  <a:pt x="515579" y="484644"/>
                </a:lnTo>
                <a:lnTo>
                  <a:pt x="0" y="4846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185710" y="659780"/>
            <a:ext cx="13916581" cy="9260436"/>
          </a:xfrm>
          <a:custGeom>
            <a:avLst/>
            <a:gdLst/>
            <a:ahLst/>
            <a:cxnLst/>
            <a:rect r="r" b="b" t="t" l="l"/>
            <a:pathLst>
              <a:path h="9260436" w="13916581">
                <a:moveTo>
                  <a:pt x="0" y="0"/>
                </a:moveTo>
                <a:lnTo>
                  <a:pt x="13916580" y="0"/>
                </a:lnTo>
                <a:lnTo>
                  <a:pt x="13916580" y="9260436"/>
                </a:lnTo>
                <a:lnTo>
                  <a:pt x="0" y="9260436"/>
                </a:lnTo>
                <a:lnTo>
                  <a:pt x="0" y="0"/>
                </a:lnTo>
                <a:close/>
              </a:path>
            </a:pathLst>
          </a:custGeom>
          <a:blipFill>
            <a:blip r:embed="rId4"/>
            <a:stretch>
              <a:fillRect l="0" t="-524" r="-923" b="-524"/>
            </a:stretch>
          </a:blipFill>
        </p:spPr>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323962"/>
                </a:solidFill>
                <a:latin typeface="Open Sans"/>
                <a:ea typeface="Open Sans"/>
                <a:cs typeface="Open Sans"/>
                <a:sym typeface="Open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BD8ED"/>
        </a:solidFill>
      </p:bgPr>
    </p:bg>
    <p:spTree>
      <p:nvGrpSpPr>
        <p:cNvPr id="1" name=""/>
        <p:cNvGrpSpPr/>
        <p:nvPr/>
      </p:nvGrpSpPr>
      <p:grpSpPr>
        <a:xfrm>
          <a:off x="0" y="0"/>
          <a:ext cx="0" cy="0"/>
          <a:chOff x="0" y="0"/>
          <a:chExt cx="0" cy="0"/>
        </a:xfrm>
      </p:grpSpPr>
      <p:sp>
        <p:nvSpPr>
          <p:cNvPr name="TextBox 2" id="2"/>
          <p:cNvSpPr txBox="true"/>
          <p:nvPr/>
        </p:nvSpPr>
        <p:spPr>
          <a:xfrm rot="0">
            <a:off x="437637" y="880272"/>
            <a:ext cx="12527285" cy="558165"/>
          </a:xfrm>
          <a:prstGeom prst="rect">
            <a:avLst/>
          </a:prstGeom>
        </p:spPr>
        <p:txBody>
          <a:bodyPr anchor="t" rtlCol="false" tIns="0" lIns="0" bIns="0" rIns="0">
            <a:spAutoFit/>
          </a:bodyPr>
          <a:lstStyle/>
          <a:p>
            <a:pPr algn="l">
              <a:lnSpc>
                <a:spcPts val="4004"/>
              </a:lnSpc>
            </a:pPr>
            <a:r>
              <a:rPr lang="en-US" sz="4500" spc="-247">
                <a:solidFill>
                  <a:srgbClr val="323962"/>
                </a:solidFill>
                <a:latin typeface="Bree Serif"/>
                <a:ea typeface="Bree Serif"/>
                <a:cs typeface="Bree Serif"/>
                <a:sym typeface="Bree Serif"/>
              </a:rPr>
              <a:t>Implementation &amp; Model Development</a:t>
            </a:r>
          </a:p>
        </p:txBody>
      </p:sp>
      <p:grpSp>
        <p:nvGrpSpPr>
          <p:cNvPr name="Group 3" id="3"/>
          <p:cNvGrpSpPr/>
          <p:nvPr/>
        </p:nvGrpSpPr>
        <p:grpSpPr>
          <a:xfrm rot="0">
            <a:off x="437637" y="2251996"/>
            <a:ext cx="7680960" cy="585216"/>
            <a:chOff x="0" y="0"/>
            <a:chExt cx="10241280" cy="780288"/>
          </a:xfrm>
        </p:grpSpPr>
        <p:sp>
          <p:nvSpPr>
            <p:cNvPr name="Freeform 4" id="4"/>
            <p:cNvSpPr/>
            <p:nvPr/>
          </p:nvSpPr>
          <p:spPr>
            <a:xfrm flipH="false" flipV="false" rot="0">
              <a:off x="0" y="0"/>
              <a:ext cx="10241280" cy="780288"/>
            </a:xfrm>
            <a:custGeom>
              <a:avLst/>
              <a:gdLst/>
              <a:ahLst/>
              <a:cxnLst/>
              <a:rect r="r" b="b" t="t" l="l"/>
              <a:pathLst>
                <a:path h="780288" w="10241280">
                  <a:moveTo>
                    <a:pt x="0" y="0"/>
                  </a:moveTo>
                  <a:lnTo>
                    <a:pt x="10241280" y="0"/>
                  </a:lnTo>
                  <a:lnTo>
                    <a:pt x="10241280" y="780288"/>
                  </a:lnTo>
                  <a:lnTo>
                    <a:pt x="0" y="780288"/>
                  </a:lnTo>
                  <a:close/>
                </a:path>
              </a:pathLst>
            </a:custGeom>
            <a:blipFill>
              <a:blip r:embed="rId2">
                <a:alphaModFix amt="0"/>
              </a:blip>
              <a:stretch>
                <a:fillRect l="0" t="-205741" r="0" b="-205741"/>
              </a:stretch>
            </a:blipFill>
          </p:spPr>
        </p:sp>
        <p:sp>
          <p:nvSpPr>
            <p:cNvPr name="TextBox 5" id="5"/>
            <p:cNvSpPr txBox="true"/>
            <p:nvPr/>
          </p:nvSpPr>
          <p:spPr>
            <a:xfrm>
              <a:off x="0" y="0"/>
              <a:ext cx="10241280" cy="780288"/>
            </a:xfrm>
            <a:prstGeom prst="rect">
              <a:avLst/>
            </a:prstGeom>
          </p:spPr>
          <p:txBody>
            <a:bodyPr anchor="ctr" rtlCol="false" tIns="0" lIns="0" bIns="0" rIns="0"/>
            <a:lstStyle/>
            <a:p>
              <a:pPr algn="l">
                <a:lnSpc>
                  <a:spcPts val="3120"/>
                </a:lnSpc>
              </a:pPr>
              <a:r>
                <a:rPr lang="en-US" sz="2600">
                  <a:solidFill>
                    <a:srgbClr val="323962"/>
                  </a:solidFill>
                  <a:latin typeface="Bree Serif"/>
                  <a:ea typeface="Bree Serif"/>
                  <a:cs typeface="Bree Serif"/>
                  <a:sym typeface="Bree Serif"/>
                </a:rPr>
                <a:t>ML Pipeline</a:t>
              </a:r>
            </a:p>
          </p:txBody>
        </p:sp>
      </p:grpSp>
      <p:grpSp>
        <p:nvGrpSpPr>
          <p:cNvPr name="Group 6" id="6"/>
          <p:cNvGrpSpPr/>
          <p:nvPr/>
        </p:nvGrpSpPr>
        <p:grpSpPr>
          <a:xfrm rot="0">
            <a:off x="424940" y="2934243"/>
            <a:ext cx="7706363" cy="537467"/>
            <a:chOff x="0" y="0"/>
            <a:chExt cx="10275151" cy="716623"/>
          </a:xfrm>
        </p:grpSpPr>
        <p:sp>
          <p:nvSpPr>
            <p:cNvPr name="Freeform 7" id="7"/>
            <p:cNvSpPr/>
            <p:nvPr/>
          </p:nvSpPr>
          <p:spPr>
            <a:xfrm flipH="false" flipV="false" rot="0">
              <a:off x="16891" y="16891"/>
              <a:ext cx="10241281" cy="682752"/>
            </a:xfrm>
            <a:custGeom>
              <a:avLst/>
              <a:gdLst/>
              <a:ahLst/>
              <a:cxnLst/>
              <a:rect r="r" b="b" t="t" l="l"/>
              <a:pathLst>
                <a:path h="682752" w="10241281">
                  <a:moveTo>
                    <a:pt x="0" y="0"/>
                  </a:moveTo>
                  <a:lnTo>
                    <a:pt x="10241281" y="0"/>
                  </a:lnTo>
                  <a:lnTo>
                    <a:pt x="10241281" y="682752"/>
                  </a:lnTo>
                  <a:lnTo>
                    <a:pt x="0" y="682752"/>
                  </a:lnTo>
                  <a:close/>
                </a:path>
              </a:pathLst>
            </a:custGeom>
            <a:solidFill>
              <a:srgbClr val="D0ECF0"/>
            </a:solidFill>
          </p:spPr>
        </p:sp>
        <p:sp>
          <p:nvSpPr>
            <p:cNvPr name="Freeform 8" id="8"/>
            <p:cNvSpPr/>
            <p:nvPr/>
          </p:nvSpPr>
          <p:spPr>
            <a:xfrm flipH="false" flipV="false" rot="0">
              <a:off x="0" y="0"/>
              <a:ext cx="10275062" cy="716536"/>
            </a:xfrm>
            <a:custGeom>
              <a:avLst/>
              <a:gdLst/>
              <a:ahLst/>
              <a:cxnLst/>
              <a:rect r="r" b="b" t="t" l="l"/>
              <a:pathLst>
                <a:path h="716536" w="10275062">
                  <a:moveTo>
                    <a:pt x="16891" y="0"/>
                  </a:moveTo>
                  <a:lnTo>
                    <a:pt x="10258172" y="0"/>
                  </a:lnTo>
                  <a:cubicBezTo>
                    <a:pt x="10267569" y="0"/>
                    <a:pt x="10275062" y="7620"/>
                    <a:pt x="10275062" y="16891"/>
                  </a:cubicBezTo>
                  <a:lnTo>
                    <a:pt x="10275062" y="699643"/>
                  </a:lnTo>
                  <a:cubicBezTo>
                    <a:pt x="10275062" y="709041"/>
                    <a:pt x="10267442" y="716534"/>
                    <a:pt x="10258172"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10258172" y="682752"/>
                  </a:lnTo>
                  <a:lnTo>
                    <a:pt x="10258172" y="699643"/>
                  </a:lnTo>
                  <a:lnTo>
                    <a:pt x="10241280" y="699643"/>
                  </a:lnTo>
                  <a:lnTo>
                    <a:pt x="10241280" y="16891"/>
                  </a:lnTo>
                  <a:lnTo>
                    <a:pt x="10258172" y="16891"/>
                  </a:lnTo>
                  <a:lnTo>
                    <a:pt x="10258172" y="33909"/>
                  </a:lnTo>
                  <a:lnTo>
                    <a:pt x="16891" y="33909"/>
                  </a:lnTo>
                  <a:close/>
                </a:path>
              </a:pathLst>
            </a:custGeom>
            <a:solidFill>
              <a:srgbClr val="D0EEF0"/>
            </a:solidFill>
          </p:spPr>
        </p:sp>
      </p:grpSp>
      <p:grpSp>
        <p:nvGrpSpPr>
          <p:cNvPr name="Group 9" id="9"/>
          <p:cNvGrpSpPr/>
          <p:nvPr/>
        </p:nvGrpSpPr>
        <p:grpSpPr>
          <a:xfrm rot="0">
            <a:off x="437637" y="2946940"/>
            <a:ext cx="7680960" cy="512064"/>
            <a:chOff x="0" y="0"/>
            <a:chExt cx="10241280" cy="682752"/>
          </a:xfrm>
        </p:grpSpPr>
        <p:sp>
          <p:nvSpPr>
            <p:cNvPr name="Freeform 10" id="10"/>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2">
                <a:alphaModFix amt="0"/>
              </a:blip>
              <a:stretch>
                <a:fillRect l="0" t="-242275" r="0" b="-242275"/>
              </a:stretch>
            </a:blipFill>
          </p:spPr>
        </p:sp>
        <p:sp>
          <p:nvSpPr>
            <p:cNvPr name="TextBox 11" id="11"/>
            <p:cNvSpPr txBox="true"/>
            <p:nvPr/>
          </p:nvSpPr>
          <p:spPr>
            <a:xfrm>
              <a:off x="0" y="-9525"/>
              <a:ext cx="10241280" cy="692277"/>
            </a:xfrm>
            <a:prstGeom prst="rect">
              <a:avLst/>
            </a:prstGeom>
          </p:spPr>
          <p:txBody>
            <a:bodyPr anchor="ctr" rtlCol="false" tIns="0" lIns="0" bIns="0" rIns="0"/>
            <a:lstStyle/>
            <a:p>
              <a:pPr algn="ctr">
                <a:lnSpc>
                  <a:spcPts val="2520"/>
                </a:lnSpc>
              </a:pPr>
              <a:r>
                <a:rPr lang="en-US" sz="2100">
                  <a:solidFill>
                    <a:srgbClr val="0D1B2A"/>
                  </a:solidFill>
                  <a:latin typeface="Bree Serif"/>
                  <a:ea typeface="Bree Serif"/>
                  <a:cs typeface="Bree Serif"/>
                  <a:sym typeface="Bree Serif"/>
                </a:rPr>
                <a:t>Raw Text</a:t>
              </a:r>
            </a:p>
          </p:txBody>
        </p:sp>
      </p:grpSp>
      <p:grpSp>
        <p:nvGrpSpPr>
          <p:cNvPr name="Group 12" id="12"/>
          <p:cNvGrpSpPr/>
          <p:nvPr/>
        </p:nvGrpSpPr>
        <p:grpSpPr>
          <a:xfrm rot="0">
            <a:off x="4003797" y="3459004"/>
            <a:ext cx="548640" cy="348539"/>
            <a:chOff x="0" y="0"/>
            <a:chExt cx="731520" cy="464718"/>
          </a:xfrm>
        </p:grpSpPr>
        <p:sp>
          <p:nvSpPr>
            <p:cNvPr name="Freeform 13" id="13"/>
            <p:cNvSpPr/>
            <p:nvPr/>
          </p:nvSpPr>
          <p:spPr>
            <a:xfrm flipH="false" flipV="false" rot="0">
              <a:off x="0" y="0"/>
              <a:ext cx="731520" cy="464718"/>
            </a:xfrm>
            <a:custGeom>
              <a:avLst/>
              <a:gdLst/>
              <a:ahLst/>
              <a:cxnLst/>
              <a:rect r="r" b="b" t="t" l="l"/>
              <a:pathLst>
                <a:path h="464718" w="731520">
                  <a:moveTo>
                    <a:pt x="0" y="0"/>
                  </a:moveTo>
                  <a:lnTo>
                    <a:pt x="731520" y="0"/>
                  </a:lnTo>
                  <a:lnTo>
                    <a:pt x="731520" y="464718"/>
                  </a:lnTo>
                  <a:lnTo>
                    <a:pt x="0" y="464718"/>
                  </a:lnTo>
                  <a:close/>
                </a:path>
              </a:pathLst>
            </a:custGeom>
            <a:blipFill>
              <a:blip r:embed="rId2">
                <a:alphaModFix amt="0"/>
              </a:blip>
              <a:stretch>
                <a:fillRect l="0" t="-16242" r="0" b="54898"/>
              </a:stretch>
            </a:blipFill>
          </p:spPr>
        </p:sp>
        <p:sp>
          <p:nvSpPr>
            <p:cNvPr name="TextBox 14" id="14"/>
            <p:cNvSpPr txBox="true"/>
            <p:nvPr/>
          </p:nvSpPr>
          <p:spPr>
            <a:xfrm>
              <a:off x="0" y="9525"/>
              <a:ext cx="731520" cy="455193"/>
            </a:xfrm>
            <a:prstGeom prst="rect">
              <a:avLst/>
            </a:prstGeom>
          </p:spPr>
          <p:txBody>
            <a:bodyPr anchor="ctr" rtlCol="false" tIns="0" lIns="0" bIns="0" rIns="0"/>
            <a:lstStyle/>
            <a:p>
              <a:pPr algn="ctr">
                <a:lnSpc>
                  <a:spcPts val="2160"/>
                </a:lnSpc>
              </a:pPr>
              <a:r>
                <a:rPr lang="en-US" sz="1800">
                  <a:solidFill>
                    <a:srgbClr val="028090"/>
                  </a:solidFill>
                  <a:latin typeface="Bree Serif"/>
                  <a:ea typeface="Bree Serif"/>
                  <a:cs typeface="Bree Serif"/>
                  <a:sym typeface="Bree Serif"/>
                </a:rPr>
                <a:t>↓</a:t>
              </a:r>
            </a:p>
          </p:txBody>
        </p:sp>
      </p:grpSp>
      <p:grpSp>
        <p:nvGrpSpPr>
          <p:cNvPr name="Group 15" id="15"/>
          <p:cNvGrpSpPr/>
          <p:nvPr/>
        </p:nvGrpSpPr>
        <p:grpSpPr>
          <a:xfrm rot="0">
            <a:off x="424940" y="3546891"/>
            <a:ext cx="7706363" cy="537467"/>
            <a:chOff x="0" y="0"/>
            <a:chExt cx="10275151" cy="716623"/>
          </a:xfrm>
        </p:grpSpPr>
        <p:sp>
          <p:nvSpPr>
            <p:cNvPr name="Freeform 16" id="16"/>
            <p:cNvSpPr/>
            <p:nvPr/>
          </p:nvSpPr>
          <p:spPr>
            <a:xfrm flipH="false" flipV="false" rot="0">
              <a:off x="16891" y="16891"/>
              <a:ext cx="10241281" cy="682752"/>
            </a:xfrm>
            <a:custGeom>
              <a:avLst/>
              <a:gdLst/>
              <a:ahLst/>
              <a:cxnLst/>
              <a:rect r="r" b="b" t="t" l="l"/>
              <a:pathLst>
                <a:path h="682752" w="10241281">
                  <a:moveTo>
                    <a:pt x="0" y="0"/>
                  </a:moveTo>
                  <a:lnTo>
                    <a:pt x="10241281" y="0"/>
                  </a:lnTo>
                  <a:lnTo>
                    <a:pt x="10241281" y="682752"/>
                  </a:lnTo>
                  <a:lnTo>
                    <a:pt x="0" y="682752"/>
                  </a:lnTo>
                  <a:close/>
                </a:path>
              </a:pathLst>
            </a:custGeom>
            <a:solidFill>
              <a:srgbClr val="00A896"/>
            </a:solidFill>
          </p:spPr>
        </p:sp>
        <p:sp>
          <p:nvSpPr>
            <p:cNvPr name="Freeform 17" id="17"/>
            <p:cNvSpPr/>
            <p:nvPr/>
          </p:nvSpPr>
          <p:spPr>
            <a:xfrm flipH="false" flipV="false" rot="0">
              <a:off x="0" y="0"/>
              <a:ext cx="10275062" cy="716536"/>
            </a:xfrm>
            <a:custGeom>
              <a:avLst/>
              <a:gdLst/>
              <a:ahLst/>
              <a:cxnLst/>
              <a:rect r="r" b="b" t="t" l="l"/>
              <a:pathLst>
                <a:path h="716536" w="10275062">
                  <a:moveTo>
                    <a:pt x="16891" y="0"/>
                  </a:moveTo>
                  <a:lnTo>
                    <a:pt x="10258172" y="0"/>
                  </a:lnTo>
                  <a:cubicBezTo>
                    <a:pt x="10267569" y="0"/>
                    <a:pt x="10275062" y="7620"/>
                    <a:pt x="10275062" y="16891"/>
                  </a:cubicBezTo>
                  <a:lnTo>
                    <a:pt x="10275062" y="699643"/>
                  </a:lnTo>
                  <a:cubicBezTo>
                    <a:pt x="10275062" y="709041"/>
                    <a:pt x="10267442" y="716534"/>
                    <a:pt x="10258172"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10258172" y="682752"/>
                  </a:lnTo>
                  <a:lnTo>
                    <a:pt x="10258172" y="699643"/>
                  </a:lnTo>
                  <a:lnTo>
                    <a:pt x="10241280" y="699643"/>
                  </a:lnTo>
                  <a:lnTo>
                    <a:pt x="10241280" y="16891"/>
                  </a:lnTo>
                  <a:lnTo>
                    <a:pt x="10258172" y="16891"/>
                  </a:lnTo>
                  <a:lnTo>
                    <a:pt x="10258172" y="33909"/>
                  </a:lnTo>
                  <a:lnTo>
                    <a:pt x="16891" y="33909"/>
                  </a:lnTo>
                  <a:close/>
                </a:path>
              </a:pathLst>
            </a:custGeom>
            <a:solidFill>
              <a:srgbClr val="D0EEF0"/>
            </a:solidFill>
          </p:spPr>
        </p:sp>
      </p:grpSp>
      <p:grpSp>
        <p:nvGrpSpPr>
          <p:cNvPr name="Group 18" id="18"/>
          <p:cNvGrpSpPr/>
          <p:nvPr/>
        </p:nvGrpSpPr>
        <p:grpSpPr>
          <a:xfrm rot="0">
            <a:off x="437637" y="3559588"/>
            <a:ext cx="7680960" cy="512064"/>
            <a:chOff x="0" y="0"/>
            <a:chExt cx="10241280" cy="682752"/>
          </a:xfrm>
        </p:grpSpPr>
        <p:sp>
          <p:nvSpPr>
            <p:cNvPr name="Freeform 19" id="19"/>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2">
                <a:alphaModFix amt="0"/>
              </a:blip>
              <a:stretch>
                <a:fillRect l="0" t="-242275" r="0" b="-242275"/>
              </a:stretch>
            </a:blipFill>
          </p:spPr>
        </p:sp>
        <p:sp>
          <p:nvSpPr>
            <p:cNvPr name="TextBox 20" id="20"/>
            <p:cNvSpPr txBox="true"/>
            <p:nvPr/>
          </p:nvSpPr>
          <p:spPr>
            <a:xfrm>
              <a:off x="0" y="-9525"/>
              <a:ext cx="10241280" cy="692277"/>
            </a:xfrm>
            <a:prstGeom prst="rect">
              <a:avLst/>
            </a:prstGeom>
          </p:spPr>
          <p:txBody>
            <a:bodyPr anchor="ctr" rtlCol="false" tIns="0" lIns="0" bIns="0" rIns="0"/>
            <a:lstStyle/>
            <a:p>
              <a:pPr algn="ctr">
                <a:lnSpc>
                  <a:spcPts val="2520"/>
                </a:lnSpc>
              </a:pPr>
              <a:r>
                <a:rPr lang="en-US" sz="2100">
                  <a:solidFill>
                    <a:srgbClr val="0D1B2A"/>
                  </a:solidFill>
                  <a:latin typeface="Bree Serif"/>
                  <a:ea typeface="Bree Serif"/>
                  <a:cs typeface="Bree Serif"/>
                  <a:sym typeface="Bree Serif"/>
                </a:rPr>
                <a:t>TF-IDF Vectorizer</a:t>
              </a:r>
            </a:p>
          </p:txBody>
        </p:sp>
      </p:grpSp>
      <p:grpSp>
        <p:nvGrpSpPr>
          <p:cNvPr name="Group 21" id="21"/>
          <p:cNvGrpSpPr/>
          <p:nvPr/>
        </p:nvGrpSpPr>
        <p:grpSpPr>
          <a:xfrm rot="0">
            <a:off x="4003797" y="4071652"/>
            <a:ext cx="548640" cy="348539"/>
            <a:chOff x="0" y="0"/>
            <a:chExt cx="731520" cy="464718"/>
          </a:xfrm>
        </p:grpSpPr>
        <p:sp>
          <p:nvSpPr>
            <p:cNvPr name="Freeform 22" id="22"/>
            <p:cNvSpPr/>
            <p:nvPr/>
          </p:nvSpPr>
          <p:spPr>
            <a:xfrm flipH="false" flipV="false" rot="0">
              <a:off x="0" y="0"/>
              <a:ext cx="731520" cy="464718"/>
            </a:xfrm>
            <a:custGeom>
              <a:avLst/>
              <a:gdLst/>
              <a:ahLst/>
              <a:cxnLst/>
              <a:rect r="r" b="b" t="t" l="l"/>
              <a:pathLst>
                <a:path h="464718" w="731520">
                  <a:moveTo>
                    <a:pt x="0" y="0"/>
                  </a:moveTo>
                  <a:lnTo>
                    <a:pt x="731520" y="0"/>
                  </a:lnTo>
                  <a:lnTo>
                    <a:pt x="731520" y="464718"/>
                  </a:lnTo>
                  <a:lnTo>
                    <a:pt x="0" y="464718"/>
                  </a:lnTo>
                  <a:close/>
                </a:path>
              </a:pathLst>
            </a:custGeom>
            <a:blipFill>
              <a:blip r:embed="rId2">
                <a:alphaModFix amt="0"/>
              </a:blip>
              <a:stretch>
                <a:fillRect l="0" t="-16242" r="0" b="54898"/>
              </a:stretch>
            </a:blipFill>
          </p:spPr>
        </p:sp>
        <p:sp>
          <p:nvSpPr>
            <p:cNvPr name="TextBox 23" id="23"/>
            <p:cNvSpPr txBox="true"/>
            <p:nvPr/>
          </p:nvSpPr>
          <p:spPr>
            <a:xfrm>
              <a:off x="0" y="9525"/>
              <a:ext cx="731520" cy="455193"/>
            </a:xfrm>
            <a:prstGeom prst="rect">
              <a:avLst/>
            </a:prstGeom>
          </p:spPr>
          <p:txBody>
            <a:bodyPr anchor="ctr" rtlCol="false" tIns="0" lIns="0" bIns="0" rIns="0"/>
            <a:lstStyle/>
            <a:p>
              <a:pPr algn="ctr">
                <a:lnSpc>
                  <a:spcPts val="2160"/>
                </a:lnSpc>
              </a:pPr>
              <a:r>
                <a:rPr lang="en-US" sz="1800">
                  <a:solidFill>
                    <a:srgbClr val="028090"/>
                  </a:solidFill>
                  <a:latin typeface="Bree Serif"/>
                  <a:ea typeface="Bree Serif"/>
                  <a:cs typeface="Bree Serif"/>
                  <a:sym typeface="Bree Serif"/>
                </a:rPr>
                <a:t>↓</a:t>
              </a:r>
            </a:p>
          </p:txBody>
        </p:sp>
      </p:grpSp>
      <p:grpSp>
        <p:nvGrpSpPr>
          <p:cNvPr name="Group 24" id="24"/>
          <p:cNvGrpSpPr/>
          <p:nvPr/>
        </p:nvGrpSpPr>
        <p:grpSpPr>
          <a:xfrm rot="0">
            <a:off x="424940" y="4159539"/>
            <a:ext cx="7706363" cy="537467"/>
            <a:chOff x="0" y="0"/>
            <a:chExt cx="10275151" cy="716623"/>
          </a:xfrm>
        </p:grpSpPr>
        <p:sp>
          <p:nvSpPr>
            <p:cNvPr name="Freeform 25" id="25"/>
            <p:cNvSpPr/>
            <p:nvPr/>
          </p:nvSpPr>
          <p:spPr>
            <a:xfrm flipH="false" flipV="false" rot="0">
              <a:off x="16891" y="16891"/>
              <a:ext cx="10241281" cy="682752"/>
            </a:xfrm>
            <a:custGeom>
              <a:avLst/>
              <a:gdLst/>
              <a:ahLst/>
              <a:cxnLst/>
              <a:rect r="r" b="b" t="t" l="l"/>
              <a:pathLst>
                <a:path h="682752" w="10241281">
                  <a:moveTo>
                    <a:pt x="0" y="0"/>
                  </a:moveTo>
                  <a:lnTo>
                    <a:pt x="10241281" y="0"/>
                  </a:lnTo>
                  <a:lnTo>
                    <a:pt x="10241281" y="682752"/>
                  </a:lnTo>
                  <a:lnTo>
                    <a:pt x="0" y="682752"/>
                  </a:lnTo>
                  <a:close/>
                </a:path>
              </a:pathLst>
            </a:custGeom>
            <a:solidFill>
              <a:srgbClr val="028090"/>
            </a:solidFill>
          </p:spPr>
        </p:sp>
        <p:sp>
          <p:nvSpPr>
            <p:cNvPr name="Freeform 26" id="26"/>
            <p:cNvSpPr/>
            <p:nvPr/>
          </p:nvSpPr>
          <p:spPr>
            <a:xfrm flipH="false" flipV="false" rot="0">
              <a:off x="0" y="0"/>
              <a:ext cx="10275062" cy="716536"/>
            </a:xfrm>
            <a:custGeom>
              <a:avLst/>
              <a:gdLst/>
              <a:ahLst/>
              <a:cxnLst/>
              <a:rect r="r" b="b" t="t" l="l"/>
              <a:pathLst>
                <a:path h="716536" w="10275062">
                  <a:moveTo>
                    <a:pt x="16891" y="0"/>
                  </a:moveTo>
                  <a:lnTo>
                    <a:pt x="10258172" y="0"/>
                  </a:lnTo>
                  <a:cubicBezTo>
                    <a:pt x="10267569" y="0"/>
                    <a:pt x="10275062" y="7620"/>
                    <a:pt x="10275062" y="16891"/>
                  </a:cubicBezTo>
                  <a:lnTo>
                    <a:pt x="10275062" y="699643"/>
                  </a:lnTo>
                  <a:cubicBezTo>
                    <a:pt x="10275062" y="709041"/>
                    <a:pt x="10267442" y="716534"/>
                    <a:pt x="10258172"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10258172" y="682752"/>
                  </a:lnTo>
                  <a:lnTo>
                    <a:pt x="10258172" y="699643"/>
                  </a:lnTo>
                  <a:lnTo>
                    <a:pt x="10241280" y="699643"/>
                  </a:lnTo>
                  <a:lnTo>
                    <a:pt x="10241280" y="16891"/>
                  </a:lnTo>
                  <a:lnTo>
                    <a:pt x="10258172" y="16891"/>
                  </a:lnTo>
                  <a:lnTo>
                    <a:pt x="10258172" y="33909"/>
                  </a:lnTo>
                  <a:lnTo>
                    <a:pt x="16891" y="33909"/>
                  </a:lnTo>
                  <a:close/>
                </a:path>
              </a:pathLst>
            </a:custGeom>
            <a:solidFill>
              <a:srgbClr val="D0EEF0"/>
            </a:solidFill>
          </p:spPr>
        </p:sp>
      </p:grpSp>
      <p:grpSp>
        <p:nvGrpSpPr>
          <p:cNvPr name="Group 27" id="27"/>
          <p:cNvGrpSpPr/>
          <p:nvPr/>
        </p:nvGrpSpPr>
        <p:grpSpPr>
          <a:xfrm rot="0">
            <a:off x="437637" y="4172236"/>
            <a:ext cx="7680960" cy="512064"/>
            <a:chOff x="0" y="0"/>
            <a:chExt cx="10241280" cy="682752"/>
          </a:xfrm>
        </p:grpSpPr>
        <p:sp>
          <p:nvSpPr>
            <p:cNvPr name="Freeform 28" id="28"/>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2">
                <a:alphaModFix amt="0"/>
              </a:blip>
              <a:stretch>
                <a:fillRect l="0" t="-242275" r="0" b="-242275"/>
              </a:stretch>
            </a:blipFill>
          </p:spPr>
        </p:sp>
        <p:sp>
          <p:nvSpPr>
            <p:cNvPr name="TextBox 29" id="29"/>
            <p:cNvSpPr txBox="true"/>
            <p:nvPr/>
          </p:nvSpPr>
          <p:spPr>
            <a:xfrm>
              <a:off x="0" y="-9525"/>
              <a:ext cx="10241280" cy="692277"/>
            </a:xfrm>
            <a:prstGeom prst="rect">
              <a:avLst/>
            </a:prstGeom>
          </p:spPr>
          <p:txBody>
            <a:bodyPr anchor="ctr" rtlCol="false" tIns="0" lIns="0" bIns="0" rIns="0"/>
            <a:lstStyle/>
            <a:p>
              <a:pPr algn="ctr">
                <a:lnSpc>
                  <a:spcPts val="2520"/>
                </a:lnSpc>
              </a:pPr>
              <a:r>
                <a:rPr lang="en-US" sz="2100">
                  <a:solidFill>
                    <a:srgbClr val="FFFFFF"/>
                  </a:solidFill>
                  <a:latin typeface="Bree Serif"/>
                  <a:ea typeface="Bree Serif"/>
                  <a:cs typeface="Bree Serif"/>
                  <a:sym typeface="Bree Serif"/>
                </a:rPr>
                <a:t>Classifier (LR / SVM / RF)</a:t>
              </a:r>
            </a:p>
          </p:txBody>
        </p:sp>
      </p:grpSp>
      <p:grpSp>
        <p:nvGrpSpPr>
          <p:cNvPr name="Group 30" id="30"/>
          <p:cNvGrpSpPr/>
          <p:nvPr/>
        </p:nvGrpSpPr>
        <p:grpSpPr>
          <a:xfrm rot="0">
            <a:off x="4003797" y="4684300"/>
            <a:ext cx="548640" cy="348539"/>
            <a:chOff x="0" y="0"/>
            <a:chExt cx="731520" cy="464718"/>
          </a:xfrm>
        </p:grpSpPr>
        <p:sp>
          <p:nvSpPr>
            <p:cNvPr name="Freeform 31" id="31"/>
            <p:cNvSpPr/>
            <p:nvPr/>
          </p:nvSpPr>
          <p:spPr>
            <a:xfrm flipH="false" flipV="false" rot="0">
              <a:off x="0" y="0"/>
              <a:ext cx="731520" cy="464718"/>
            </a:xfrm>
            <a:custGeom>
              <a:avLst/>
              <a:gdLst/>
              <a:ahLst/>
              <a:cxnLst/>
              <a:rect r="r" b="b" t="t" l="l"/>
              <a:pathLst>
                <a:path h="464718" w="731520">
                  <a:moveTo>
                    <a:pt x="0" y="0"/>
                  </a:moveTo>
                  <a:lnTo>
                    <a:pt x="731520" y="0"/>
                  </a:lnTo>
                  <a:lnTo>
                    <a:pt x="731520" y="464718"/>
                  </a:lnTo>
                  <a:lnTo>
                    <a:pt x="0" y="464718"/>
                  </a:lnTo>
                  <a:close/>
                </a:path>
              </a:pathLst>
            </a:custGeom>
            <a:blipFill>
              <a:blip r:embed="rId2">
                <a:alphaModFix amt="0"/>
              </a:blip>
              <a:stretch>
                <a:fillRect l="0" t="-16242" r="0" b="54898"/>
              </a:stretch>
            </a:blipFill>
          </p:spPr>
        </p:sp>
        <p:sp>
          <p:nvSpPr>
            <p:cNvPr name="TextBox 32" id="32"/>
            <p:cNvSpPr txBox="true"/>
            <p:nvPr/>
          </p:nvSpPr>
          <p:spPr>
            <a:xfrm>
              <a:off x="0" y="9525"/>
              <a:ext cx="731520" cy="455193"/>
            </a:xfrm>
            <a:prstGeom prst="rect">
              <a:avLst/>
            </a:prstGeom>
          </p:spPr>
          <p:txBody>
            <a:bodyPr anchor="ctr" rtlCol="false" tIns="0" lIns="0" bIns="0" rIns="0"/>
            <a:lstStyle/>
            <a:p>
              <a:pPr algn="ctr">
                <a:lnSpc>
                  <a:spcPts val="2160"/>
                </a:lnSpc>
              </a:pPr>
              <a:r>
                <a:rPr lang="en-US" sz="1800">
                  <a:solidFill>
                    <a:srgbClr val="028090"/>
                  </a:solidFill>
                  <a:latin typeface="Bree Serif"/>
                  <a:ea typeface="Bree Serif"/>
                  <a:cs typeface="Bree Serif"/>
                  <a:sym typeface="Bree Serif"/>
                </a:rPr>
                <a:t>↓</a:t>
              </a:r>
            </a:p>
          </p:txBody>
        </p:sp>
      </p:grpSp>
      <p:grpSp>
        <p:nvGrpSpPr>
          <p:cNvPr name="Group 33" id="33"/>
          <p:cNvGrpSpPr/>
          <p:nvPr/>
        </p:nvGrpSpPr>
        <p:grpSpPr>
          <a:xfrm rot="0">
            <a:off x="437637" y="4841676"/>
            <a:ext cx="7706363" cy="605239"/>
            <a:chOff x="0" y="0"/>
            <a:chExt cx="10275151" cy="806985"/>
          </a:xfrm>
        </p:grpSpPr>
        <p:sp>
          <p:nvSpPr>
            <p:cNvPr name="Freeform 34" id="34"/>
            <p:cNvSpPr/>
            <p:nvPr/>
          </p:nvSpPr>
          <p:spPr>
            <a:xfrm flipH="false" flipV="false" rot="0">
              <a:off x="16891" y="19021"/>
              <a:ext cx="10241281" cy="768843"/>
            </a:xfrm>
            <a:custGeom>
              <a:avLst/>
              <a:gdLst/>
              <a:ahLst/>
              <a:cxnLst/>
              <a:rect r="r" b="b" t="t" l="l"/>
              <a:pathLst>
                <a:path h="768843" w="10241281">
                  <a:moveTo>
                    <a:pt x="0" y="0"/>
                  </a:moveTo>
                  <a:lnTo>
                    <a:pt x="10241281" y="0"/>
                  </a:lnTo>
                  <a:lnTo>
                    <a:pt x="10241281" y="768843"/>
                  </a:lnTo>
                  <a:lnTo>
                    <a:pt x="0" y="768843"/>
                  </a:lnTo>
                  <a:close/>
                </a:path>
              </a:pathLst>
            </a:custGeom>
            <a:solidFill>
              <a:srgbClr val="02C39A"/>
            </a:solidFill>
          </p:spPr>
        </p:sp>
        <p:sp>
          <p:nvSpPr>
            <p:cNvPr name="Freeform 35" id="35"/>
            <p:cNvSpPr/>
            <p:nvPr/>
          </p:nvSpPr>
          <p:spPr>
            <a:xfrm flipH="false" flipV="false" rot="0">
              <a:off x="0" y="0"/>
              <a:ext cx="10275062" cy="806887"/>
            </a:xfrm>
            <a:custGeom>
              <a:avLst/>
              <a:gdLst/>
              <a:ahLst/>
              <a:cxnLst/>
              <a:rect r="r" b="b" t="t" l="l"/>
              <a:pathLst>
                <a:path h="806887" w="10275062">
                  <a:moveTo>
                    <a:pt x="16891" y="0"/>
                  </a:moveTo>
                  <a:lnTo>
                    <a:pt x="10258172" y="0"/>
                  </a:lnTo>
                  <a:cubicBezTo>
                    <a:pt x="10267569" y="0"/>
                    <a:pt x="10275062" y="8581"/>
                    <a:pt x="10275062" y="19021"/>
                  </a:cubicBezTo>
                  <a:lnTo>
                    <a:pt x="10275062" y="787864"/>
                  </a:lnTo>
                  <a:cubicBezTo>
                    <a:pt x="10275062" y="798447"/>
                    <a:pt x="10267442" y="806885"/>
                    <a:pt x="10258172" y="806885"/>
                  </a:cubicBezTo>
                  <a:lnTo>
                    <a:pt x="16891" y="806885"/>
                  </a:lnTo>
                  <a:cubicBezTo>
                    <a:pt x="7620" y="807023"/>
                    <a:pt x="0" y="798447"/>
                    <a:pt x="0" y="787864"/>
                  </a:cubicBezTo>
                  <a:lnTo>
                    <a:pt x="0" y="19021"/>
                  </a:lnTo>
                  <a:cubicBezTo>
                    <a:pt x="0" y="8581"/>
                    <a:pt x="7620" y="0"/>
                    <a:pt x="16891" y="0"/>
                  </a:cubicBezTo>
                  <a:moveTo>
                    <a:pt x="16891" y="38185"/>
                  </a:moveTo>
                  <a:lnTo>
                    <a:pt x="16891" y="19021"/>
                  </a:lnTo>
                  <a:lnTo>
                    <a:pt x="33909" y="19021"/>
                  </a:lnTo>
                  <a:lnTo>
                    <a:pt x="33909" y="787864"/>
                  </a:lnTo>
                  <a:lnTo>
                    <a:pt x="16891" y="787864"/>
                  </a:lnTo>
                  <a:lnTo>
                    <a:pt x="16891" y="768843"/>
                  </a:lnTo>
                  <a:lnTo>
                    <a:pt x="10258172" y="768843"/>
                  </a:lnTo>
                  <a:lnTo>
                    <a:pt x="10258172" y="787864"/>
                  </a:lnTo>
                  <a:lnTo>
                    <a:pt x="10241280" y="787864"/>
                  </a:lnTo>
                  <a:lnTo>
                    <a:pt x="10241280" y="19021"/>
                  </a:lnTo>
                  <a:lnTo>
                    <a:pt x="10258172" y="19021"/>
                  </a:lnTo>
                  <a:lnTo>
                    <a:pt x="10258172" y="38185"/>
                  </a:lnTo>
                  <a:lnTo>
                    <a:pt x="16891" y="38185"/>
                  </a:lnTo>
                  <a:close/>
                </a:path>
              </a:pathLst>
            </a:custGeom>
            <a:solidFill>
              <a:srgbClr val="D0EEF0"/>
            </a:solidFill>
          </p:spPr>
        </p:sp>
      </p:grpSp>
      <p:grpSp>
        <p:nvGrpSpPr>
          <p:cNvPr name="Group 36" id="36"/>
          <p:cNvGrpSpPr/>
          <p:nvPr/>
        </p:nvGrpSpPr>
        <p:grpSpPr>
          <a:xfrm rot="0">
            <a:off x="450333" y="4855974"/>
            <a:ext cx="7680960" cy="576633"/>
            <a:chOff x="0" y="0"/>
            <a:chExt cx="10241280" cy="768843"/>
          </a:xfrm>
        </p:grpSpPr>
        <p:sp>
          <p:nvSpPr>
            <p:cNvPr name="Freeform 37" id="37"/>
            <p:cNvSpPr/>
            <p:nvPr/>
          </p:nvSpPr>
          <p:spPr>
            <a:xfrm flipH="false" flipV="false" rot="0">
              <a:off x="0" y="0"/>
              <a:ext cx="10241280" cy="768843"/>
            </a:xfrm>
            <a:custGeom>
              <a:avLst/>
              <a:gdLst/>
              <a:ahLst/>
              <a:cxnLst/>
              <a:rect r="r" b="b" t="t" l="l"/>
              <a:pathLst>
                <a:path h="768843" w="10241280">
                  <a:moveTo>
                    <a:pt x="0" y="0"/>
                  </a:moveTo>
                  <a:lnTo>
                    <a:pt x="10241280" y="0"/>
                  </a:lnTo>
                  <a:lnTo>
                    <a:pt x="10241280" y="768843"/>
                  </a:lnTo>
                  <a:lnTo>
                    <a:pt x="0" y="768843"/>
                  </a:lnTo>
                  <a:close/>
                </a:path>
              </a:pathLst>
            </a:custGeom>
            <a:blipFill>
              <a:blip r:embed="rId2">
                <a:alphaModFix amt="0"/>
              </a:blip>
              <a:stretch>
                <a:fillRect l="0" t="-215146" r="0" b="-203949"/>
              </a:stretch>
            </a:blipFill>
          </p:spPr>
        </p:sp>
        <p:sp>
          <p:nvSpPr>
            <p:cNvPr name="TextBox 38" id="38"/>
            <p:cNvSpPr txBox="true"/>
            <p:nvPr/>
          </p:nvSpPr>
          <p:spPr>
            <a:xfrm>
              <a:off x="0" y="-9525"/>
              <a:ext cx="10241280" cy="778368"/>
            </a:xfrm>
            <a:prstGeom prst="rect">
              <a:avLst/>
            </a:prstGeom>
          </p:spPr>
          <p:txBody>
            <a:bodyPr anchor="ctr" rtlCol="false" tIns="0" lIns="0" bIns="0" rIns="0"/>
            <a:lstStyle/>
            <a:p>
              <a:pPr algn="ctr">
                <a:lnSpc>
                  <a:spcPts val="2520"/>
                </a:lnSpc>
              </a:pPr>
              <a:r>
                <a:rPr lang="en-US" sz="2100">
                  <a:solidFill>
                    <a:srgbClr val="0D1B2A"/>
                  </a:solidFill>
                  <a:latin typeface="Bree Serif"/>
                  <a:ea typeface="Bree Serif"/>
                  <a:cs typeface="Bree Serif"/>
                  <a:sym typeface="Bree Serif"/>
                </a:rPr>
                <a:t>Risk Class + Confidence</a:t>
              </a:r>
            </a:p>
          </p:txBody>
        </p:sp>
      </p:grpSp>
      <p:grpSp>
        <p:nvGrpSpPr>
          <p:cNvPr name="Group 39" id="39"/>
          <p:cNvGrpSpPr/>
          <p:nvPr/>
        </p:nvGrpSpPr>
        <p:grpSpPr>
          <a:xfrm rot="0">
            <a:off x="9032997" y="2251996"/>
            <a:ext cx="7863840" cy="585216"/>
            <a:chOff x="0" y="0"/>
            <a:chExt cx="10485120" cy="780288"/>
          </a:xfrm>
        </p:grpSpPr>
        <p:sp>
          <p:nvSpPr>
            <p:cNvPr name="Freeform 40" id="40"/>
            <p:cNvSpPr/>
            <p:nvPr/>
          </p:nvSpPr>
          <p:spPr>
            <a:xfrm flipH="false" flipV="false" rot="0">
              <a:off x="0" y="0"/>
              <a:ext cx="10485120" cy="780288"/>
            </a:xfrm>
            <a:custGeom>
              <a:avLst/>
              <a:gdLst/>
              <a:ahLst/>
              <a:cxnLst/>
              <a:rect r="r" b="b" t="t" l="l"/>
              <a:pathLst>
                <a:path h="780288" w="10485120">
                  <a:moveTo>
                    <a:pt x="0" y="0"/>
                  </a:moveTo>
                  <a:lnTo>
                    <a:pt x="10485120" y="0"/>
                  </a:lnTo>
                  <a:lnTo>
                    <a:pt x="10485120" y="780288"/>
                  </a:lnTo>
                  <a:lnTo>
                    <a:pt x="0" y="780288"/>
                  </a:lnTo>
                  <a:close/>
                </a:path>
              </a:pathLst>
            </a:custGeom>
            <a:blipFill>
              <a:blip r:embed="rId2">
                <a:alphaModFix amt="0"/>
              </a:blip>
              <a:stretch>
                <a:fillRect l="0" t="-211830" r="0" b="-211830"/>
              </a:stretch>
            </a:blipFill>
          </p:spPr>
        </p:sp>
        <p:sp>
          <p:nvSpPr>
            <p:cNvPr name="TextBox 41" id="41"/>
            <p:cNvSpPr txBox="true"/>
            <p:nvPr/>
          </p:nvSpPr>
          <p:spPr>
            <a:xfrm>
              <a:off x="0" y="9525"/>
              <a:ext cx="10485120" cy="770763"/>
            </a:xfrm>
            <a:prstGeom prst="rect">
              <a:avLst/>
            </a:prstGeom>
          </p:spPr>
          <p:txBody>
            <a:bodyPr anchor="ctr" rtlCol="false" tIns="0" lIns="0" bIns="0" rIns="0"/>
            <a:lstStyle/>
            <a:p>
              <a:pPr algn="l">
                <a:lnSpc>
                  <a:spcPts val="2999"/>
                </a:lnSpc>
              </a:pPr>
              <a:r>
                <a:rPr lang="en-US" sz="2499">
                  <a:solidFill>
                    <a:srgbClr val="323962"/>
                  </a:solidFill>
                  <a:latin typeface="Bree Serif"/>
                  <a:ea typeface="Bree Serif"/>
                  <a:cs typeface="Bree Serif"/>
                  <a:sym typeface="Bree Serif"/>
                </a:rPr>
                <a:t>BiLSTM Configuration Progression</a:t>
              </a:r>
            </a:p>
          </p:txBody>
        </p:sp>
      </p:grpSp>
      <p:grpSp>
        <p:nvGrpSpPr>
          <p:cNvPr name="Group 42" id="42"/>
          <p:cNvGrpSpPr/>
          <p:nvPr/>
        </p:nvGrpSpPr>
        <p:grpSpPr>
          <a:xfrm rot="0">
            <a:off x="8837420" y="3007395"/>
            <a:ext cx="8072123" cy="665483"/>
            <a:chOff x="0" y="0"/>
            <a:chExt cx="10762831" cy="887311"/>
          </a:xfrm>
        </p:grpSpPr>
        <p:sp>
          <p:nvSpPr>
            <p:cNvPr name="Freeform 43" id="43"/>
            <p:cNvSpPr/>
            <p:nvPr/>
          </p:nvSpPr>
          <p:spPr>
            <a:xfrm flipH="false" flipV="false" rot="0">
              <a:off x="16891" y="16891"/>
              <a:ext cx="10728960" cy="853440"/>
            </a:xfrm>
            <a:custGeom>
              <a:avLst/>
              <a:gdLst/>
              <a:ahLst/>
              <a:cxnLst/>
              <a:rect r="r" b="b" t="t" l="l"/>
              <a:pathLst>
                <a:path h="853440" w="10728960">
                  <a:moveTo>
                    <a:pt x="0" y="0"/>
                  </a:moveTo>
                  <a:lnTo>
                    <a:pt x="10728960" y="0"/>
                  </a:lnTo>
                  <a:lnTo>
                    <a:pt x="10728960" y="853440"/>
                  </a:lnTo>
                  <a:lnTo>
                    <a:pt x="0" y="853440"/>
                  </a:lnTo>
                  <a:close/>
                </a:path>
              </a:pathLst>
            </a:custGeom>
            <a:solidFill>
              <a:srgbClr val="E8F4F6"/>
            </a:solidFill>
          </p:spPr>
        </p:sp>
        <p:sp>
          <p:nvSpPr>
            <p:cNvPr name="Freeform 44" id="44"/>
            <p:cNvSpPr/>
            <p:nvPr/>
          </p:nvSpPr>
          <p:spPr>
            <a:xfrm flipH="false" flipV="false" rot="0">
              <a:off x="0" y="0"/>
              <a:ext cx="10762742" cy="887224"/>
            </a:xfrm>
            <a:custGeom>
              <a:avLst/>
              <a:gdLst/>
              <a:ahLst/>
              <a:cxnLst/>
              <a:rect r="r" b="b" t="t" l="l"/>
              <a:pathLst>
                <a:path h="887224" w="10762742">
                  <a:moveTo>
                    <a:pt x="16891" y="0"/>
                  </a:moveTo>
                  <a:lnTo>
                    <a:pt x="10745851" y="0"/>
                  </a:lnTo>
                  <a:cubicBezTo>
                    <a:pt x="10755249" y="0"/>
                    <a:pt x="10762742" y="7620"/>
                    <a:pt x="10762742" y="16891"/>
                  </a:cubicBezTo>
                  <a:lnTo>
                    <a:pt x="10762742" y="870331"/>
                  </a:lnTo>
                  <a:cubicBezTo>
                    <a:pt x="10762742" y="879729"/>
                    <a:pt x="10755122" y="887222"/>
                    <a:pt x="10745851" y="887222"/>
                  </a:cubicBezTo>
                  <a:lnTo>
                    <a:pt x="16891" y="887222"/>
                  </a:lnTo>
                  <a:cubicBezTo>
                    <a:pt x="7620" y="887349"/>
                    <a:pt x="0" y="879729"/>
                    <a:pt x="0" y="870331"/>
                  </a:cubicBezTo>
                  <a:lnTo>
                    <a:pt x="0" y="16891"/>
                  </a:lnTo>
                  <a:cubicBezTo>
                    <a:pt x="0" y="7620"/>
                    <a:pt x="7620" y="0"/>
                    <a:pt x="16891" y="0"/>
                  </a:cubicBezTo>
                  <a:moveTo>
                    <a:pt x="16891" y="33909"/>
                  </a:moveTo>
                  <a:lnTo>
                    <a:pt x="16891" y="16891"/>
                  </a:lnTo>
                  <a:lnTo>
                    <a:pt x="33909" y="16891"/>
                  </a:lnTo>
                  <a:lnTo>
                    <a:pt x="33909" y="870331"/>
                  </a:lnTo>
                  <a:lnTo>
                    <a:pt x="16891" y="870331"/>
                  </a:lnTo>
                  <a:lnTo>
                    <a:pt x="16891" y="853440"/>
                  </a:lnTo>
                  <a:lnTo>
                    <a:pt x="10745851" y="853440"/>
                  </a:lnTo>
                  <a:lnTo>
                    <a:pt x="10745851" y="870331"/>
                  </a:lnTo>
                  <a:lnTo>
                    <a:pt x="10728960" y="870331"/>
                  </a:lnTo>
                  <a:lnTo>
                    <a:pt x="10728960" y="16891"/>
                  </a:lnTo>
                  <a:lnTo>
                    <a:pt x="10745851" y="16891"/>
                  </a:lnTo>
                  <a:lnTo>
                    <a:pt x="10745851" y="33909"/>
                  </a:lnTo>
                  <a:lnTo>
                    <a:pt x="16891" y="33909"/>
                  </a:lnTo>
                  <a:close/>
                </a:path>
              </a:pathLst>
            </a:custGeom>
            <a:solidFill>
              <a:srgbClr val="D0EEF0"/>
            </a:solidFill>
          </p:spPr>
        </p:sp>
      </p:grpSp>
      <p:grpSp>
        <p:nvGrpSpPr>
          <p:cNvPr name="Group 45" id="45"/>
          <p:cNvGrpSpPr/>
          <p:nvPr/>
        </p:nvGrpSpPr>
        <p:grpSpPr>
          <a:xfrm rot="0">
            <a:off x="8941557" y="3056668"/>
            <a:ext cx="1554480" cy="566928"/>
            <a:chOff x="0" y="0"/>
            <a:chExt cx="2072640" cy="755904"/>
          </a:xfrm>
        </p:grpSpPr>
        <p:sp>
          <p:nvSpPr>
            <p:cNvPr name="Freeform 46" id="46"/>
            <p:cNvSpPr/>
            <p:nvPr/>
          </p:nvSpPr>
          <p:spPr>
            <a:xfrm flipH="false" flipV="false" rot="0">
              <a:off x="0" y="0"/>
              <a:ext cx="2072640" cy="755904"/>
            </a:xfrm>
            <a:custGeom>
              <a:avLst/>
              <a:gdLst/>
              <a:ahLst/>
              <a:cxnLst/>
              <a:rect r="r" b="b" t="t" l="l"/>
              <a:pathLst>
                <a:path h="755904" w="2072640">
                  <a:moveTo>
                    <a:pt x="0" y="0"/>
                  </a:moveTo>
                  <a:lnTo>
                    <a:pt x="2072640" y="0"/>
                  </a:lnTo>
                  <a:lnTo>
                    <a:pt x="2072640" y="755904"/>
                  </a:lnTo>
                  <a:lnTo>
                    <a:pt x="0" y="755904"/>
                  </a:lnTo>
                  <a:close/>
                </a:path>
              </a:pathLst>
            </a:custGeom>
            <a:blipFill>
              <a:blip r:embed="rId2">
                <a:alphaModFix amt="0"/>
              </a:blip>
              <a:stretch>
                <a:fillRect l="0" t="-3426" r="0" b="-3426"/>
              </a:stretch>
            </a:blipFill>
          </p:spPr>
        </p:sp>
        <p:sp>
          <p:nvSpPr>
            <p:cNvPr name="TextBox 47" id="47"/>
            <p:cNvSpPr txBox="true"/>
            <p:nvPr/>
          </p:nvSpPr>
          <p:spPr>
            <a:xfrm>
              <a:off x="0" y="-9525"/>
              <a:ext cx="2072640" cy="765429"/>
            </a:xfrm>
            <a:prstGeom prst="rect">
              <a:avLst/>
            </a:prstGeom>
          </p:spPr>
          <p:txBody>
            <a:bodyPr anchor="ctr" rtlCol="false" tIns="0" lIns="0" bIns="0" rIns="0"/>
            <a:lstStyle/>
            <a:p>
              <a:pPr algn="l">
                <a:lnSpc>
                  <a:spcPts val="2400"/>
                </a:lnSpc>
              </a:pPr>
              <a:r>
                <a:rPr lang="en-US" sz="2000">
                  <a:solidFill>
                    <a:srgbClr val="0D1B2A"/>
                  </a:solidFill>
                  <a:latin typeface="Bree Serif"/>
                  <a:ea typeface="Bree Serif"/>
                  <a:cs typeface="Bree Serif"/>
                  <a:sym typeface="Bree Serif"/>
                </a:rPr>
                <a:t>Baseline</a:t>
              </a:r>
            </a:p>
          </p:txBody>
        </p:sp>
      </p:grpSp>
      <p:grpSp>
        <p:nvGrpSpPr>
          <p:cNvPr name="Group 48" id="48"/>
          <p:cNvGrpSpPr/>
          <p:nvPr/>
        </p:nvGrpSpPr>
        <p:grpSpPr>
          <a:xfrm rot="0">
            <a:off x="10587477" y="3056668"/>
            <a:ext cx="4663440" cy="566928"/>
            <a:chOff x="0" y="0"/>
            <a:chExt cx="6217920" cy="755904"/>
          </a:xfrm>
        </p:grpSpPr>
        <p:sp>
          <p:nvSpPr>
            <p:cNvPr name="Freeform 49" id="49"/>
            <p:cNvSpPr/>
            <p:nvPr/>
          </p:nvSpPr>
          <p:spPr>
            <a:xfrm flipH="false" flipV="false" rot="0">
              <a:off x="0" y="0"/>
              <a:ext cx="6217920" cy="755904"/>
            </a:xfrm>
            <a:custGeom>
              <a:avLst/>
              <a:gdLst/>
              <a:ahLst/>
              <a:cxnLst/>
              <a:rect r="r" b="b" t="t" l="l"/>
              <a:pathLst>
                <a:path h="755904" w="6217920">
                  <a:moveTo>
                    <a:pt x="0" y="0"/>
                  </a:moveTo>
                  <a:lnTo>
                    <a:pt x="6217920" y="0"/>
                  </a:lnTo>
                  <a:lnTo>
                    <a:pt x="6217920" y="755904"/>
                  </a:lnTo>
                  <a:lnTo>
                    <a:pt x="0" y="755904"/>
                  </a:lnTo>
                  <a:close/>
                </a:path>
              </a:pathLst>
            </a:custGeom>
            <a:blipFill>
              <a:blip r:embed="rId2">
                <a:alphaModFix amt="0"/>
              </a:blip>
              <a:stretch>
                <a:fillRect l="0" t="-110280" r="0" b="-110280"/>
              </a:stretch>
            </a:blipFill>
          </p:spPr>
        </p:sp>
        <p:sp>
          <p:nvSpPr>
            <p:cNvPr name="TextBox 50" id="50"/>
            <p:cNvSpPr txBox="true"/>
            <p:nvPr/>
          </p:nvSpPr>
          <p:spPr>
            <a:xfrm>
              <a:off x="0" y="0"/>
              <a:ext cx="6217920" cy="755904"/>
            </a:xfrm>
            <a:prstGeom prst="rect">
              <a:avLst/>
            </a:prstGeom>
          </p:spPr>
          <p:txBody>
            <a:bodyPr anchor="ctr" rtlCol="false" tIns="0" lIns="0" bIns="0" rIns="0"/>
            <a:lstStyle/>
            <a:p>
              <a:pPr algn="l">
                <a:lnSpc>
                  <a:spcPts val="2280"/>
                </a:lnSpc>
              </a:pPr>
              <a:r>
                <a:rPr lang="en-US" sz="1900">
                  <a:solidFill>
                    <a:srgbClr val="0D1B2A"/>
                  </a:solidFill>
                  <a:latin typeface="Bree Serif"/>
                  <a:ea typeface="Bree Serif"/>
                  <a:cs typeface="Bree Serif"/>
                  <a:sym typeface="Bree Serif"/>
                </a:rPr>
                <a:t>lr=1e-3, LSTM=64, return_seq=False</a:t>
              </a:r>
            </a:p>
          </p:txBody>
        </p:sp>
      </p:grpSp>
      <p:grpSp>
        <p:nvGrpSpPr>
          <p:cNvPr name="Group 51" id="51"/>
          <p:cNvGrpSpPr/>
          <p:nvPr/>
        </p:nvGrpSpPr>
        <p:grpSpPr>
          <a:xfrm rot="0">
            <a:off x="15287493" y="3056668"/>
            <a:ext cx="1554480" cy="566928"/>
            <a:chOff x="0" y="0"/>
            <a:chExt cx="2072640" cy="755904"/>
          </a:xfrm>
        </p:grpSpPr>
        <p:sp>
          <p:nvSpPr>
            <p:cNvPr name="Freeform 52" id="52"/>
            <p:cNvSpPr/>
            <p:nvPr/>
          </p:nvSpPr>
          <p:spPr>
            <a:xfrm flipH="false" flipV="false" rot="0">
              <a:off x="0" y="0"/>
              <a:ext cx="2072640" cy="755904"/>
            </a:xfrm>
            <a:custGeom>
              <a:avLst/>
              <a:gdLst/>
              <a:ahLst/>
              <a:cxnLst/>
              <a:rect r="r" b="b" t="t" l="l"/>
              <a:pathLst>
                <a:path h="755904" w="2072640">
                  <a:moveTo>
                    <a:pt x="0" y="0"/>
                  </a:moveTo>
                  <a:lnTo>
                    <a:pt x="2072640" y="0"/>
                  </a:lnTo>
                  <a:lnTo>
                    <a:pt x="2072640" y="755904"/>
                  </a:lnTo>
                  <a:lnTo>
                    <a:pt x="0" y="755904"/>
                  </a:lnTo>
                  <a:close/>
                </a:path>
              </a:pathLst>
            </a:custGeom>
            <a:blipFill>
              <a:blip r:embed="rId2">
                <a:alphaModFix amt="0"/>
              </a:blip>
              <a:stretch>
                <a:fillRect l="0" t="-3426" r="0" b="-3426"/>
              </a:stretch>
            </a:blipFill>
          </p:spPr>
        </p:sp>
        <p:sp>
          <p:nvSpPr>
            <p:cNvPr name="TextBox 53" id="53"/>
            <p:cNvSpPr txBox="true"/>
            <p:nvPr/>
          </p:nvSpPr>
          <p:spPr>
            <a:xfrm>
              <a:off x="0" y="0"/>
              <a:ext cx="2072640" cy="755904"/>
            </a:xfrm>
            <a:prstGeom prst="rect">
              <a:avLst/>
            </a:prstGeom>
          </p:spPr>
          <p:txBody>
            <a:bodyPr anchor="ctr" rtlCol="false" tIns="0" lIns="0" bIns="0" rIns="0"/>
            <a:lstStyle/>
            <a:p>
              <a:pPr algn="r">
                <a:lnSpc>
                  <a:spcPts val="2280"/>
                </a:lnSpc>
              </a:pPr>
              <a:r>
                <a:rPr lang="en-US" sz="1900">
                  <a:solidFill>
                    <a:srgbClr val="0D1B2A"/>
                  </a:solidFill>
                  <a:latin typeface="Bree Serif"/>
                  <a:ea typeface="Bree Serif"/>
                  <a:cs typeface="Bree Serif"/>
                  <a:sym typeface="Bree Serif"/>
                </a:rPr>
                <a:t>Reference</a:t>
              </a:r>
            </a:p>
          </p:txBody>
        </p:sp>
      </p:grpSp>
      <p:grpSp>
        <p:nvGrpSpPr>
          <p:cNvPr name="Group 54" id="54"/>
          <p:cNvGrpSpPr/>
          <p:nvPr/>
        </p:nvGrpSpPr>
        <p:grpSpPr>
          <a:xfrm rot="0">
            <a:off x="8837420" y="3702339"/>
            <a:ext cx="8072123" cy="665483"/>
            <a:chOff x="0" y="0"/>
            <a:chExt cx="10762831" cy="887311"/>
          </a:xfrm>
        </p:grpSpPr>
        <p:sp>
          <p:nvSpPr>
            <p:cNvPr name="Freeform 55" id="55"/>
            <p:cNvSpPr/>
            <p:nvPr/>
          </p:nvSpPr>
          <p:spPr>
            <a:xfrm flipH="false" flipV="false" rot="0">
              <a:off x="16891" y="16891"/>
              <a:ext cx="10728960" cy="853440"/>
            </a:xfrm>
            <a:custGeom>
              <a:avLst/>
              <a:gdLst/>
              <a:ahLst/>
              <a:cxnLst/>
              <a:rect r="r" b="b" t="t" l="l"/>
              <a:pathLst>
                <a:path h="853440" w="10728960">
                  <a:moveTo>
                    <a:pt x="0" y="0"/>
                  </a:moveTo>
                  <a:lnTo>
                    <a:pt x="10728960" y="0"/>
                  </a:lnTo>
                  <a:lnTo>
                    <a:pt x="10728960" y="853440"/>
                  </a:lnTo>
                  <a:lnTo>
                    <a:pt x="0" y="853440"/>
                  </a:lnTo>
                  <a:close/>
                </a:path>
              </a:pathLst>
            </a:custGeom>
            <a:solidFill>
              <a:srgbClr val="0D1B2A"/>
            </a:solidFill>
          </p:spPr>
        </p:sp>
        <p:sp>
          <p:nvSpPr>
            <p:cNvPr name="Freeform 56" id="56"/>
            <p:cNvSpPr/>
            <p:nvPr/>
          </p:nvSpPr>
          <p:spPr>
            <a:xfrm flipH="false" flipV="false" rot="0">
              <a:off x="0" y="0"/>
              <a:ext cx="10762742" cy="887224"/>
            </a:xfrm>
            <a:custGeom>
              <a:avLst/>
              <a:gdLst/>
              <a:ahLst/>
              <a:cxnLst/>
              <a:rect r="r" b="b" t="t" l="l"/>
              <a:pathLst>
                <a:path h="887224" w="10762742">
                  <a:moveTo>
                    <a:pt x="16891" y="0"/>
                  </a:moveTo>
                  <a:lnTo>
                    <a:pt x="10745851" y="0"/>
                  </a:lnTo>
                  <a:cubicBezTo>
                    <a:pt x="10755249" y="0"/>
                    <a:pt x="10762742" y="7620"/>
                    <a:pt x="10762742" y="16891"/>
                  </a:cubicBezTo>
                  <a:lnTo>
                    <a:pt x="10762742" y="870331"/>
                  </a:lnTo>
                  <a:cubicBezTo>
                    <a:pt x="10762742" y="879729"/>
                    <a:pt x="10755122" y="887222"/>
                    <a:pt x="10745851" y="887222"/>
                  </a:cubicBezTo>
                  <a:lnTo>
                    <a:pt x="16891" y="887222"/>
                  </a:lnTo>
                  <a:cubicBezTo>
                    <a:pt x="7620" y="887349"/>
                    <a:pt x="0" y="879729"/>
                    <a:pt x="0" y="870331"/>
                  </a:cubicBezTo>
                  <a:lnTo>
                    <a:pt x="0" y="16891"/>
                  </a:lnTo>
                  <a:cubicBezTo>
                    <a:pt x="0" y="7620"/>
                    <a:pt x="7620" y="0"/>
                    <a:pt x="16891" y="0"/>
                  </a:cubicBezTo>
                  <a:moveTo>
                    <a:pt x="16891" y="33909"/>
                  </a:moveTo>
                  <a:lnTo>
                    <a:pt x="16891" y="16891"/>
                  </a:lnTo>
                  <a:lnTo>
                    <a:pt x="33909" y="16891"/>
                  </a:lnTo>
                  <a:lnTo>
                    <a:pt x="33909" y="870331"/>
                  </a:lnTo>
                  <a:lnTo>
                    <a:pt x="16891" y="870331"/>
                  </a:lnTo>
                  <a:lnTo>
                    <a:pt x="16891" y="853440"/>
                  </a:lnTo>
                  <a:lnTo>
                    <a:pt x="10745851" y="853440"/>
                  </a:lnTo>
                  <a:lnTo>
                    <a:pt x="10745851" y="870331"/>
                  </a:lnTo>
                  <a:lnTo>
                    <a:pt x="10728960" y="870331"/>
                  </a:lnTo>
                  <a:lnTo>
                    <a:pt x="10728960" y="16891"/>
                  </a:lnTo>
                  <a:lnTo>
                    <a:pt x="10745851" y="16891"/>
                  </a:lnTo>
                  <a:lnTo>
                    <a:pt x="10745851" y="33909"/>
                  </a:lnTo>
                  <a:lnTo>
                    <a:pt x="16891" y="33909"/>
                  </a:lnTo>
                  <a:close/>
                </a:path>
              </a:pathLst>
            </a:custGeom>
            <a:solidFill>
              <a:srgbClr val="D0EEF0"/>
            </a:solidFill>
          </p:spPr>
        </p:sp>
      </p:grpSp>
      <p:grpSp>
        <p:nvGrpSpPr>
          <p:cNvPr name="Group 57" id="57"/>
          <p:cNvGrpSpPr/>
          <p:nvPr/>
        </p:nvGrpSpPr>
        <p:grpSpPr>
          <a:xfrm rot="0">
            <a:off x="8941557" y="3751612"/>
            <a:ext cx="1554480" cy="566928"/>
            <a:chOff x="0" y="0"/>
            <a:chExt cx="2072640" cy="755904"/>
          </a:xfrm>
        </p:grpSpPr>
        <p:sp>
          <p:nvSpPr>
            <p:cNvPr name="Freeform 58" id="58"/>
            <p:cNvSpPr/>
            <p:nvPr/>
          </p:nvSpPr>
          <p:spPr>
            <a:xfrm flipH="false" flipV="false" rot="0">
              <a:off x="0" y="0"/>
              <a:ext cx="2072640" cy="755904"/>
            </a:xfrm>
            <a:custGeom>
              <a:avLst/>
              <a:gdLst/>
              <a:ahLst/>
              <a:cxnLst/>
              <a:rect r="r" b="b" t="t" l="l"/>
              <a:pathLst>
                <a:path h="755904" w="2072640">
                  <a:moveTo>
                    <a:pt x="0" y="0"/>
                  </a:moveTo>
                  <a:lnTo>
                    <a:pt x="2072640" y="0"/>
                  </a:lnTo>
                  <a:lnTo>
                    <a:pt x="2072640" y="755904"/>
                  </a:lnTo>
                  <a:lnTo>
                    <a:pt x="0" y="755904"/>
                  </a:lnTo>
                  <a:close/>
                </a:path>
              </a:pathLst>
            </a:custGeom>
            <a:blipFill>
              <a:blip r:embed="rId2">
                <a:alphaModFix amt="0"/>
              </a:blip>
              <a:stretch>
                <a:fillRect l="0" t="-3426" r="0" b="-3426"/>
              </a:stretch>
            </a:blipFill>
          </p:spPr>
        </p:sp>
        <p:sp>
          <p:nvSpPr>
            <p:cNvPr name="TextBox 59" id="59"/>
            <p:cNvSpPr txBox="true"/>
            <p:nvPr/>
          </p:nvSpPr>
          <p:spPr>
            <a:xfrm>
              <a:off x="0" y="-9525"/>
              <a:ext cx="2072640" cy="765429"/>
            </a:xfrm>
            <a:prstGeom prst="rect">
              <a:avLst/>
            </a:prstGeom>
          </p:spPr>
          <p:txBody>
            <a:bodyPr anchor="ctr" rtlCol="false" tIns="0" lIns="0" bIns="0" rIns="0"/>
            <a:lstStyle/>
            <a:p>
              <a:pPr algn="l">
                <a:lnSpc>
                  <a:spcPts val="2400"/>
                </a:lnSpc>
              </a:pPr>
              <a:r>
                <a:rPr lang="en-US" sz="2000">
                  <a:solidFill>
                    <a:srgbClr val="FFFFFF"/>
                  </a:solidFill>
                  <a:latin typeface="Bree Serif"/>
                  <a:ea typeface="Bree Serif"/>
                  <a:cs typeface="Bree Serif"/>
                  <a:sym typeface="Bree Serif"/>
                </a:rPr>
                <a:t>FT-1 ★</a:t>
              </a:r>
            </a:p>
          </p:txBody>
        </p:sp>
      </p:grpSp>
      <p:grpSp>
        <p:nvGrpSpPr>
          <p:cNvPr name="Group 60" id="60"/>
          <p:cNvGrpSpPr/>
          <p:nvPr/>
        </p:nvGrpSpPr>
        <p:grpSpPr>
          <a:xfrm rot="0">
            <a:off x="10587477" y="3751612"/>
            <a:ext cx="4663440" cy="566928"/>
            <a:chOff x="0" y="0"/>
            <a:chExt cx="6217920" cy="755904"/>
          </a:xfrm>
        </p:grpSpPr>
        <p:sp>
          <p:nvSpPr>
            <p:cNvPr name="Freeform 61" id="61"/>
            <p:cNvSpPr/>
            <p:nvPr/>
          </p:nvSpPr>
          <p:spPr>
            <a:xfrm flipH="false" flipV="false" rot="0">
              <a:off x="0" y="0"/>
              <a:ext cx="6217920" cy="755904"/>
            </a:xfrm>
            <a:custGeom>
              <a:avLst/>
              <a:gdLst/>
              <a:ahLst/>
              <a:cxnLst/>
              <a:rect r="r" b="b" t="t" l="l"/>
              <a:pathLst>
                <a:path h="755904" w="6217920">
                  <a:moveTo>
                    <a:pt x="0" y="0"/>
                  </a:moveTo>
                  <a:lnTo>
                    <a:pt x="6217920" y="0"/>
                  </a:lnTo>
                  <a:lnTo>
                    <a:pt x="6217920" y="755904"/>
                  </a:lnTo>
                  <a:lnTo>
                    <a:pt x="0" y="755904"/>
                  </a:lnTo>
                  <a:close/>
                </a:path>
              </a:pathLst>
            </a:custGeom>
            <a:blipFill>
              <a:blip r:embed="rId2">
                <a:alphaModFix amt="0"/>
              </a:blip>
              <a:stretch>
                <a:fillRect l="0" t="-110280" r="0" b="-110280"/>
              </a:stretch>
            </a:blipFill>
          </p:spPr>
        </p:sp>
        <p:sp>
          <p:nvSpPr>
            <p:cNvPr name="TextBox 62" id="62"/>
            <p:cNvSpPr txBox="true"/>
            <p:nvPr/>
          </p:nvSpPr>
          <p:spPr>
            <a:xfrm>
              <a:off x="0" y="0"/>
              <a:ext cx="6217920" cy="755904"/>
            </a:xfrm>
            <a:prstGeom prst="rect">
              <a:avLst/>
            </a:prstGeom>
          </p:spPr>
          <p:txBody>
            <a:bodyPr anchor="ctr" rtlCol="false" tIns="0" lIns="0" bIns="0" rIns="0"/>
            <a:lstStyle/>
            <a:p>
              <a:pPr algn="l">
                <a:lnSpc>
                  <a:spcPts val="2280"/>
                </a:lnSpc>
              </a:pPr>
              <a:r>
                <a:rPr lang="en-US" sz="1900">
                  <a:solidFill>
                    <a:srgbClr val="FFFFFF"/>
                  </a:solidFill>
                  <a:latin typeface="Bree Serif"/>
                  <a:ea typeface="Bree Serif"/>
                  <a:cs typeface="Bree Serif"/>
                  <a:sym typeface="Bree Serif"/>
                </a:rPr>
                <a:t>lr=1e-4, LSTM=32, dropout↑</a:t>
              </a:r>
            </a:p>
          </p:txBody>
        </p:sp>
      </p:grpSp>
      <p:grpSp>
        <p:nvGrpSpPr>
          <p:cNvPr name="Group 63" id="63"/>
          <p:cNvGrpSpPr/>
          <p:nvPr/>
        </p:nvGrpSpPr>
        <p:grpSpPr>
          <a:xfrm rot="0">
            <a:off x="15287493" y="3751612"/>
            <a:ext cx="1554480" cy="566928"/>
            <a:chOff x="0" y="0"/>
            <a:chExt cx="2072640" cy="755904"/>
          </a:xfrm>
        </p:grpSpPr>
        <p:sp>
          <p:nvSpPr>
            <p:cNvPr name="Freeform 64" id="64"/>
            <p:cNvSpPr/>
            <p:nvPr/>
          </p:nvSpPr>
          <p:spPr>
            <a:xfrm flipH="false" flipV="false" rot="0">
              <a:off x="0" y="0"/>
              <a:ext cx="2072640" cy="755904"/>
            </a:xfrm>
            <a:custGeom>
              <a:avLst/>
              <a:gdLst/>
              <a:ahLst/>
              <a:cxnLst/>
              <a:rect r="r" b="b" t="t" l="l"/>
              <a:pathLst>
                <a:path h="755904" w="2072640">
                  <a:moveTo>
                    <a:pt x="0" y="0"/>
                  </a:moveTo>
                  <a:lnTo>
                    <a:pt x="2072640" y="0"/>
                  </a:lnTo>
                  <a:lnTo>
                    <a:pt x="2072640" y="755904"/>
                  </a:lnTo>
                  <a:lnTo>
                    <a:pt x="0" y="755904"/>
                  </a:lnTo>
                  <a:close/>
                </a:path>
              </a:pathLst>
            </a:custGeom>
            <a:blipFill>
              <a:blip r:embed="rId2">
                <a:alphaModFix amt="0"/>
              </a:blip>
              <a:stretch>
                <a:fillRect l="0" t="-3426" r="0" b="-3426"/>
              </a:stretch>
            </a:blipFill>
          </p:spPr>
        </p:sp>
        <p:sp>
          <p:nvSpPr>
            <p:cNvPr name="TextBox 65" id="65"/>
            <p:cNvSpPr txBox="true"/>
            <p:nvPr/>
          </p:nvSpPr>
          <p:spPr>
            <a:xfrm>
              <a:off x="0" y="0"/>
              <a:ext cx="2072640" cy="755904"/>
            </a:xfrm>
            <a:prstGeom prst="rect">
              <a:avLst/>
            </a:prstGeom>
          </p:spPr>
          <p:txBody>
            <a:bodyPr anchor="ctr" rtlCol="false" tIns="0" lIns="0" bIns="0" rIns="0"/>
            <a:lstStyle/>
            <a:p>
              <a:pPr algn="r">
                <a:lnSpc>
                  <a:spcPts val="2280"/>
                </a:lnSpc>
              </a:pPr>
              <a:r>
                <a:rPr lang="en-US" sz="1900">
                  <a:solidFill>
                    <a:srgbClr val="02C39A"/>
                  </a:solidFill>
                  <a:latin typeface="Bree Serif"/>
                  <a:ea typeface="Bree Serif"/>
                  <a:cs typeface="Bree Serif"/>
                  <a:sym typeface="Bree Serif"/>
                </a:rPr>
                <a:t>Best DL</a:t>
              </a:r>
            </a:p>
          </p:txBody>
        </p:sp>
      </p:grpSp>
      <p:grpSp>
        <p:nvGrpSpPr>
          <p:cNvPr name="Group 66" id="66"/>
          <p:cNvGrpSpPr/>
          <p:nvPr/>
        </p:nvGrpSpPr>
        <p:grpSpPr>
          <a:xfrm rot="0">
            <a:off x="8837420" y="4397283"/>
            <a:ext cx="8072123" cy="665483"/>
            <a:chOff x="0" y="0"/>
            <a:chExt cx="10762831" cy="887311"/>
          </a:xfrm>
        </p:grpSpPr>
        <p:sp>
          <p:nvSpPr>
            <p:cNvPr name="Freeform 67" id="67"/>
            <p:cNvSpPr/>
            <p:nvPr/>
          </p:nvSpPr>
          <p:spPr>
            <a:xfrm flipH="false" flipV="false" rot="0">
              <a:off x="16891" y="16891"/>
              <a:ext cx="10728960" cy="853440"/>
            </a:xfrm>
            <a:custGeom>
              <a:avLst/>
              <a:gdLst/>
              <a:ahLst/>
              <a:cxnLst/>
              <a:rect r="r" b="b" t="t" l="l"/>
              <a:pathLst>
                <a:path h="853440" w="10728960">
                  <a:moveTo>
                    <a:pt x="0" y="0"/>
                  </a:moveTo>
                  <a:lnTo>
                    <a:pt x="10728960" y="0"/>
                  </a:lnTo>
                  <a:lnTo>
                    <a:pt x="10728960" y="853440"/>
                  </a:lnTo>
                  <a:lnTo>
                    <a:pt x="0" y="853440"/>
                  </a:lnTo>
                  <a:close/>
                </a:path>
              </a:pathLst>
            </a:custGeom>
            <a:solidFill>
              <a:srgbClr val="E8F4F6"/>
            </a:solidFill>
          </p:spPr>
        </p:sp>
        <p:sp>
          <p:nvSpPr>
            <p:cNvPr name="Freeform 68" id="68"/>
            <p:cNvSpPr/>
            <p:nvPr/>
          </p:nvSpPr>
          <p:spPr>
            <a:xfrm flipH="false" flipV="false" rot="0">
              <a:off x="0" y="0"/>
              <a:ext cx="10762742" cy="887224"/>
            </a:xfrm>
            <a:custGeom>
              <a:avLst/>
              <a:gdLst/>
              <a:ahLst/>
              <a:cxnLst/>
              <a:rect r="r" b="b" t="t" l="l"/>
              <a:pathLst>
                <a:path h="887224" w="10762742">
                  <a:moveTo>
                    <a:pt x="16891" y="0"/>
                  </a:moveTo>
                  <a:lnTo>
                    <a:pt x="10745851" y="0"/>
                  </a:lnTo>
                  <a:cubicBezTo>
                    <a:pt x="10755249" y="0"/>
                    <a:pt x="10762742" y="7620"/>
                    <a:pt x="10762742" y="16891"/>
                  </a:cubicBezTo>
                  <a:lnTo>
                    <a:pt x="10762742" y="870331"/>
                  </a:lnTo>
                  <a:cubicBezTo>
                    <a:pt x="10762742" y="879729"/>
                    <a:pt x="10755122" y="887222"/>
                    <a:pt x="10745851" y="887222"/>
                  </a:cubicBezTo>
                  <a:lnTo>
                    <a:pt x="16891" y="887222"/>
                  </a:lnTo>
                  <a:cubicBezTo>
                    <a:pt x="7620" y="887349"/>
                    <a:pt x="0" y="879729"/>
                    <a:pt x="0" y="870331"/>
                  </a:cubicBezTo>
                  <a:lnTo>
                    <a:pt x="0" y="16891"/>
                  </a:lnTo>
                  <a:cubicBezTo>
                    <a:pt x="0" y="7620"/>
                    <a:pt x="7620" y="0"/>
                    <a:pt x="16891" y="0"/>
                  </a:cubicBezTo>
                  <a:moveTo>
                    <a:pt x="16891" y="33909"/>
                  </a:moveTo>
                  <a:lnTo>
                    <a:pt x="16891" y="16891"/>
                  </a:lnTo>
                  <a:lnTo>
                    <a:pt x="33909" y="16891"/>
                  </a:lnTo>
                  <a:lnTo>
                    <a:pt x="33909" y="870331"/>
                  </a:lnTo>
                  <a:lnTo>
                    <a:pt x="16891" y="870331"/>
                  </a:lnTo>
                  <a:lnTo>
                    <a:pt x="16891" y="853440"/>
                  </a:lnTo>
                  <a:lnTo>
                    <a:pt x="10745851" y="853440"/>
                  </a:lnTo>
                  <a:lnTo>
                    <a:pt x="10745851" y="870331"/>
                  </a:lnTo>
                  <a:lnTo>
                    <a:pt x="10728960" y="870331"/>
                  </a:lnTo>
                  <a:lnTo>
                    <a:pt x="10728960" y="16891"/>
                  </a:lnTo>
                  <a:lnTo>
                    <a:pt x="10745851" y="16891"/>
                  </a:lnTo>
                  <a:lnTo>
                    <a:pt x="10745851" y="33909"/>
                  </a:lnTo>
                  <a:lnTo>
                    <a:pt x="16891" y="33909"/>
                  </a:lnTo>
                  <a:close/>
                </a:path>
              </a:pathLst>
            </a:custGeom>
            <a:solidFill>
              <a:srgbClr val="D0EEF0"/>
            </a:solidFill>
          </p:spPr>
        </p:sp>
      </p:grpSp>
      <p:grpSp>
        <p:nvGrpSpPr>
          <p:cNvPr name="Group 69" id="69"/>
          <p:cNvGrpSpPr/>
          <p:nvPr/>
        </p:nvGrpSpPr>
        <p:grpSpPr>
          <a:xfrm rot="0">
            <a:off x="8941557" y="4446556"/>
            <a:ext cx="1554480" cy="566928"/>
            <a:chOff x="0" y="0"/>
            <a:chExt cx="2072640" cy="755904"/>
          </a:xfrm>
        </p:grpSpPr>
        <p:sp>
          <p:nvSpPr>
            <p:cNvPr name="Freeform 70" id="70"/>
            <p:cNvSpPr/>
            <p:nvPr/>
          </p:nvSpPr>
          <p:spPr>
            <a:xfrm flipH="false" flipV="false" rot="0">
              <a:off x="0" y="0"/>
              <a:ext cx="2072640" cy="755904"/>
            </a:xfrm>
            <a:custGeom>
              <a:avLst/>
              <a:gdLst/>
              <a:ahLst/>
              <a:cxnLst/>
              <a:rect r="r" b="b" t="t" l="l"/>
              <a:pathLst>
                <a:path h="755904" w="2072640">
                  <a:moveTo>
                    <a:pt x="0" y="0"/>
                  </a:moveTo>
                  <a:lnTo>
                    <a:pt x="2072640" y="0"/>
                  </a:lnTo>
                  <a:lnTo>
                    <a:pt x="2072640" y="755904"/>
                  </a:lnTo>
                  <a:lnTo>
                    <a:pt x="0" y="755904"/>
                  </a:lnTo>
                  <a:close/>
                </a:path>
              </a:pathLst>
            </a:custGeom>
            <a:blipFill>
              <a:blip r:embed="rId2">
                <a:alphaModFix amt="0"/>
              </a:blip>
              <a:stretch>
                <a:fillRect l="0" t="-3426" r="0" b="-3426"/>
              </a:stretch>
            </a:blipFill>
          </p:spPr>
        </p:sp>
        <p:sp>
          <p:nvSpPr>
            <p:cNvPr name="TextBox 71" id="71"/>
            <p:cNvSpPr txBox="true"/>
            <p:nvPr/>
          </p:nvSpPr>
          <p:spPr>
            <a:xfrm>
              <a:off x="0" y="-9525"/>
              <a:ext cx="2072640" cy="765429"/>
            </a:xfrm>
            <a:prstGeom prst="rect">
              <a:avLst/>
            </a:prstGeom>
          </p:spPr>
          <p:txBody>
            <a:bodyPr anchor="ctr" rtlCol="false" tIns="0" lIns="0" bIns="0" rIns="0"/>
            <a:lstStyle/>
            <a:p>
              <a:pPr algn="l">
                <a:lnSpc>
                  <a:spcPts val="2400"/>
                </a:lnSpc>
              </a:pPr>
              <a:r>
                <a:rPr lang="en-US" sz="2000">
                  <a:solidFill>
                    <a:srgbClr val="0D1B2A"/>
                  </a:solidFill>
                  <a:latin typeface="Bree Serif"/>
                  <a:ea typeface="Bree Serif"/>
                  <a:cs typeface="Bree Serif"/>
                  <a:sym typeface="Bree Serif"/>
                </a:rPr>
                <a:t>FT-2</a:t>
              </a:r>
            </a:p>
          </p:txBody>
        </p:sp>
      </p:grpSp>
      <p:grpSp>
        <p:nvGrpSpPr>
          <p:cNvPr name="Group 72" id="72"/>
          <p:cNvGrpSpPr/>
          <p:nvPr/>
        </p:nvGrpSpPr>
        <p:grpSpPr>
          <a:xfrm rot="0">
            <a:off x="10587477" y="4446556"/>
            <a:ext cx="4663440" cy="566928"/>
            <a:chOff x="0" y="0"/>
            <a:chExt cx="6217920" cy="755904"/>
          </a:xfrm>
        </p:grpSpPr>
        <p:sp>
          <p:nvSpPr>
            <p:cNvPr name="Freeform 73" id="73"/>
            <p:cNvSpPr/>
            <p:nvPr/>
          </p:nvSpPr>
          <p:spPr>
            <a:xfrm flipH="false" flipV="false" rot="0">
              <a:off x="0" y="0"/>
              <a:ext cx="6217920" cy="755904"/>
            </a:xfrm>
            <a:custGeom>
              <a:avLst/>
              <a:gdLst/>
              <a:ahLst/>
              <a:cxnLst/>
              <a:rect r="r" b="b" t="t" l="l"/>
              <a:pathLst>
                <a:path h="755904" w="6217920">
                  <a:moveTo>
                    <a:pt x="0" y="0"/>
                  </a:moveTo>
                  <a:lnTo>
                    <a:pt x="6217920" y="0"/>
                  </a:lnTo>
                  <a:lnTo>
                    <a:pt x="6217920" y="755904"/>
                  </a:lnTo>
                  <a:lnTo>
                    <a:pt x="0" y="755904"/>
                  </a:lnTo>
                  <a:close/>
                </a:path>
              </a:pathLst>
            </a:custGeom>
            <a:blipFill>
              <a:blip r:embed="rId2">
                <a:alphaModFix amt="0"/>
              </a:blip>
              <a:stretch>
                <a:fillRect l="0" t="-110280" r="0" b="-110280"/>
              </a:stretch>
            </a:blipFill>
          </p:spPr>
        </p:sp>
        <p:sp>
          <p:nvSpPr>
            <p:cNvPr name="TextBox 74" id="74"/>
            <p:cNvSpPr txBox="true"/>
            <p:nvPr/>
          </p:nvSpPr>
          <p:spPr>
            <a:xfrm>
              <a:off x="0" y="0"/>
              <a:ext cx="6217920" cy="755904"/>
            </a:xfrm>
            <a:prstGeom prst="rect">
              <a:avLst/>
            </a:prstGeom>
          </p:spPr>
          <p:txBody>
            <a:bodyPr anchor="ctr" rtlCol="false" tIns="0" lIns="0" bIns="0" rIns="0"/>
            <a:lstStyle/>
            <a:p>
              <a:pPr algn="l">
                <a:lnSpc>
                  <a:spcPts val="2280"/>
                </a:lnSpc>
              </a:pPr>
              <a:r>
                <a:rPr lang="en-US" sz="1900">
                  <a:solidFill>
                    <a:srgbClr val="0D1B2A"/>
                  </a:solidFill>
                  <a:latin typeface="Bree Serif"/>
                  <a:ea typeface="Bree Serif"/>
                  <a:cs typeface="Bree Serif"/>
                  <a:sym typeface="Bree Serif"/>
                </a:rPr>
                <a:t>return_seq=True + GlobalMaxPool</a:t>
              </a:r>
            </a:p>
          </p:txBody>
        </p:sp>
      </p:grpSp>
      <p:grpSp>
        <p:nvGrpSpPr>
          <p:cNvPr name="Group 75" id="75"/>
          <p:cNvGrpSpPr/>
          <p:nvPr/>
        </p:nvGrpSpPr>
        <p:grpSpPr>
          <a:xfrm rot="0">
            <a:off x="15287493" y="4446556"/>
            <a:ext cx="1554480" cy="566928"/>
            <a:chOff x="0" y="0"/>
            <a:chExt cx="2072640" cy="755904"/>
          </a:xfrm>
        </p:grpSpPr>
        <p:sp>
          <p:nvSpPr>
            <p:cNvPr name="Freeform 76" id="76"/>
            <p:cNvSpPr/>
            <p:nvPr/>
          </p:nvSpPr>
          <p:spPr>
            <a:xfrm flipH="false" flipV="false" rot="0">
              <a:off x="0" y="0"/>
              <a:ext cx="2072640" cy="755904"/>
            </a:xfrm>
            <a:custGeom>
              <a:avLst/>
              <a:gdLst/>
              <a:ahLst/>
              <a:cxnLst/>
              <a:rect r="r" b="b" t="t" l="l"/>
              <a:pathLst>
                <a:path h="755904" w="2072640">
                  <a:moveTo>
                    <a:pt x="0" y="0"/>
                  </a:moveTo>
                  <a:lnTo>
                    <a:pt x="2072640" y="0"/>
                  </a:lnTo>
                  <a:lnTo>
                    <a:pt x="2072640" y="755904"/>
                  </a:lnTo>
                  <a:lnTo>
                    <a:pt x="0" y="755904"/>
                  </a:lnTo>
                  <a:close/>
                </a:path>
              </a:pathLst>
            </a:custGeom>
            <a:blipFill>
              <a:blip r:embed="rId2">
                <a:alphaModFix amt="0"/>
              </a:blip>
              <a:stretch>
                <a:fillRect l="0" t="-3426" r="0" b="-3426"/>
              </a:stretch>
            </a:blipFill>
          </p:spPr>
        </p:sp>
        <p:sp>
          <p:nvSpPr>
            <p:cNvPr name="TextBox 77" id="77"/>
            <p:cNvSpPr txBox="true"/>
            <p:nvPr/>
          </p:nvSpPr>
          <p:spPr>
            <a:xfrm>
              <a:off x="0" y="0"/>
              <a:ext cx="2072640" cy="755904"/>
            </a:xfrm>
            <a:prstGeom prst="rect">
              <a:avLst/>
            </a:prstGeom>
          </p:spPr>
          <p:txBody>
            <a:bodyPr anchor="ctr" rtlCol="false" tIns="0" lIns="0" bIns="0" rIns="0"/>
            <a:lstStyle/>
            <a:p>
              <a:pPr algn="r">
                <a:lnSpc>
                  <a:spcPts val="2280"/>
                </a:lnSpc>
              </a:pPr>
              <a:r>
                <a:rPr lang="en-US" sz="1900">
                  <a:solidFill>
                    <a:srgbClr val="0D1B2A"/>
                  </a:solidFill>
                  <a:latin typeface="Bree Serif"/>
                  <a:ea typeface="Bree Serif"/>
                  <a:cs typeface="Bree Serif"/>
                  <a:sym typeface="Bree Serif"/>
                </a:rPr>
                <a:t>Improved</a:t>
              </a:r>
            </a:p>
          </p:txBody>
        </p:sp>
      </p:grpSp>
      <p:grpSp>
        <p:nvGrpSpPr>
          <p:cNvPr name="Group 78" id="78"/>
          <p:cNvGrpSpPr/>
          <p:nvPr/>
        </p:nvGrpSpPr>
        <p:grpSpPr>
          <a:xfrm rot="0">
            <a:off x="150620" y="6116355"/>
            <a:ext cx="8255003" cy="3536699"/>
            <a:chOff x="0" y="0"/>
            <a:chExt cx="11006671" cy="4715599"/>
          </a:xfrm>
        </p:grpSpPr>
        <p:sp>
          <p:nvSpPr>
            <p:cNvPr name="Freeform 79" id="79"/>
            <p:cNvSpPr/>
            <p:nvPr/>
          </p:nvSpPr>
          <p:spPr>
            <a:xfrm flipH="false" flipV="false" rot="0">
              <a:off x="16891" y="16891"/>
              <a:ext cx="10972800" cy="4681728"/>
            </a:xfrm>
            <a:custGeom>
              <a:avLst/>
              <a:gdLst/>
              <a:ahLst/>
              <a:cxnLst/>
              <a:rect r="r" b="b" t="t" l="l"/>
              <a:pathLst>
                <a:path h="4681728" w="10972800">
                  <a:moveTo>
                    <a:pt x="0" y="0"/>
                  </a:moveTo>
                  <a:lnTo>
                    <a:pt x="10972800" y="0"/>
                  </a:lnTo>
                  <a:lnTo>
                    <a:pt x="10972800" y="4681728"/>
                  </a:lnTo>
                  <a:lnTo>
                    <a:pt x="0" y="4681728"/>
                  </a:lnTo>
                  <a:close/>
                </a:path>
              </a:pathLst>
            </a:custGeom>
            <a:solidFill>
              <a:srgbClr val="FFFFFF"/>
            </a:solidFill>
          </p:spPr>
        </p:sp>
        <p:sp>
          <p:nvSpPr>
            <p:cNvPr name="Freeform 80" id="80"/>
            <p:cNvSpPr/>
            <p:nvPr/>
          </p:nvSpPr>
          <p:spPr>
            <a:xfrm flipH="false" flipV="false" rot="0">
              <a:off x="0" y="0"/>
              <a:ext cx="11006582" cy="4715510"/>
            </a:xfrm>
            <a:custGeom>
              <a:avLst/>
              <a:gdLst/>
              <a:ahLst/>
              <a:cxnLst/>
              <a:rect r="r" b="b" t="t" l="l"/>
              <a:pathLst>
                <a:path h="4715510" w="11006582">
                  <a:moveTo>
                    <a:pt x="16891" y="0"/>
                  </a:moveTo>
                  <a:lnTo>
                    <a:pt x="10989691" y="0"/>
                  </a:lnTo>
                  <a:cubicBezTo>
                    <a:pt x="10999089" y="0"/>
                    <a:pt x="11006582" y="7620"/>
                    <a:pt x="11006582" y="16891"/>
                  </a:cubicBezTo>
                  <a:lnTo>
                    <a:pt x="11006582" y="4698619"/>
                  </a:lnTo>
                  <a:cubicBezTo>
                    <a:pt x="11006582" y="4708017"/>
                    <a:pt x="10998962" y="4715510"/>
                    <a:pt x="10989691" y="4715510"/>
                  </a:cubicBezTo>
                  <a:lnTo>
                    <a:pt x="16891" y="4715510"/>
                  </a:lnTo>
                  <a:cubicBezTo>
                    <a:pt x="7493" y="4715510"/>
                    <a:pt x="0" y="4707890"/>
                    <a:pt x="0" y="4698619"/>
                  </a:cubicBezTo>
                  <a:lnTo>
                    <a:pt x="0" y="16891"/>
                  </a:lnTo>
                  <a:cubicBezTo>
                    <a:pt x="0" y="7620"/>
                    <a:pt x="7620" y="0"/>
                    <a:pt x="16891" y="0"/>
                  </a:cubicBezTo>
                  <a:moveTo>
                    <a:pt x="16891" y="33909"/>
                  </a:moveTo>
                  <a:lnTo>
                    <a:pt x="16891" y="16891"/>
                  </a:lnTo>
                  <a:lnTo>
                    <a:pt x="33909" y="16891"/>
                  </a:lnTo>
                  <a:lnTo>
                    <a:pt x="33909" y="4698619"/>
                  </a:lnTo>
                  <a:lnTo>
                    <a:pt x="16891" y="4698619"/>
                  </a:lnTo>
                  <a:lnTo>
                    <a:pt x="16891" y="4681728"/>
                  </a:lnTo>
                  <a:lnTo>
                    <a:pt x="10989691" y="4681728"/>
                  </a:lnTo>
                  <a:lnTo>
                    <a:pt x="10989691" y="4698619"/>
                  </a:lnTo>
                  <a:lnTo>
                    <a:pt x="10972800" y="4698619"/>
                  </a:lnTo>
                  <a:lnTo>
                    <a:pt x="10972800" y="16891"/>
                  </a:lnTo>
                  <a:lnTo>
                    <a:pt x="10989691" y="16891"/>
                  </a:lnTo>
                  <a:lnTo>
                    <a:pt x="10989691" y="33909"/>
                  </a:lnTo>
                  <a:lnTo>
                    <a:pt x="16891" y="33909"/>
                  </a:lnTo>
                  <a:close/>
                </a:path>
              </a:pathLst>
            </a:custGeom>
            <a:solidFill>
              <a:srgbClr val="D8E8EB"/>
            </a:solidFill>
          </p:spPr>
        </p:sp>
      </p:grpSp>
      <p:grpSp>
        <p:nvGrpSpPr>
          <p:cNvPr name="Group 81" id="81"/>
          <p:cNvGrpSpPr/>
          <p:nvPr/>
        </p:nvGrpSpPr>
        <p:grpSpPr>
          <a:xfrm rot="0">
            <a:off x="437637" y="6275356"/>
            <a:ext cx="7680960" cy="640080"/>
            <a:chOff x="0" y="0"/>
            <a:chExt cx="10241280" cy="853440"/>
          </a:xfrm>
        </p:grpSpPr>
        <p:sp>
          <p:nvSpPr>
            <p:cNvPr name="Freeform 82" id="82"/>
            <p:cNvSpPr/>
            <p:nvPr/>
          </p:nvSpPr>
          <p:spPr>
            <a:xfrm flipH="false" flipV="false" rot="0">
              <a:off x="0" y="0"/>
              <a:ext cx="10241280" cy="853440"/>
            </a:xfrm>
            <a:custGeom>
              <a:avLst/>
              <a:gdLst/>
              <a:ahLst/>
              <a:cxnLst/>
              <a:rect r="r" b="b" t="t" l="l"/>
              <a:pathLst>
                <a:path h="853440" w="10241280">
                  <a:moveTo>
                    <a:pt x="0" y="0"/>
                  </a:moveTo>
                  <a:lnTo>
                    <a:pt x="10241280" y="0"/>
                  </a:lnTo>
                  <a:lnTo>
                    <a:pt x="10241280" y="853440"/>
                  </a:lnTo>
                  <a:lnTo>
                    <a:pt x="0" y="853440"/>
                  </a:lnTo>
                  <a:close/>
                </a:path>
              </a:pathLst>
            </a:custGeom>
            <a:blipFill>
              <a:blip r:embed="rId2">
                <a:alphaModFix amt="0"/>
              </a:blip>
              <a:stretch>
                <a:fillRect l="0" t="-183820" r="0" b="-183820"/>
              </a:stretch>
            </a:blipFill>
          </p:spPr>
        </p:sp>
        <p:sp>
          <p:nvSpPr>
            <p:cNvPr name="TextBox 83" id="83"/>
            <p:cNvSpPr txBox="true"/>
            <p:nvPr/>
          </p:nvSpPr>
          <p:spPr>
            <a:xfrm>
              <a:off x="0" y="9525"/>
              <a:ext cx="10241280" cy="843915"/>
            </a:xfrm>
            <a:prstGeom prst="rect">
              <a:avLst/>
            </a:prstGeom>
          </p:spPr>
          <p:txBody>
            <a:bodyPr anchor="ctr" rtlCol="false" tIns="0" lIns="0" bIns="0" rIns="0"/>
            <a:lstStyle/>
            <a:p>
              <a:pPr algn="l">
                <a:lnSpc>
                  <a:spcPts val="2999"/>
                </a:lnSpc>
              </a:pPr>
              <a:r>
                <a:rPr lang="en-US" sz="2499">
                  <a:solidFill>
                    <a:srgbClr val="0D1B2A"/>
                  </a:solidFill>
                  <a:latin typeface="Bree Serif"/>
                  <a:ea typeface="Bree Serif"/>
                  <a:cs typeface="Bree Serif"/>
                  <a:sym typeface="Bree Serif"/>
                </a:rPr>
                <a:t>Hyperparameter Tuning  LR (best config)</a:t>
              </a:r>
            </a:p>
          </p:txBody>
        </p:sp>
      </p:grpSp>
      <p:grpSp>
        <p:nvGrpSpPr>
          <p:cNvPr name="Group 84" id="84"/>
          <p:cNvGrpSpPr/>
          <p:nvPr/>
        </p:nvGrpSpPr>
        <p:grpSpPr>
          <a:xfrm rot="0">
            <a:off x="437637" y="7006876"/>
            <a:ext cx="3657600" cy="409804"/>
            <a:chOff x="0" y="0"/>
            <a:chExt cx="4876800" cy="546405"/>
          </a:xfrm>
        </p:grpSpPr>
        <p:sp>
          <p:nvSpPr>
            <p:cNvPr name="Freeform 85" id="85"/>
            <p:cNvSpPr/>
            <p:nvPr/>
          </p:nvSpPr>
          <p:spPr>
            <a:xfrm flipH="false" flipV="false" rot="0">
              <a:off x="0" y="0"/>
              <a:ext cx="4876800" cy="546405"/>
            </a:xfrm>
            <a:custGeom>
              <a:avLst/>
              <a:gdLst/>
              <a:ahLst/>
              <a:cxnLst/>
              <a:rect r="r" b="b" t="t" l="l"/>
              <a:pathLst>
                <a:path h="546405" w="4876800">
                  <a:moveTo>
                    <a:pt x="0" y="0"/>
                  </a:moveTo>
                  <a:lnTo>
                    <a:pt x="4876800" y="0"/>
                  </a:lnTo>
                  <a:lnTo>
                    <a:pt x="4876800" y="546405"/>
                  </a:lnTo>
                  <a:lnTo>
                    <a:pt x="0" y="546405"/>
                  </a:lnTo>
                  <a:close/>
                </a:path>
              </a:pathLst>
            </a:custGeom>
            <a:blipFill>
              <a:blip r:embed="rId2">
                <a:alphaModFix amt="0"/>
              </a:blip>
              <a:stretch>
                <a:fillRect l="0" t="-129282" r="0" b="-118535"/>
              </a:stretch>
            </a:blipFill>
          </p:spPr>
        </p:sp>
        <p:sp>
          <p:nvSpPr>
            <p:cNvPr name="TextBox 86" id="86"/>
            <p:cNvSpPr txBox="true"/>
            <p:nvPr/>
          </p:nvSpPr>
          <p:spPr>
            <a:xfrm>
              <a:off x="0" y="-9525"/>
              <a:ext cx="4876800" cy="555930"/>
            </a:xfrm>
            <a:prstGeom prst="rect">
              <a:avLst/>
            </a:prstGeom>
          </p:spPr>
          <p:txBody>
            <a:bodyPr anchor="ctr" rtlCol="false" tIns="0" lIns="0" bIns="0" rIns="0"/>
            <a:lstStyle/>
            <a:p>
              <a:pPr algn="l">
                <a:lnSpc>
                  <a:spcPts val="2520"/>
                </a:lnSpc>
              </a:pPr>
              <a:r>
                <a:rPr lang="en-US" sz="2100">
                  <a:solidFill>
                    <a:srgbClr val="2E5D6A"/>
                  </a:solidFill>
                  <a:latin typeface="Bree Serif"/>
                  <a:ea typeface="Bree Serif"/>
                  <a:cs typeface="Bree Serif"/>
                  <a:sym typeface="Bree Serif"/>
                </a:rPr>
                <a:t>max_features</a:t>
              </a:r>
            </a:p>
          </p:txBody>
        </p:sp>
      </p:grpSp>
      <p:grpSp>
        <p:nvGrpSpPr>
          <p:cNvPr name="Group 87" id="87"/>
          <p:cNvGrpSpPr/>
          <p:nvPr/>
        </p:nvGrpSpPr>
        <p:grpSpPr>
          <a:xfrm rot="0">
            <a:off x="4186677" y="7006876"/>
            <a:ext cx="3840480" cy="409804"/>
            <a:chOff x="0" y="0"/>
            <a:chExt cx="5120640" cy="546405"/>
          </a:xfrm>
        </p:grpSpPr>
        <p:sp>
          <p:nvSpPr>
            <p:cNvPr name="Freeform 88" id="88"/>
            <p:cNvSpPr/>
            <p:nvPr/>
          </p:nvSpPr>
          <p:spPr>
            <a:xfrm flipH="false" flipV="false" rot="0">
              <a:off x="0" y="0"/>
              <a:ext cx="5120640" cy="546405"/>
            </a:xfrm>
            <a:custGeom>
              <a:avLst/>
              <a:gdLst/>
              <a:ahLst/>
              <a:cxnLst/>
              <a:rect r="r" b="b" t="t" l="l"/>
              <a:pathLst>
                <a:path h="546405" w="5120640">
                  <a:moveTo>
                    <a:pt x="0" y="0"/>
                  </a:moveTo>
                  <a:lnTo>
                    <a:pt x="5120640" y="0"/>
                  </a:lnTo>
                  <a:lnTo>
                    <a:pt x="5120640" y="546405"/>
                  </a:lnTo>
                  <a:lnTo>
                    <a:pt x="0" y="546405"/>
                  </a:lnTo>
                  <a:close/>
                </a:path>
              </a:pathLst>
            </a:custGeom>
            <a:blipFill>
              <a:blip r:embed="rId2">
                <a:alphaModFix amt="0"/>
              </a:blip>
              <a:stretch>
                <a:fillRect l="0" t="-137978" r="0" b="-127230"/>
              </a:stretch>
            </a:blipFill>
          </p:spPr>
        </p:sp>
        <p:sp>
          <p:nvSpPr>
            <p:cNvPr name="TextBox 89" id="89"/>
            <p:cNvSpPr txBox="true"/>
            <p:nvPr/>
          </p:nvSpPr>
          <p:spPr>
            <a:xfrm>
              <a:off x="0" y="-9525"/>
              <a:ext cx="5120640" cy="555930"/>
            </a:xfrm>
            <a:prstGeom prst="rect">
              <a:avLst/>
            </a:prstGeom>
          </p:spPr>
          <p:txBody>
            <a:bodyPr anchor="ctr" rtlCol="false" tIns="0" lIns="0" bIns="0" rIns="0"/>
            <a:lstStyle/>
            <a:p>
              <a:pPr algn="l">
                <a:lnSpc>
                  <a:spcPts val="2520"/>
                </a:lnSpc>
              </a:pPr>
              <a:r>
                <a:rPr lang="en-US" sz="2100">
                  <a:solidFill>
                    <a:srgbClr val="0D1B2A"/>
                  </a:solidFill>
                  <a:latin typeface="Bree Serif"/>
                  <a:ea typeface="Bree Serif"/>
                  <a:cs typeface="Bree Serif"/>
                  <a:sym typeface="Bree Serif"/>
                </a:rPr>
                <a:t>15,000</a:t>
              </a:r>
            </a:p>
          </p:txBody>
        </p:sp>
      </p:grpSp>
      <p:grpSp>
        <p:nvGrpSpPr>
          <p:cNvPr name="Group 90" id="90"/>
          <p:cNvGrpSpPr/>
          <p:nvPr/>
        </p:nvGrpSpPr>
        <p:grpSpPr>
          <a:xfrm rot="0">
            <a:off x="437637" y="7409212"/>
            <a:ext cx="3657600" cy="409804"/>
            <a:chOff x="0" y="0"/>
            <a:chExt cx="4876800" cy="546405"/>
          </a:xfrm>
        </p:grpSpPr>
        <p:sp>
          <p:nvSpPr>
            <p:cNvPr name="Freeform 91" id="91"/>
            <p:cNvSpPr/>
            <p:nvPr/>
          </p:nvSpPr>
          <p:spPr>
            <a:xfrm flipH="false" flipV="false" rot="0">
              <a:off x="0" y="0"/>
              <a:ext cx="4876800" cy="546405"/>
            </a:xfrm>
            <a:custGeom>
              <a:avLst/>
              <a:gdLst/>
              <a:ahLst/>
              <a:cxnLst/>
              <a:rect r="r" b="b" t="t" l="l"/>
              <a:pathLst>
                <a:path h="546405" w="4876800">
                  <a:moveTo>
                    <a:pt x="0" y="0"/>
                  </a:moveTo>
                  <a:lnTo>
                    <a:pt x="4876800" y="0"/>
                  </a:lnTo>
                  <a:lnTo>
                    <a:pt x="4876800" y="546405"/>
                  </a:lnTo>
                  <a:lnTo>
                    <a:pt x="0" y="546405"/>
                  </a:lnTo>
                  <a:close/>
                </a:path>
              </a:pathLst>
            </a:custGeom>
            <a:blipFill>
              <a:blip r:embed="rId2">
                <a:alphaModFix amt="0"/>
              </a:blip>
              <a:stretch>
                <a:fillRect l="0" t="-129282" r="0" b="-118535"/>
              </a:stretch>
            </a:blipFill>
          </p:spPr>
        </p:sp>
        <p:sp>
          <p:nvSpPr>
            <p:cNvPr name="TextBox 92" id="92"/>
            <p:cNvSpPr txBox="true"/>
            <p:nvPr/>
          </p:nvSpPr>
          <p:spPr>
            <a:xfrm>
              <a:off x="0" y="-9525"/>
              <a:ext cx="4876800" cy="555930"/>
            </a:xfrm>
            <a:prstGeom prst="rect">
              <a:avLst/>
            </a:prstGeom>
          </p:spPr>
          <p:txBody>
            <a:bodyPr anchor="ctr" rtlCol="false" tIns="0" lIns="0" bIns="0" rIns="0"/>
            <a:lstStyle/>
            <a:p>
              <a:pPr algn="l">
                <a:lnSpc>
                  <a:spcPts val="2520"/>
                </a:lnSpc>
              </a:pPr>
              <a:r>
                <a:rPr lang="en-US" sz="2100">
                  <a:solidFill>
                    <a:srgbClr val="2E5D6A"/>
                  </a:solidFill>
                  <a:latin typeface="Bree Serif"/>
                  <a:ea typeface="Bree Serif"/>
                  <a:cs typeface="Bree Serif"/>
                  <a:sym typeface="Bree Serif"/>
                </a:rPr>
                <a:t>ngram_range</a:t>
              </a:r>
            </a:p>
          </p:txBody>
        </p:sp>
      </p:grpSp>
      <p:grpSp>
        <p:nvGrpSpPr>
          <p:cNvPr name="Group 93" id="93"/>
          <p:cNvGrpSpPr/>
          <p:nvPr/>
        </p:nvGrpSpPr>
        <p:grpSpPr>
          <a:xfrm rot="0">
            <a:off x="4186677" y="7409212"/>
            <a:ext cx="3840480" cy="409804"/>
            <a:chOff x="0" y="0"/>
            <a:chExt cx="5120640" cy="546405"/>
          </a:xfrm>
        </p:grpSpPr>
        <p:sp>
          <p:nvSpPr>
            <p:cNvPr name="Freeform 94" id="94"/>
            <p:cNvSpPr/>
            <p:nvPr/>
          </p:nvSpPr>
          <p:spPr>
            <a:xfrm flipH="false" flipV="false" rot="0">
              <a:off x="0" y="0"/>
              <a:ext cx="5120640" cy="546405"/>
            </a:xfrm>
            <a:custGeom>
              <a:avLst/>
              <a:gdLst/>
              <a:ahLst/>
              <a:cxnLst/>
              <a:rect r="r" b="b" t="t" l="l"/>
              <a:pathLst>
                <a:path h="546405" w="5120640">
                  <a:moveTo>
                    <a:pt x="0" y="0"/>
                  </a:moveTo>
                  <a:lnTo>
                    <a:pt x="5120640" y="0"/>
                  </a:lnTo>
                  <a:lnTo>
                    <a:pt x="5120640" y="546405"/>
                  </a:lnTo>
                  <a:lnTo>
                    <a:pt x="0" y="546405"/>
                  </a:lnTo>
                  <a:close/>
                </a:path>
              </a:pathLst>
            </a:custGeom>
            <a:blipFill>
              <a:blip r:embed="rId2">
                <a:alphaModFix amt="0"/>
              </a:blip>
              <a:stretch>
                <a:fillRect l="0" t="-137978" r="0" b="-127230"/>
              </a:stretch>
            </a:blipFill>
          </p:spPr>
        </p:sp>
        <p:sp>
          <p:nvSpPr>
            <p:cNvPr name="TextBox 95" id="95"/>
            <p:cNvSpPr txBox="true"/>
            <p:nvPr/>
          </p:nvSpPr>
          <p:spPr>
            <a:xfrm>
              <a:off x="0" y="-9525"/>
              <a:ext cx="5120640" cy="555930"/>
            </a:xfrm>
            <a:prstGeom prst="rect">
              <a:avLst/>
            </a:prstGeom>
          </p:spPr>
          <p:txBody>
            <a:bodyPr anchor="ctr" rtlCol="false" tIns="0" lIns="0" bIns="0" rIns="0"/>
            <a:lstStyle/>
            <a:p>
              <a:pPr algn="l">
                <a:lnSpc>
                  <a:spcPts val="2520"/>
                </a:lnSpc>
              </a:pPr>
              <a:r>
                <a:rPr lang="en-US" sz="2100">
                  <a:solidFill>
                    <a:srgbClr val="0D1B2A"/>
                  </a:solidFill>
                  <a:latin typeface="Bree Serif"/>
                  <a:ea typeface="Bree Serif"/>
                  <a:cs typeface="Bree Serif"/>
                  <a:sym typeface="Bree Serif"/>
                </a:rPr>
                <a:t>(1, 2) — bigrams</a:t>
              </a:r>
            </a:p>
          </p:txBody>
        </p:sp>
      </p:grpSp>
      <p:grpSp>
        <p:nvGrpSpPr>
          <p:cNvPr name="Group 96" id="96"/>
          <p:cNvGrpSpPr/>
          <p:nvPr/>
        </p:nvGrpSpPr>
        <p:grpSpPr>
          <a:xfrm rot="0">
            <a:off x="437637" y="7811548"/>
            <a:ext cx="3657600" cy="409804"/>
            <a:chOff x="0" y="0"/>
            <a:chExt cx="4876800" cy="546405"/>
          </a:xfrm>
        </p:grpSpPr>
        <p:sp>
          <p:nvSpPr>
            <p:cNvPr name="Freeform 97" id="97"/>
            <p:cNvSpPr/>
            <p:nvPr/>
          </p:nvSpPr>
          <p:spPr>
            <a:xfrm flipH="false" flipV="false" rot="0">
              <a:off x="0" y="0"/>
              <a:ext cx="4876800" cy="546405"/>
            </a:xfrm>
            <a:custGeom>
              <a:avLst/>
              <a:gdLst/>
              <a:ahLst/>
              <a:cxnLst/>
              <a:rect r="r" b="b" t="t" l="l"/>
              <a:pathLst>
                <a:path h="546405" w="4876800">
                  <a:moveTo>
                    <a:pt x="0" y="0"/>
                  </a:moveTo>
                  <a:lnTo>
                    <a:pt x="4876800" y="0"/>
                  </a:lnTo>
                  <a:lnTo>
                    <a:pt x="4876800" y="546405"/>
                  </a:lnTo>
                  <a:lnTo>
                    <a:pt x="0" y="546405"/>
                  </a:lnTo>
                  <a:close/>
                </a:path>
              </a:pathLst>
            </a:custGeom>
            <a:blipFill>
              <a:blip r:embed="rId2">
                <a:alphaModFix amt="0"/>
              </a:blip>
              <a:stretch>
                <a:fillRect l="0" t="-129282" r="0" b="-118535"/>
              </a:stretch>
            </a:blipFill>
          </p:spPr>
        </p:sp>
        <p:sp>
          <p:nvSpPr>
            <p:cNvPr name="TextBox 98" id="98"/>
            <p:cNvSpPr txBox="true"/>
            <p:nvPr/>
          </p:nvSpPr>
          <p:spPr>
            <a:xfrm>
              <a:off x="0" y="-9525"/>
              <a:ext cx="4876800" cy="555930"/>
            </a:xfrm>
            <a:prstGeom prst="rect">
              <a:avLst/>
            </a:prstGeom>
          </p:spPr>
          <p:txBody>
            <a:bodyPr anchor="ctr" rtlCol="false" tIns="0" lIns="0" bIns="0" rIns="0"/>
            <a:lstStyle/>
            <a:p>
              <a:pPr algn="l">
                <a:lnSpc>
                  <a:spcPts val="2520"/>
                </a:lnSpc>
              </a:pPr>
              <a:r>
                <a:rPr lang="en-US" sz="2100">
                  <a:solidFill>
                    <a:srgbClr val="2E5D6A"/>
                  </a:solidFill>
                  <a:latin typeface="Bree Serif"/>
                  <a:ea typeface="Bree Serif"/>
                  <a:cs typeface="Bree Serif"/>
                  <a:sym typeface="Bree Serif"/>
                </a:rPr>
                <a:t>C (regularisation)</a:t>
              </a:r>
            </a:p>
          </p:txBody>
        </p:sp>
      </p:grpSp>
      <p:grpSp>
        <p:nvGrpSpPr>
          <p:cNvPr name="Group 99" id="99"/>
          <p:cNvGrpSpPr/>
          <p:nvPr/>
        </p:nvGrpSpPr>
        <p:grpSpPr>
          <a:xfrm rot="0">
            <a:off x="4186677" y="7683380"/>
            <a:ext cx="4301586" cy="724750"/>
            <a:chOff x="0" y="0"/>
            <a:chExt cx="6367924" cy="1072896"/>
          </a:xfrm>
        </p:grpSpPr>
        <p:sp>
          <p:nvSpPr>
            <p:cNvPr name="Freeform 100" id="100"/>
            <p:cNvSpPr/>
            <p:nvPr/>
          </p:nvSpPr>
          <p:spPr>
            <a:xfrm flipH="false" flipV="false" rot="0">
              <a:off x="0" y="0"/>
              <a:ext cx="6367924" cy="1072896"/>
            </a:xfrm>
            <a:custGeom>
              <a:avLst/>
              <a:gdLst/>
              <a:ahLst/>
              <a:cxnLst/>
              <a:rect r="r" b="b" t="t" l="l"/>
              <a:pathLst>
                <a:path h="1072896" w="6367924">
                  <a:moveTo>
                    <a:pt x="0" y="0"/>
                  </a:moveTo>
                  <a:lnTo>
                    <a:pt x="6367924" y="0"/>
                  </a:lnTo>
                  <a:lnTo>
                    <a:pt x="6367924" y="1072896"/>
                  </a:lnTo>
                  <a:lnTo>
                    <a:pt x="0" y="1072896"/>
                  </a:lnTo>
                  <a:close/>
                </a:path>
              </a:pathLst>
            </a:custGeom>
            <a:blipFill>
              <a:blip r:embed="rId2">
                <a:alphaModFix amt="0"/>
              </a:blip>
              <a:stretch>
                <a:fillRect l="0" t="-70269" r="19586" b="-15724"/>
              </a:stretch>
            </a:blipFill>
          </p:spPr>
        </p:sp>
        <p:sp>
          <p:nvSpPr>
            <p:cNvPr name="TextBox 101" id="101"/>
            <p:cNvSpPr txBox="true"/>
            <p:nvPr/>
          </p:nvSpPr>
          <p:spPr>
            <a:xfrm>
              <a:off x="0" y="-9525"/>
              <a:ext cx="6367924" cy="1082421"/>
            </a:xfrm>
            <a:prstGeom prst="rect">
              <a:avLst/>
            </a:prstGeom>
          </p:spPr>
          <p:txBody>
            <a:bodyPr anchor="ctr" rtlCol="false" tIns="0" lIns="0" bIns="0" rIns="0"/>
            <a:lstStyle/>
            <a:p>
              <a:pPr algn="l">
                <a:lnSpc>
                  <a:spcPts val="2520"/>
                </a:lnSpc>
              </a:pPr>
              <a:r>
                <a:rPr lang="en-US" sz="2100">
                  <a:solidFill>
                    <a:srgbClr val="0D1B2A"/>
                  </a:solidFill>
                  <a:latin typeface="Bree Serif"/>
                  <a:ea typeface="Bree Serif"/>
                  <a:cs typeface="Bree Serif"/>
                  <a:sym typeface="Bree Serif"/>
                </a:rPr>
                <a:t>10.0 </a:t>
              </a:r>
            </a:p>
          </p:txBody>
        </p:sp>
      </p:grpSp>
      <p:grpSp>
        <p:nvGrpSpPr>
          <p:cNvPr name="Group 102" id="102"/>
          <p:cNvGrpSpPr/>
          <p:nvPr/>
        </p:nvGrpSpPr>
        <p:grpSpPr>
          <a:xfrm rot="0">
            <a:off x="437637" y="8213884"/>
            <a:ext cx="3657600" cy="409804"/>
            <a:chOff x="0" y="0"/>
            <a:chExt cx="4876800" cy="546405"/>
          </a:xfrm>
        </p:grpSpPr>
        <p:sp>
          <p:nvSpPr>
            <p:cNvPr name="Freeform 103" id="103"/>
            <p:cNvSpPr/>
            <p:nvPr/>
          </p:nvSpPr>
          <p:spPr>
            <a:xfrm flipH="false" flipV="false" rot="0">
              <a:off x="0" y="0"/>
              <a:ext cx="4876800" cy="546405"/>
            </a:xfrm>
            <a:custGeom>
              <a:avLst/>
              <a:gdLst/>
              <a:ahLst/>
              <a:cxnLst/>
              <a:rect r="r" b="b" t="t" l="l"/>
              <a:pathLst>
                <a:path h="546405" w="4876800">
                  <a:moveTo>
                    <a:pt x="0" y="0"/>
                  </a:moveTo>
                  <a:lnTo>
                    <a:pt x="4876800" y="0"/>
                  </a:lnTo>
                  <a:lnTo>
                    <a:pt x="4876800" y="546405"/>
                  </a:lnTo>
                  <a:lnTo>
                    <a:pt x="0" y="546405"/>
                  </a:lnTo>
                  <a:close/>
                </a:path>
              </a:pathLst>
            </a:custGeom>
            <a:blipFill>
              <a:blip r:embed="rId2">
                <a:alphaModFix amt="0"/>
              </a:blip>
              <a:stretch>
                <a:fillRect l="0" t="-129282" r="0" b="-118535"/>
              </a:stretch>
            </a:blipFill>
          </p:spPr>
        </p:sp>
        <p:sp>
          <p:nvSpPr>
            <p:cNvPr name="TextBox 104" id="104"/>
            <p:cNvSpPr txBox="true"/>
            <p:nvPr/>
          </p:nvSpPr>
          <p:spPr>
            <a:xfrm>
              <a:off x="0" y="-9525"/>
              <a:ext cx="4876800" cy="555930"/>
            </a:xfrm>
            <a:prstGeom prst="rect">
              <a:avLst/>
            </a:prstGeom>
          </p:spPr>
          <p:txBody>
            <a:bodyPr anchor="ctr" rtlCol="false" tIns="0" lIns="0" bIns="0" rIns="0"/>
            <a:lstStyle/>
            <a:p>
              <a:pPr algn="l">
                <a:lnSpc>
                  <a:spcPts val="2520"/>
                </a:lnSpc>
              </a:pPr>
              <a:r>
                <a:rPr lang="en-US" sz="2100">
                  <a:solidFill>
                    <a:srgbClr val="2E5D6A"/>
                  </a:solidFill>
                  <a:latin typeface="Bree Serif"/>
                  <a:ea typeface="Bree Serif"/>
                  <a:cs typeface="Bree Serif"/>
                  <a:sym typeface="Bree Serif"/>
                </a:rPr>
                <a:t>CV F1 (train)</a:t>
              </a:r>
            </a:p>
          </p:txBody>
        </p:sp>
      </p:grpSp>
      <p:grpSp>
        <p:nvGrpSpPr>
          <p:cNvPr name="Group 105" id="105"/>
          <p:cNvGrpSpPr/>
          <p:nvPr/>
        </p:nvGrpSpPr>
        <p:grpSpPr>
          <a:xfrm rot="0">
            <a:off x="4186677" y="8213884"/>
            <a:ext cx="3840480" cy="409804"/>
            <a:chOff x="0" y="0"/>
            <a:chExt cx="5120640" cy="546405"/>
          </a:xfrm>
        </p:grpSpPr>
        <p:sp>
          <p:nvSpPr>
            <p:cNvPr name="Freeform 106" id="106"/>
            <p:cNvSpPr/>
            <p:nvPr/>
          </p:nvSpPr>
          <p:spPr>
            <a:xfrm flipH="false" flipV="false" rot="0">
              <a:off x="0" y="0"/>
              <a:ext cx="5120640" cy="546405"/>
            </a:xfrm>
            <a:custGeom>
              <a:avLst/>
              <a:gdLst/>
              <a:ahLst/>
              <a:cxnLst/>
              <a:rect r="r" b="b" t="t" l="l"/>
              <a:pathLst>
                <a:path h="546405" w="5120640">
                  <a:moveTo>
                    <a:pt x="0" y="0"/>
                  </a:moveTo>
                  <a:lnTo>
                    <a:pt x="5120640" y="0"/>
                  </a:lnTo>
                  <a:lnTo>
                    <a:pt x="5120640" y="546405"/>
                  </a:lnTo>
                  <a:lnTo>
                    <a:pt x="0" y="546405"/>
                  </a:lnTo>
                  <a:close/>
                </a:path>
              </a:pathLst>
            </a:custGeom>
            <a:blipFill>
              <a:blip r:embed="rId2">
                <a:alphaModFix amt="0"/>
              </a:blip>
              <a:stretch>
                <a:fillRect l="0" t="-137978" r="0" b="-127230"/>
              </a:stretch>
            </a:blipFill>
          </p:spPr>
        </p:sp>
        <p:sp>
          <p:nvSpPr>
            <p:cNvPr name="TextBox 107" id="107"/>
            <p:cNvSpPr txBox="true"/>
            <p:nvPr/>
          </p:nvSpPr>
          <p:spPr>
            <a:xfrm>
              <a:off x="0" y="-9525"/>
              <a:ext cx="5120640" cy="555930"/>
            </a:xfrm>
            <a:prstGeom prst="rect">
              <a:avLst/>
            </a:prstGeom>
          </p:spPr>
          <p:txBody>
            <a:bodyPr anchor="ctr" rtlCol="false" tIns="0" lIns="0" bIns="0" rIns="0"/>
            <a:lstStyle/>
            <a:p>
              <a:pPr algn="l">
                <a:lnSpc>
                  <a:spcPts val="2520"/>
                </a:lnSpc>
              </a:pPr>
              <a:r>
                <a:rPr lang="en-US" sz="2100">
                  <a:solidFill>
                    <a:srgbClr val="0D1B2A"/>
                  </a:solidFill>
                  <a:latin typeface="Bree Serif"/>
                  <a:ea typeface="Bree Serif"/>
                  <a:cs typeface="Bree Serif"/>
                  <a:sym typeface="Bree Serif"/>
                </a:rPr>
                <a:t>0.8229</a:t>
              </a:r>
            </a:p>
          </p:txBody>
        </p:sp>
      </p:grpSp>
      <p:grpSp>
        <p:nvGrpSpPr>
          <p:cNvPr name="Group 108" id="108"/>
          <p:cNvGrpSpPr/>
          <p:nvPr/>
        </p:nvGrpSpPr>
        <p:grpSpPr>
          <a:xfrm rot="0">
            <a:off x="437637" y="8616220"/>
            <a:ext cx="3657600" cy="409804"/>
            <a:chOff x="0" y="0"/>
            <a:chExt cx="4876800" cy="546405"/>
          </a:xfrm>
        </p:grpSpPr>
        <p:sp>
          <p:nvSpPr>
            <p:cNvPr name="Freeform 109" id="109"/>
            <p:cNvSpPr/>
            <p:nvPr/>
          </p:nvSpPr>
          <p:spPr>
            <a:xfrm flipH="false" flipV="false" rot="0">
              <a:off x="0" y="0"/>
              <a:ext cx="4876800" cy="546405"/>
            </a:xfrm>
            <a:custGeom>
              <a:avLst/>
              <a:gdLst/>
              <a:ahLst/>
              <a:cxnLst/>
              <a:rect r="r" b="b" t="t" l="l"/>
              <a:pathLst>
                <a:path h="546405" w="4876800">
                  <a:moveTo>
                    <a:pt x="0" y="0"/>
                  </a:moveTo>
                  <a:lnTo>
                    <a:pt x="4876800" y="0"/>
                  </a:lnTo>
                  <a:lnTo>
                    <a:pt x="4876800" y="546405"/>
                  </a:lnTo>
                  <a:lnTo>
                    <a:pt x="0" y="546405"/>
                  </a:lnTo>
                  <a:close/>
                </a:path>
              </a:pathLst>
            </a:custGeom>
            <a:blipFill>
              <a:blip r:embed="rId2">
                <a:alphaModFix amt="0"/>
              </a:blip>
              <a:stretch>
                <a:fillRect l="0" t="-129282" r="0" b="-118535"/>
              </a:stretch>
            </a:blipFill>
          </p:spPr>
        </p:sp>
        <p:sp>
          <p:nvSpPr>
            <p:cNvPr name="TextBox 110" id="110"/>
            <p:cNvSpPr txBox="true"/>
            <p:nvPr/>
          </p:nvSpPr>
          <p:spPr>
            <a:xfrm>
              <a:off x="0" y="-9525"/>
              <a:ext cx="4876800" cy="555930"/>
            </a:xfrm>
            <a:prstGeom prst="rect">
              <a:avLst/>
            </a:prstGeom>
          </p:spPr>
          <p:txBody>
            <a:bodyPr anchor="ctr" rtlCol="false" tIns="0" lIns="0" bIns="0" rIns="0"/>
            <a:lstStyle/>
            <a:p>
              <a:pPr algn="l">
                <a:lnSpc>
                  <a:spcPts val="2520"/>
                </a:lnSpc>
              </a:pPr>
              <a:r>
                <a:rPr lang="en-US" sz="2100">
                  <a:solidFill>
                    <a:srgbClr val="2E5D6A"/>
                  </a:solidFill>
                  <a:latin typeface="Bree Serif"/>
                  <a:ea typeface="Bree Serif"/>
                  <a:cs typeface="Bree Serif"/>
                  <a:sym typeface="Bree Serif"/>
                </a:rPr>
                <a:t>Test F1</a:t>
              </a:r>
            </a:p>
          </p:txBody>
        </p:sp>
      </p:grpSp>
      <p:grpSp>
        <p:nvGrpSpPr>
          <p:cNvPr name="Group 111" id="111"/>
          <p:cNvGrpSpPr/>
          <p:nvPr/>
        </p:nvGrpSpPr>
        <p:grpSpPr>
          <a:xfrm rot="0">
            <a:off x="4186677" y="8616220"/>
            <a:ext cx="3840480" cy="409804"/>
            <a:chOff x="0" y="0"/>
            <a:chExt cx="5120640" cy="546405"/>
          </a:xfrm>
        </p:grpSpPr>
        <p:sp>
          <p:nvSpPr>
            <p:cNvPr name="Freeform 112" id="112"/>
            <p:cNvSpPr/>
            <p:nvPr/>
          </p:nvSpPr>
          <p:spPr>
            <a:xfrm flipH="false" flipV="false" rot="0">
              <a:off x="0" y="0"/>
              <a:ext cx="5120640" cy="546405"/>
            </a:xfrm>
            <a:custGeom>
              <a:avLst/>
              <a:gdLst/>
              <a:ahLst/>
              <a:cxnLst/>
              <a:rect r="r" b="b" t="t" l="l"/>
              <a:pathLst>
                <a:path h="546405" w="5120640">
                  <a:moveTo>
                    <a:pt x="0" y="0"/>
                  </a:moveTo>
                  <a:lnTo>
                    <a:pt x="5120640" y="0"/>
                  </a:lnTo>
                  <a:lnTo>
                    <a:pt x="5120640" y="546405"/>
                  </a:lnTo>
                  <a:lnTo>
                    <a:pt x="0" y="546405"/>
                  </a:lnTo>
                  <a:close/>
                </a:path>
              </a:pathLst>
            </a:custGeom>
            <a:blipFill>
              <a:blip r:embed="rId2">
                <a:alphaModFix amt="0"/>
              </a:blip>
              <a:stretch>
                <a:fillRect l="0" t="-137978" r="0" b="-127230"/>
              </a:stretch>
            </a:blipFill>
          </p:spPr>
        </p:sp>
        <p:sp>
          <p:nvSpPr>
            <p:cNvPr name="TextBox 113" id="113"/>
            <p:cNvSpPr txBox="true"/>
            <p:nvPr/>
          </p:nvSpPr>
          <p:spPr>
            <a:xfrm>
              <a:off x="0" y="-9525"/>
              <a:ext cx="5120640" cy="555930"/>
            </a:xfrm>
            <a:prstGeom prst="rect">
              <a:avLst/>
            </a:prstGeom>
          </p:spPr>
          <p:txBody>
            <a:bodyPr anchor="ctr" rtlCol="false" tIns="0" lIns="0" bIns="0" rIns="0"/>
            <a:lstStyle/>
            <a:p>
              <a:pPr algn="l">
                <a:lnSpc>
                  <a:spcPts val="2520"/>
                </a:lnSpc>
              </a:pPr>
              <a:r>
                <a:rPr lang="en-US" sz="2100">
                  <a:solidFill>
                    <a:srgbClr val="0D1B2A"/>
                  </a:solidFill>
                  <a:latin typeface="Bree Serif"/>
                  <a:ea typeface="Bree Serif"/>
                  <a:cs typeface="Bree Serif"/>
                  <a:sym typeface="Bree Serif"/>
                </a:rPr>
                <a:t>0.8343</a:t>
              </a:r>
            </a:p>
          </p:txBody>
        </p:sp>
      </p:grpSp>
      <p:grpSp>
        <p:nvGrpSpPr>
          <p:cNvPr name="Group 114" id="114"/>
          <p:cNvGrpSpPr/>
          <p:nvPr/>
        </p:nvGrpSpPr>
        <p:grpSpPr>
          <a:xfrm rot="0">
            <a:off x="437637" y="9018556"/>
            <a:ext cx="3657600" cy="409804"/>
            <a:chOff x="0" y="0"/>
            <a:chExt cx="4876800" cy="546405"/>
          </a:xfrm>
        </p:grpSpPr>
        <p:sp>
          <p:nvSpPr>
            <p:cNvPr name="Freeform 115" id="115"/>
            <p:cNvSpPr/>
            <p:nvPr/>
          </p:nvSpPr>
          <p:spPr>
            <a:xfrm flipH="false" flipV="false" rot="0">
              <a:off x="0" y="0"/>
              <a:ext cx="4876800" cy="546405"/>
            </a:xfrm>
            <a:custGeom>
              <a:avLst/>
              <a:gdLst/>
              <a:ahLst/>
              <a:cxnLst/>
              <a:rect r="r" b="b" t="t" l="l"/>
              <a:pathLst>
                <a:path h="546405" w="4876800">
                  <a:moveTo>
                    <a:pt x="0" y="0"/>
                  </a:moveTo>
                  <a:lnTo>
                    <a:pt x="4876800" y="0"/>
                  </a:lnTo>
                  <a:lnTo>
                    <a:pt x="4876800" y="546405"/>
                  </a:lnTo>
                  <a:lnTo>
                    <a:pt x="0" y="546405"/>
                  </a:lnTo>
                  <a:close/>
                </a:path>
              </a:pathLst>
            </a:custGeom>
            <a:blipFill>
              <a:blip r:embed="rId2">
                <a:alphaModFix amt="0"/>
              </a:blip>
              <a:stretch>
                <a:fillRect l="0" t="-129282" r="0" b="-118535"/>
              </a:stretch>
            </a:blipFill>
          </p:spPr>
        </p:sp>
        <p:sp>
          <p:nvSpPr>
            <p:cNvPr name="TextBox 116" id="116"/>
            <p:cNvSpPr txBox="true"/>
            <p:nvPr/>
          </p:nvSpPr>
          <p:spPr>
            <a:xfrm>
              <a:off x="0" y="-9525"/>
              <a:ext cx="4876800" cy="555930"/>
            </a:xfrm>
            <a:prstGeom prst="rect">
              <a:avLst/>
            </a:prstGeom>
          </p:spPr>
          <p:txBody>
            <a:bodyPr anchor="ctr" rtlCol="false" tIns="0" lIns="0" bIns="0" rIns="0"/>
            <a:lstStyle/>
            <a:p>
              <a:pPr algn="l">
                <a:lnSpc>
                  <a:spcPts val="2520"/>
                </a:lnSpc>
              </a:pPr>
              <a:r>
                <a:rPr lang="en-US" sz="2100">
                  <a:solidFill>
                    <a:srgbClr val="2E5D6A"/>
                  </a:solidFill>
                  <a:latin typeface="Bree Serif"/>
                  <a:ea typeface="Bree Serif"/>
                  <a:cs typeface="Bree Serif"/>
                  <a:sym typeface="Bree Serif"/>
                </a:rPr>
                <a:t>Test ROC-AUC</a:t>
              </a:r>
            </a:p>
          </p:txBody>
        </p:sp>
      </p:grpSp>
      <p:grpSp>
        <p:nvGrpSpPr>
          <p:cNvPr name="Group 117" id="117"/>
          <p:cNvGrpSpPr/>
          <p:nvPr/>
        </p:nvGrpSpPr>
        <p:grpSpPr>
          <a:xfrm rot="0">
            <a:off x="4186677" y="9018556"/>
            <a:ext cx="3840480" cy="409804"/>
            <a:chOff x="0" y="0"/>
            <a:chExt cx="5120640" cy="546405"/>
          </a:xfrm>
        </p:grpSpPr>
        <p:sp>
          <p:nvSpPr>
            <p:cNvPr name="Freeform 118" id="118"/>
            <p:cNvSpPr/>
            <p:nvPr/>
          </p:nvSpPr>
          <p:spPr>
            <a:xfrm flipH="false" flipV="false" rot="0">
              <a:off x="0" y="0"/>
              <a:ext cx="5120640" cy="546405"/>
            </a:xfrm>
            <a:custGeom>
              <a:avLst/>
              <a:gdLst/>
              <a:ahLst/>
              <a:cxnLst/>
              <a:rect r="r" b="b" t="t" l="l"/>
              <a:pathLst>
                <a:path h="546405" w="5120640">
                  <a:moveTo>
                    <a:pt x="0" y="0"/>
                  </a:moveTo>
                  <a:lnTo>
                    <a:pt x="5120640" y="0"/>
                  </a:lnTo>
                  <a:lnTo>
                    <a:pt x="5120640" y="546405"/>
                  </a:lnTo>
                  <a:lnTo>
                    <a:pt x="0" y="546405"/>
                  </a:lnTo>
                  <a:close/>
                </a:path>
              </a:pathLst>
            </a:custGeom>
            <a:blipFill>
              <a:blip r:embed="rId2">
                <a:alphaModFix amt="0"/>
              </a:blip>
              <a:stretch>
                <a:fillRect l="0" t="-137978" r="0" b="-127230"/>
              </a:stretch>
            </a:blipFill>
          </p:spPr>
        </p:sp>
        <p:sp>
          <p:nvSpPr>
            <p:cNvPr name="TextBox 119" id="119"/>
            <p:cNvSpPr txBox="true"/>
            <p:nvPr/>
          </p:nvSpPr>
          <p:spPr>
            <a:xfrm>
              <a:off x="0" y="-9525"/>
              <a:ext cx="5120640" cy="555930"/>
            </a:xfrm>
            <a:prstGeom prst="rect">
              <a:avLst/>
            </a:prstGeom>
          </p:spPr>
          <p:txBody>
            <a:bodyPr anchor="ctr" rtlCol="false" tIns="0" lIns="0" bIns="0" rIns="0"/>
            <a:lstStyle/>
            <a:p>
              <a:pPr algn="l">
                <a:lnSpc>
                  <a:spcPts val="2520"/>
                </a:lnSpc>
              </a:pPr>
              <a:r>
                <a:rPr lang="en-US" sz="2100">
                  <a:solidFill>
                    <a:srgbClr val="0D1B2A"/>
                  </a:solidFill>
                  <a:latin typeface="Bree Serif"/>
                  <a:ea typeface="Bree Serif"/>
                  <a:cs typeface="Bree Serif"/>
                  <a:sym typeface="Bree Serif"/>
                </a:rPr>
                <a:t>0.9557</a:t>
              </a:r>
            </a:p>
          </p:txBody>
        </p:sp>
      </p:grpSp>
      <p:grpSp>
        <p:nvGrpSpPr>
          <p:cNvPr name="Group 120" id="120"/>
          <p:cNvGrpSpPr/>
          <p:nvPr/>
        </p:nvGrpSpPr>
        <p:grpSpPr>
          <a:xfrm rot="0">
            <a:off x="8745980" y="6116355"/>
            <a:ext cx="8437883" cy="3536699"/>
            <a:chOff x="0" y="0"/>
            <a:chExt cx="11250511" cy="4715599"/>
          </a:xfrm>
        </p:grpSpPr>
        <p:sp>
          <p:nvSpPr>
            <p:cNvPr name="Freeform 121" id="121"/>
            <p:cNvSpPr/>
            <p:nvPr/>
          </p:nvSpPr>
          <p:spPr>
            <a:xfrm flipH="false" flipV="false" rot="0">
              <a:off x="16891" y="16891"/>
              <a:ext cx="11216640" cy="4681728"/>
            </a:xfrm>
            <a:custGeom>
              <a:avLst/>
              <a:gdLst/>
              <a:ahLst/>
              <a:cxnLst/>
              <a:rect r="r" b="b" t="t" l="l"/>
              <a:pathLst>
                <a:path h="4681728" w="11216640">
                  <a:moveTo>
                    <a:pt x="0" y="0"/>
                  </a:moveTo>
                  <a:lnTo>
                    <a:pt x="11216640" y="0"/>
                  </a:lnTo>
                  <a:lnTo>
                    <a:pt x="11216640" y="4681728"/>
                  </a:lnTo>
                  <a:lnTo>
                    <a:pt x="0" y="4681728"/>
                  </a:lnTo>
                  <a:close/>
                </a:path>
              </a:pathLst>
            </a:custGeom>
            <a:solidFill>
              <a:srgbClr val="E8F4F6"/>
            </a:solidFill>
          </p:spPr>
        </p:sp>
        <p:sp>
          <p:nvSpPr>
            <p:cNvPr name="Freeform 122" id="122"/>
            <p:cNvSpPr/>
            <p:nvPr/>
          </p:nvSpPr>
          <p:spPr>
            <a:xfrm flipH="false" flipV="false" rot="0">
              <a:off x="0" y="0"/>
              <a:ext cx="11250422" cy="4715510"/>
            </a:xfrm>
            <a:custGeom>
              <a:avLst/>
              <a:gdLst/>
              <a:ahLst/>
              <a:cxnLst/>
              <a:rect r="r" b="b" t="t" l="l"/>
              <a:pathLst>
                <a:path h="4715510" w="11250422">
                  <a:moveTo>
                    <a:pt x="16891" y="0"/>
                  </a:moveTo>
                  <a:lnTo>
                    <a:pt x="11233531" y="0"/>
                  </a:lnTo>
                  <a:cubicBezTo>
                    <a:pt x="11242929" y="0"/>
                    <a:pt x="11250422" y="7620"/>
                    <a:pt x="11250422" y="16891"/>
                  </a:cubicBezTo>
                  <a:lnTo>
                    <a:pt x="11250422" y="4698619"/>
                  </a:lnTo>
                  <a:cubicBezTo>
                    <a:pt x="11250422" y="4708017"/>
                    <a:pt x="11242802" y="4715510"/>
                    <a:pt x="11233531" y="4715510"/>
                  </a:cubicBezTo>
                  <a:lnTo>
                    <a:pt x="16891" y="4715510"/>
                  </a:lnTo>
                  <a:cubicBezTo>
                    <a:pt x="7493" y="4715510"/>
                    <a:pt x="0" y="4707890"/>
                    <a:pt x="0" y="4698619"/>
                  </a:cubicBezTo>
                  <a:lnTo>
                    <a:pt x="0" y="16891"/>
                  </a:lnTo>
                  <a:cubicBezTo>
                    <a:pt x="0" y="7620"/>
                    <a:pt x="7620" y="0"/>
                    <a:pt x="16891" y="0"/>
                  </a:cubicBezTo>
                  <a:moveTo>
                    <a:pt x="16891" y="33909"/>
                  </a:moveTo>
                  <a:lnTo>
                    <a:pt x="16891" y="16891"/>
                  </a:lnTo>
                  <a:lnTo>
                    <a:pt x="33909" y="16891"/>
                  </a:lnTo>
                  <a:lnTo>
                    <a:pt x="33909" y="4698619"/>
                  </a:lnTo>
                  <a:lnTo>
                    <a:pt x="16891" y="4698619"/>
                  </a:lnTo>
                  <a:lnTo>
                    <a:pt x="16891" y="4681728"/>
                  </a:lnTo>
                  <a:lnTo>
                    <a:pt x="11233531" y="4681728"/>
                  </a:lnTo>
                  <a:lnTo>
                    <a:pt x="11233531" y="4698619"/>
                  </a:lnTo>
                  <a:lnTo>
                    <a:pt x="11216640" y="4698619"/>
                  </a:lnTo>
                  <a:lnTo>
                    <a:pt x="11216640" y="16891"/>
                  </a:lnTo>
                  <a:lnTo>
                    <a:pt x="11233531" y="16891"/>
                  </a:lnTo>
                  <a:lnTo>
                    <a:pt x="11233531" y="33909"/>
                  </a:lnTo>
                  <a:lnTo>
                    <a:pt x="16891" y="33909"/>
                  </a:lnTo>
                  <a:close/>
                </a:path>
              </a:pathLst>
            </a:custGeom>
            <a:solidFill>
              <a:srgbClr val="D8E8EB"/>
            </a:solidFill>
          </p:spPr>
        </p:sp>
      </p:grpSp>
      <p:grpSp>
        <p:nvGrpSpPr>
          <p:cNvPr name="Group 123" id="123"/>
          <p:cNvGrpSpPr/>
          <p:nvPr/>
        </p:nvGrpSpPr>
        <p:grpSpPr>
          <a:xfrm rot="0">
            <a:off x="9032997" y="6275356"/>
            <a:ext cx="7863840" cy="640080"/>
            <a:chOff x="0" y="0"/>
            <a:chExt cx="10485120" cy="853440"/>
          </a:xfrm>
        </p:grpSpPr>
        <p:sp>
          <p:nvSpPr>
            <p:cNvPr name="Freeform 124" id="124"/>
            <p:cNvSpPr/>
            <p:nvPr/>
          </p:nvSpPr>
          <p:spPr>
            <a:xfrm flipH="false" flipV="false" rot="0">
              <a:off x="0" y="0"/>
              <a:ext cx="10485120" cy="853440"/>
            </a:xfrm>
            <a:custGeom>
              <a:avLst/>
              <a:gdLst/>
              <a:ahLst/>
              <a:cxnLst/>
              <a:rect r="r" b="b" t="t" l="l"/>
              <a:pathLst>
                <a:path h="853440" w="10485120">
                  <a:moveTo>
                    <a:pt x="0" y="0"/>
                  </a:moveTo>
                  <a:lnTo>
                    <a:pt x="10485120" y="0"/>
                  </a:lnTo>
                  <a:lnTo>
                    <a:pt x="10485120" y="853440"/>
                  </a:lnTo>
                  <a:lnTo>
                    <a:pt x="0" y="853440"/>
                  </a:lnTo>
                  <a:close/>
                </a:path>
              </a:pathLst>
            </a:custGeom>
            <a:blipFill>
              <a:blip r:embed="rId2">
                <a:alphaModFix amt="0"/>
              </a:blip>
              <a:stretch>
                <a:fillRect l="0" t="-189387" r="0" b="-189387"/>
              </a:stretch>
            </a:blipFill>
          </p:spPr>
        </p:sp>
        <p:sp>
          <p:nvSpPr>
            <p:cNvPr name="TextBox 125" id="125"/>
            <p:cNvSpPr txBox="true"/>
            <p:nvPr/>
          </p:nvSpPr>
          <p:spPr>
            <a:xfrm>
              <a:off x="0" y="9525"/>
              <a:ext cx="10485120" cy="843915"/>
            </a:xfrm>
            <a:prstGeom prst="rect">
              <a:avLst/>
            </a:prstGeom>
          </p:spPr>
          <p:txBody>
            <a:bodyPr anchor="ctr" rtlCol="false" tIns="0" lIns="0" bIns="0" rIns="0"/>
            <a:lstStyle/>
            <a:p>
              <a:pPr algn="l">
                <a:lnSpc>
                  <a:spcPts val="2999"/>
                </a:lnSpc>
              </a:pPr>
              <a:r>
                <a:rPr lang="en-US" sz="2499">
                  <a:solidFill>
                    <a:srgbClr val="0D1B2A"/>
                  </a:solidFill>
                  <a:latin typeface="Bree Serif"/>
                  <a:ea typeface="Bree Serif"/>
                  <a:cs typeface="Bree Serif"/>
                  <a:sym typeface="Bree Serif"/>
                </a:rPr>
                <a:t>Implementation Environment</a:t>
              </a:r>
            </a:p>
          </p:txBody>
        </p:sp>
      </p:grpSp>
      <p:grpSp>
        <p:nvGrpSpPr>
          <p:cNvPr name="Group 126" id="126"/>
          <p:cNvGrpSpPr/>
          <p:nvPr/>
        </p:nvGrpSpPr>
        <p:grpSpPr>
          <a:xfrm rot="0">
            <a:off x="9032997" y="7006876"/>
            <a:ext cx="2560320" cy="409804"/>
            <a:chOff x="0" y="0"/>
            <a:chExt cx="3413760" cy="546405"/>
          </a:xfrm>
        </p:grpSpPr>
        <p:sp>
          <p:nvSpPr>
            <p:cNvPr name="Freeform 127" id="127"/>
            <p:cNvSpPr/>
            <p:nvPr/>
          </p:nvSpPr>
          <p:spPr>
            <a:xfrm flipH="false" flipV="false" rot="0">
              <a:off x="0" y="0"/>
              <a:ext cx="3413760" cy="546405"/>
            </a:xfrm>
            <a:custGeom>
              <a:avLst/>
              <a:gdLst/>
              <a:ahLst/>
              <a:cxnLst/>
              <a:rect r="r" b="b" t="t" l="l"/>
              <a:pathLst>
                <a:path h="546405" w="3413760">
                  <a:moveTo>
                    <a:pt x="0" y="0"/>
                  </a:moveTo>
                  <a:lnTo>
                    <a:pt x="3413760" y="0"/>
                  </a:lnTo>
                  <a:lnTo>
                    <a:pt x="3413760" y="546405"/>
                  </a:lnTo>
                  <a:lnTo>
                    <a:pt x="0" y="546405"/>
                  </a:lnTo>
                  <a:close/>
                </a:path>
              </a:pathLst>
            </a:custGeom>
            <a:blipFill>
              <a:blip r:embed="rId2">
                <a:alphaModFix amt="0"/>
              </a:blip>
              <a:stretch>
                <a:fillRect l="0" t="-77109" r="0" b="-66362"/>
              </a:stretch>
            </a:blipFill>
          </p:spPr>
        </p:sp>
        <p:sp>
          <p:nvSpPr>
            <p:cNvPr name="TextBox 128" id="128"/>
            <p:cNvSpPr txBox="true"/>
            <p:nvPr/>
          </p:nvSpPr>
          <p:spPr>
            <a:xfrm>
              <a:off x="0" y="-9525"/>
              <a:ext cx="3413760" cy="555930"/>
            </a:xfrm>
            <a:prstGeom prst="rect">
              <a:avLst/>
            </a:prstGeom>
          </p:spPr>
          <p:txBody>
            <a:bodyPr anchor="ctr" rtlCol="false" tIns="0" lIns="0" bIns="0" rIns="0"/>
            <a:lstStyle/>
            <a:p>
              <a:pPr algn="l">
                <a:lnSpc>
                  <a:spcPts val="2520"/>
                </a:lnSpc>
              </a:pPr>
              <a:r>
                <a:rPr lang="en-US" sz="2100">
                  <a:solidFill>
                    <a:srgbClr val="2E5D6A"/>
                  </a:solidFill>
                  <a:latin typeface="Bree Serif"/>
                  <a:ea typeface="Bree Serif"/>
                  <a:cs typeface="Bree Serif"/>
                  <a:sym typeface="Bree Serif"/>
                </a:rPr>
                <a:t>IDE</a:t>
              </a:r>
            </a:p>
          </p:txBody>
        </p:sp>
      </p:grpSp>
      <p:grpSp>
        <p:nvGrpSpPr>
          <p:cNvPr name="Group 129" id="129"/>
          <p:cNvGrpSpPr/>
          <p:nvPr/>
        </p:nvGrpSpPr>
        <p:grpSpPr>
          <a:xfrm rot="0">
            <a:off x="11684757" y="7006876"/>
            <a:ext cx="5212080" cy="409804"/>
            <a:chOff x="0" y="0"/>
            <a:chExt cx="6949440" cy="546405"/>
          </a:xfrm>
        </p:grpSpPr>
        <p:sp>
          <p:nvSpPr>
            <p:cNvPr name="Freeform 130" id="130"/>
            <p:cNvSpPr/>
            <p:nvPr/>
          </p:nvSpPr>
          <p:spPr>
            <a:xfrm flipH="false" flipV="false" rot="0">
              <a:off x="0" y="0"/>
              <a:ext cx="6949440" cy="546405"/>
            </a:xfrm>
            <a:custGeom>
              <a:avLst/>
              <a:gdLst/>
              <a:ahLst/>
              <a:cxnLst/>
              <a:rect r="r" b="b" t="t" l="l"/>
              <a:pathLst>
                <a:path h="546405" w="6949440">
                  <a:moveTo>
                    <a:pt x="0" y="0"/>
                  </a:moveTo>
                  <a:lnTo>
                    <a:pt x="6949440" y="0"/>
                  </a:lnTo>
                  <a:lnTo>
                    <a:pt x="6949440" y="546405"/>
                  </a:lnTo>
                  <a:lnTo>
                    <a:pt x="0" y="546405"/>
                  </a:lnTo>
                  <a:close/>
                </a:path>
              </a:pathLst>
            </a:custGeom>
            <a:blipFill>
              <a:blip r:embed="rId2">
                <a:alphaModFix amt="0"/>
              </a:blip>
              <a:stretch>
                <a:fillRect l="0" t="-203193" r="0" b="-192446"/>
              </a:stretch>
            </a:blipFill>
          </p:spPr>
        </p:sp>
        <p:sp>
          <p:nvSpPr>
            <p:cNvPr name="TextBox 131" id="131"/>
            <p:cNvSpPr txBox="true"/>
            <p:nvPr/>
          </p:nvSpPr>
          <p:spPr>
            <a:xfrm>
              <a:off x="0" y="-9525"/>
              <a:ext cx="6949440" cy="555930"/>
            </a:xfrm>
            <a:prstGeom prst="rect">
              <a:avLst/>
            </a:prstGeom>
          </p:spPr>
          <p:txBody>
            <a:bodyPr anchor="ctr" rtlCol="false" tIns="0" lIns="0" bIns="0" rIns="0"/>
            <a:lstStyle/>
            <a:p>
              <a:pPr algn="l">
                <a:lnSpc>
                  <a:spcPts val="2520"/>
                </a:lnSpc>
              </a:pPr>
              <a:r>
                <a:rPr lang="en-US" sz="2100">
                  <a:solidFill>
                    <a:srgbClr val="0D1B2A"/>
                  </a:solidFill>
                  <a:latin typeface="Bree Serif"/>
                  <a:ea typeface="Bree Serif"/>
                  <a:cs typeface="Bree Serif"/>
                  <a:sym typeface="Bree Serif"/>
                </a:rPr>
                <a:t> VS Code</a:t>
              </a:r>
            </a:p>
          </p:txBody>
        </p:sp>
      </p:grpSp>
      <p:grpSp>
        <p:nvGrpSpPr>
          <p:cNvPr name="Group 132" id="132"/>
          <p:cNvGrpSpPr/>
          <p:nvPr/>
        </p:nvGrpSpPr>
        <p:grpSpPr>
          <a:xfrm rot="0">
            <a:off x="9032997" y="7409212"/>
            <a:ext cx="2560320" cy="409804"/>
            <a:chOff x="0" y="0"/>
            <a:chExt cx="3413760" cy="546405"/>
          </a:xfrm>
        </p:grpSpPr>
        <p:sp>
          <p:nvSpPr>
            <p:cNvPr name="Freeform 133" id="133"/>
            <p:cNvSpPr/>
            <p:nvPr/>
          </p:nvSpPr>
          <p:spPr>
            <a:xfrm flipH="false" flipV="false" rot="0">
              <a:off x="0" y="0"/>
              <a:ext cx="3413760" cy="546405"/>
            </a:xfrm>
            <a:custGeom>
              <a:avLst/>
              <a:gdLst/>
              <a:ahLst/>
              <a:cxnLst/>
              <a:rect r="r" b="b" t="t" l="l"/>
              <a:pathLst>
                <a:path h="546405" w="3413760">
                  <a:moveTo>
                    <a:pt x="0" y="0"/>
                  </a:moveTo>
                  <a:lnTo>
                    <a:pt x="3413760" y="0"/>
                  </a:lnTo>
                  <a:lnTo>
                    <a:pt x="3413760" y="546405"/>
                  </a:lnTo>
                  <a:lnTo>
                    <a:pt x="0" y="546405"/>
                  </a:lnTo>
                  <a:close/>
                </a:path>
              </a:pathLst>
            </a:custGeom>
            <a:blipFill>
              <a:blip r:embed="rId2">
                <a:alphaModFix amt="0"/>
              </a:blip>
              <a:stretch>
                <a:fillRect l="0" t="-77109" r="0" b="-66362"/>
              </a:stretch>
            </a:blipFill>
          </p:spPr>
        </p:sp>
        <p:sp>
          <p:nvSpPr>
            <p:cNvPr name="TextBox 134" id="134"/>
            <p:cNvSpPr txBox="true"/>
            <p:nvPr/>
          </p:nvSpPr>
          <p:spPr>
            <a:xfrm>
              <a:off x="0" y="-9525"/>
              <a:ext cx="3413760" cy="555930"/>
            </a:xfrm>
            <a:prstGeom prst="rect">
              <a:avLst/>
            </a:prstGeom>
          </p:spPr>
          <p:txBody>
            <a:bodyPr anchor="ctr" rtlCol="false" tIns="0" lIns="0" bIns="0" rIns="0"/>
            <a:lstStyle/>
            <a:p>
              <a:pPr algn="l">
                <a:lnSpc>
                  <a:spcPts val="2520"/>
                </a:lnSpc>
              </a:pPr>
              <a:r>
                <a:rPr lang="en-US" sz="2100">
                  <a:solidFill>
                    <a:srgbClr val="2E5D6A"/>
                  </a:solidFill>
                  <a:latin typeface="Bree Serif"/>
                  <a:ea typeface="Bree Serif"/>
                  <a:cs typeface="Bree Serif"/>
                  <a:sym typeface="Bree Serif"/>
                </a:rPr>
                <a:t>ML</a:t>
              </a:r>
            </a:p>
          </p:txBody>
        </p:sp>
      </p:grpSp>
      <p:grpSp>
        <p:nvGrpSpPr>
          <p:cNvPr name="Group 135" id="135"/>
          <p:cNvGrpSpPr/>
          <p:nvPr/>
        </p:nvGrpSpPr>
        <p:grpSpPr>
          <a:xfrm rot="0">
            <a:off x="11684757" y="7409212"/>
            <a:ext cx="5212080" cy="409804"/>
            <a:chOff x="0" y="0"/>
            <a:chExt cx="6949440" cy="546405"/>
          </a:xfrm>
        </p:grpSpPr>
        <p:sp>
          <p:nvSpPr>
            <p:cNvPr name="Freeform 136" id="136"/>
            <p:cNvSpPr/>
            <p:nvPr/>
          </p:nvSpPr>
          <p:spPr>
            <a:xfrm flipH="false" flipV="false" rot="0">
              <a:off x="0" y="0"/>
              <a:ext cx="6949440" cy="546405"/>
            </a:xfrm>
            <a:custGeom>
              <a:avLst/>
              <a:gdLst/>
              <a:ahLst/>
              <a:cxnLst/>
              <a:rect r="r" b="b" t="t" l="l"/>
              <a:pathLst>
                <a:path h="546405" w="6949440">
                  <a:moveTo>
                    <a:pt x="0" y="0"/>
                  </a:moveTo>
                  <a:lnTo>
                    <a:pt x="6949440" y="0"/>
                  </a:lnTo>
                  <a:lnTo>
                    <a:pt x="6949440" y="546405"/>
                  </a:lnTo>
                  <a:lnTo>
                    <a:pt x="0" y="546405"/>
                  </a:lnTo>
                  <a:close/>
                </a:path>
              </a:pathLst>
            </a:custGeom>
            <a:blipFill>
              <a:blip r:embed="rId2">
                <a:alphaModFix amt="0"/>
              </a:blip>
              <a:stretch>
                <a:fillRect l="0" t="-203193" r="0" b="-192446"/>
              </a:stretch>
            </a:blipFill>
          </p:spPr>
        </p:sp>
        <p:sp>
          <p:nvSpPr>
            <p:cNvPr name="TextBox 137" id="137"/>
            <p:cNvSpPr txBox="true"/>
            <p:nvPr/>
          </p:nvSpPr>
          <p:spPr>
            <a:xfrm>
              <a:off x="0" y="-9525"/>
              <a:ext cx="6949440" cy="555930"/>
            </a:xfrm>
            <a:prstGeom prst="rect">
              <a:avLst/>
            </a:prstGeom>
          </p:spPr>
          <p:txBody>
            <a:bodyPr anchor="ctr" rtlCol="false" tIns="0" lIns="0" bIns="0" rIns="0"/>
            <a:lstStyle/>
            <a:p>
              <a:pPr algn="l">
                <a:lnSpc>
                  <a:spcPts val="2520"/>
                </a:lnSpc>
              </a:pPr>
              <a:r>
                <a:rPr lang="en-US" sz="2100">
                  <a:solidFill>
                    <a:srgbClr val="0D1B2A"/>
                  </a:solidFill>
                  <a:latin typeface="Bree Serif"/>
                  <a:ea typeface="Bree Serif"/>
                  <a:cs typeface="Bree Serif"/>
                  <a:sym typeface="Bree Serif"/>
                </a:rPr>
                <a:t>scikit-learn </a:t>
              </a:r>
            </a:p>
          </p:txBody>
        </p:sp>
      </p:grpSp>
      <p:grpSp>
        <p:nvGrpSpPr>
          <p:cNvPr name="Group 138" id="138"/>
          <p:cNvGrpSpPr/>
          <p:nvPr/>
        </p:nvGrpSpPr>
        <p:grpSpPr>
          <a:xfrm rot="0">
            <a:off x="9032997" y="7811548"/>
            <a:ext cx="2560320" cy="409804"/>
            <a:chOff x="0" y="0"/>
            <a:chExt cx="3413760" cy="546405"/>
          </a:xfrm>
        </p:grpSpPr>
        <p:sp>
          <p:nvSpPr>
            <p:cNvPr name="Freeform 139" id="139"/>
            <p:cNvSpPr/>
            <p:nvPr/>
          </p:nvSpPr>
          <p:spPr>
            <a:xfrm flipH="false" flipV="false" rot="0">
              <a:off x="0" y="0"/>
              <a:ext cx="3413760" cy="546405"/>
            </a:xfrm>
            <a:custGeom>
              <a:avLst/>
              <a:gdLst/>
              <a:ahLst/>
              <a:cxnLst/>
              <a:rect r="r" b="b" t="t" l="l"/>
              <a:pathLst>
                <a:path h="546405" w="3413760">
                  <a:moveTo>
                    <a:pt x="0" y="0"/>
                  </a:moveTo>
                  <a:lnTo>
                    <a:pt x="3413760" y="0"/>
                  </a:lnTo>
                  <a:lnTo>
                    <a:pt x="3413760" y="546405"/>
                  </a:lnTo>
                  <a:lnTo>
                    <a:pt x="0" y="546405"/>
                  </a:lnTo>
                  <a:close/>
                </a:path>
              </a:pathLst>
            </a:custGeom>
            <a:blipFill>
              <a:blip r:embed="rId2">
                <a:alphaModFix amt="0"/>
              </a:blip>
              <a:stretch>
                <a:fillRect l="0" t="-77109" r="0" b="-66362"/>
              </a:stretch>
            </a:blipFill>
          </p:spPr>
        </p:sp>
        <p:sp>
          <p:nvSpPr>
            <p:cNvPr name="TextBox 140" id="140"/>
            <p:cNvSpPr txBox="true"/>
            <p:nvPr/>
          </p:nvSpPr>
          <p:spPr>
            <a:xfrm>
              <a:off x="0" y="-9525"/>
              <a:ext cx="3413760" cy="555930"/>
            </a:xfrm>
            <a:prstGeom prst="rect">
              <a:avLst/>
            </a:prstGeom>
          </p:spPr>
          <p:txBody>
            <a:bodyPr anchor="ctr" rtlCol="false" tIns="0" lIns="0" bIns="0" rIns="0"/>
            <a:lstStyle/>
            <a:p>
              <a:pPr algn="l">
                <a:lnSpc>
                  <a:spcPts val="2520"/>
                </a:lnSpc>
              </a:pPr>
              <a:r>
                <a:rPr lang="en-US" sz="2100">
                  <a:solidFill>
                    <a:srgbClr val="2E5D6A"/>
                  </a:solidFill>
                  <a:latin typeface="Bree Serif"/>
                  <a:ea typeface="Bree Serif"/>
                  <a:cs typeface="Bree Serif"/>
                  <a:sym typeface="Bree Serif"/>
                </a:rPr>
                <a:t>DL</a:t>
              </a:r>
            </a:p>
          </p:txBody>
        </p:sp>
      </p:grpSp>
      <p:grpSp>
        <p:nvGrpSpPr>
          <p:cNvPr name="Group 141" id="141"/>
          <p:cNvGrpSpPr/>
          <p:nvPr/>
        </p:nvGrpSpPr>
        <p:grpSpPr>
          <a:xfrm rot="0">
            <a:off x="11684757" y="7811548"/>
            <a:ext cx="5212080" cy="409804"/>
            <a:chOff x="0" y="0"/>
            <a:chExt cx="6949440" cy="546405"/>
          </a:xfrm>
        </p:grpSpPr>
        <p:sp>
          <p:nvSpPr>
            <p:cNvPr name="Freeform 142" id="142"/>
            <p:cNvSpPr/>
            <p:nvPr/>
          </p:nvSpPr>
          <p:spPr>
            <a:xfrm flipH="false" flipV="false" rot="0">
              <a:off x="0" y="0"/>
              <a:ext cx="6949440" cy="546405"/>
            </a:xfrm>
            <a:custGeom>
              <a:avLst/>
              <a:gdLst/>
              <a:ahLst/>
              <a:cxnLst/>
              <a:rect r="r" b="b" t="t" l="l"/>
              <a:pathLst>
                <a:path h="546405" w="6949440">
                  <a:moveTo>
                    <a:pt x="0" y="0"/>
                  </a:moveTo>
                  <a:lnTo>
                    <a:pt x="6949440" y="0"/>
                  </a:lnTo>
                  <a:lnTo>
                    <a:pt x="6949440" y="546405"/>
                  </a:lnTo>
                  <a:lnTo>
                    <a:pt x="0" y="546405"/>
                  </a:lnTo>
                  <a:close/>
                </a:path>
              </a:pathLst>
            </a:custGeom>
            <a:blipFill>
              <a:blip r:embed="rId2">
                <a:alphaModFix amt="0"/>
              </a:blip>
              <a:stretch>
                <a:fillRect l="0" t="-203193" r="0" b="-192446"/>
              </a:stretch>
            </a:blipFill>
          </p:spPr>
        </p:sp>
        <p:sp>
          <p:nvSpPr>
            <p:cNvPr name="TextBox 143" id="143"/>
            <p:cNvSpPr txBox="true"/>
            <p:nvPr/>
          </p:nvSpPr>
          <p:spPr>
            <a:xfrm>
              <a:off x="0" y="-9525"/>
              <a:ext cx="6949440" cy="555930"/>
            </a:xfrm>
            <a:prstGeom prst="rect">
              <a:avLst/>
            </a:prstGeom>
          </p:spPr>
          <p:txBody>
            <a:bodyPr anchor="ctr" rtlCol="false" tIns="0" lIns="0" bIns="0" rIns="0"/>
            <a:lstStyle/>
            <a:p>
              <a:pPr algn="l">
                <a:lnSpc>
                  <a:spcPts val="2520"/>
                </a:lnSpc>
              </a:pPr>
              <a:r>
                <a:rPr lang="en-US" sz="2100">
                  <a:solidFill>
                    <a:srgbClr val="0D1B2A"/>
                  </a:solidFill>
                  <a:latin typeface="Bree Serif"/>
                  <a:ea typeface="Bree Serif"/>
                  <a:cs typeface="Bree Serif"/>
                  <a:sym typeface="Bree Serif"/>
                </a:rPr>
                <a:t>TensorFlow 2.12 / Keras</a:t>
              </a:r>
            </a:p>
          </p:txBody>
        </p:sp>
      </p:grpSp>
      <p:grpSp>
        <p:nvGrpSpPr>
          <p:cNvPr name="Group 144" id="144"/>
          <p:cNvGrpSpPr/>
          <p:nvPr/>
        </p:nvGrpSpPr>
        <p:grpSpPr>
          <a:xfrm rot="0">
            <a:off x="9032997" y="8213884"/>
            <a:ext cx="2560320" cy="409804"/>
            <a:chOff x="0" y="0"/>
            <a:chExt cx="3413760" cy="546405"/>
          </a:xfrm>
        </p:grpSpPr>
        <p:sp>
          <p:nvSpPr>
            <p:cNvPr name="Freeform 145" id="145"/>
            <p:cNvSpPr/>
            <p:nvPr/>
          </p:nvSpPr>
          <p:spPr>
            <a:xfrm flipH="false" flipV="false" rot="0">
              <a:off x="0" y="0"/>
              <a:ext cx="3413760" cy="546405"/>
            </a:xfrm>
            <a:custGeom>
              <a:avLst/>
              <a:gdLst/>
              <a:ahLst/>
              <a:cxnLst/>
              <a:rect r="r" b="b" t="t" l="l"/>
              <a:pathLst>
                <a:path h="546405" w="3413760">
                  <a:moveTo>
                    <a:pt x="0" y="0"/>
                  </a:moveTo>
                  <a:lnTo>
                    <a:pt x="3413760" y="0"/>
                  </a:lnTo>
                  <a:lnTo>
                    <a:pt x="3413760" y="546405"/>
                  </a:lnTo>
                  <a:lnTo>
                    <a:pt x="0" y="546405"/>
                  </a:lnTo>
                  <a:close/>
                </a:path>
              </a:pathLst>
            </a:custGeom>
            <a:blipFill>
              <a:blip r:embed="rId2">
                <a:alphaModFix amt="0"/>
              </a:blip>
              <a:stretch>
                <a:fillRect l="0" t="-77109" r="0" b="-66362"/>
              </a:stretch>
            </a:blipFill>
          </p:spPr>
        </p:sp>
        <p:sp>
          <p:nvSpPr>
            <p:cNvPr name="TextBox 146" id="146"/>
            <p:cNvSpPr txBox="true"/>
            <p:nvPr/>
          </p:nvSpPr>
          <p:spPr>
            <a:xfrm>
              <a:off x="0" y="-9525"/>
              <a:ext cx="3413760" cy="555930"/>
            </a:xfrm>
            <a:prstGeom prst="rect">
              <a:avLst/>
            </a:prstGeom>
          </p:spPr>
          <p:txBody>
            <a:bodyPr anchor="ctr" rtlCol="false" tIns="0" lIns="0" bIns="0" rIns="0"/>
            <a:lstStyle/>
            <a:p>
              <a:pPr algn="l">
                <a:lnSpc>
                  <a:spcPts val="2520"/>
                </a:lnSpc>
              </a:pPr>
              <a:r>
                <a:rPr lang="en-US" sz="2100">
                  <a:solidFill>
                    <a:srgbClr val="2E5D6A"/>
                  </a:solidFill>
                  <a:latin typeface="Bree Serif"/>
                  <a:ea typeface="Bree Serif"/>
                  <a:cs typeface="Bree Serif"/>
                  <a:sym typeface="Bree Serif"/>
                </a:rPr>
                <a:t>NLP</a:t>
              </a:r>
            </a:p>
          </p:txBody>
        </p:sp>
      </p:grpSp>
      <p:grpSp>
        <p:nvGrpSpPr>
          <p:cNvPr name="Group 147" id="147"/>
          <p:cNvGrpSpPr/>
          <p:nvPr/>
        </p:nvGrpSpPr>
        <p:grpSpPr>
          <a:xfrm rot="0">
            <a:off x="11684757" y="8213884"/>
            <a:ext cx="5212080" cy="409804"/>
            <a:chOff x="0" y="0"/>
            <a:chExt cx="6949440" cy="546405"/>
          </a:xfrm>
        </p:grpSpPr>
        <p:sp>
          <p:nvSpPr>
            <p:cNvPr name="Freeform 148" id="148"/>
            <p:cNvSpPr/>
            <p:nvPr/>
          </p:nvSpPr>
          <p:spPr>
            <a:xfrm flipH="false" flipV="false" rot="0">
              <a:off x="0" y="0"/>
              <a:ext cx="6949440" cy="546405"/>
            </a:xfrm>
            <a:custGeom>
              <a:avLst/>
              <a:gdLst/>
              <a:ahLst/>
              <a:cxnLst/>
              <a:rect r="r" b="b" t="t" l="l"/>
              <a:pathLst>
                <a:path h="546405" w="6949440">
                  <a:moveTo>
                    <a:pt x="0" y="0"/>
                  </a:moveTo>
                  <a:lnTo>
                    <a:pt x="6949440" y="0"/>
                  </a:lnTo>
                  <a:lnTo>
                    <a:pt x="6949440" y="546405"/>
                  </a:lnTo>
                  <a:lnTo>
                    <a:pt x="0" y="546405"/>
                  </a:lnTo>
                  <a:close/>
                </a:path>
              </a:pathLst>
            </a:custGeom>
            <a:blipFill>
              <a:blip r:embed="rId2">
                <a:alphaModFix amt="0"/>
              </a:blip>
              <a:stretch>
                <a:fillRect l="0" t="-203193" r="0" b="-192446"/>
              </a:stretch>
            </a:blipFill>
          </p:spPr>
        </p:sp>
        <p:sp>
          <p:nvSpPr>
            <p:cNvPr name="TextBox 149" id="149"/>
            <p:cNvSpPr txBox="true"/>
            <p:nvPr/>
          </p:nvSpPr>
          <p:spPr>
            <a:xfrm>
              <a:off x="0" y="-9525"/>
              <a:ext cx="6949440" cy="555930"/>
            </a:xfrm>
            <a:prstGeom prst="rect">
              <a:avLst/>
            </a:prstGeom>
          </p:spPr>
          <p:txBody>
            <a:bodyPr anchor="ctr" rtlCol="false" tIns="0" lIns="0" bIns="0" rIns="0"/>
            <a:lstStyle/>
            <a:p>
              <a:pPr algn="l">
                <a:lnSpc>
                  <a:spcPts val="2520"/>
                </a:lnSpc>
              </a:pPr>
              <a:r>
                <a:rPr lang="en-US" sz="2100">
                  <a:solidFill>
                    <a:srgbClr val="0D1B2A"/>
                  </a:solidFill>
                  <a:latin typeface="Bree Serif"/>
                  <a:ea typeface="Bree Serif"/>
                  <a:cs typeface="Bree Serif"/>
                  <a:sym typeface="Bree Serif"/>
                </a:rPr>
                <a:t>NLTK 3.8</a:t>
              </a:r>
            </a:p>
          </p:txBody>
        </p:sp>
      </p:grpSp>
      <p:grpSp>
        <p:nvGrpSpPr>
          <p:cNvPr name="Group 150" id="150"/>
          <p:cNvGrpSpPr/>
          <p:nvPr/>
        </p:nvGrpSpPr>
        <p:grpSpPr>
          <a:xfrm rot="0">
            <a:off x="9032997" y="8616220"/>
            <a:ext cx="2560320" cy="409804"/>
            <a:chOff x="0" y="0"/>
            <a:chExt cx="3413760" cy="546405"/>
          </a:xfrm>
        </p:grpSpPr>
        <p:sp>
          <p:nvSpPr>
            <p:cNvPr name="Freeform 151" id="151"/>
            <p:cNvSpPr/>
            <p:nvPr/>
          </p:nvSpPr>
          <p:spPr>
            <a:xfrm flipH="false" flipV="false" rot="0">
              <a:off x="0" y="0"/>
              <a:ext cx="3413760" cy="546405"/>
            </a:xfrm>
            <a:custGeom>
              <a:avLst/>
              <a:gdLst/>
              <a:ahLst/>
              <a:cxnLst/>
              <a:rect r="r" b="b" t="t" l="l"/>
              <a:pathLst>
                <a:path h="546405" w="3413760">
                  <a:moveTo>
                    <a:pt x="0" y="0"/>
                  </a:moveTo>
                  <a:lnTo>
                    <a:pt x="3413760" y="0"/>
                  </a:lnTo>
                  <a:lnTo>
                    <a:pt x="3413760" y="546405"/>
                  </a:lnTo>
                  <a:lnTo>
                    <a:pt x="0" y="546405"/>
                  </a:lnTo>
                  <a:close/>
                </a:path>
              </a:pathLst>
            </a:custGeom>
            <a:blipFill>
              <a:blip r:embed="rId2">
                <a:alphaModFix amt="0"/>
              </a:blip>
              <a:stretch>
                <a:fillRect l="0" t="-77109" r="0" b="-66362"/>
              </a:stretch>
            </a:blipFill>
          </p:spPr>
        </p:sp>
        <p:sp>
          <p:nvSpPr>
            <p:cNvPr name="TextBox 152" id="152"/>
            <p:cNvSpPr txBox="true"/>
            <p:nvPr/>
          </p:nvSpPr>
          <p:spPr>
            <a:xfrm>
              <a:off x="0" y="-9525"/>
              <a:ext cx="3413760" cy="555930"/>
            </a:xfrm>
            <a:prstGeom prst="rect">
              <a:avLst/>
            </a:prstGeom>
          </p:spPr>
          <p:txBody>
            <a:bodyPr anchor="ctr" rtlCol="false" tIns="0" lIns="0" bIns="0" rIns="0"/>
            <a:lstStyle/>
            <a:p>
              <a:pPr algn="l">
                <a:lnSpc>
                  <a:spcPts val="2520"/>
                </a:lnSpc>
              </a:pPr>
              <a:r>
                <a:rPr lang="en-US" sz="2100">
                  <a:solidFill>
                    <a:srgbClr val="2E5D6A"/>
                  </a:solidFill>
                  <a:latin typeface="Bree Serif"/>
                  <a:ea typeface="Bree Serif"/>
                  <a:cs typeface="Bree Serif"/>
                  <a:sym typeface="Bree Serif"/>
                </a:rPr>
                <a:t>App</a:t>
              </a:r>
            </a:p>
          </p:txBody>
        </p:sp>
      </p:grpSp>
      <p:grpSp>
        <p:nvGrpSpPr>
          <p:cNvPr name="Group 153" id="153"/>
          <p:cNvGrpSpPr/>
          <p:nvPr/>
        </p:nvGrpSpPr>
        <p:grpSpPr>
          <a:xfrm rot="0">
            <a:off x="11684757" y="8616220"/>
            <a:ext cx="5212080" cy="409804"/>
            <a:chOff x="0" y="0"/>
            <a:chExt cx="6949440" cy="546405"/>
          </a:xfrm>
        </p:grpSpPr>
        <p:sp>
          <p:nvSpPr>
            <p:cNvPr name="Freeform 154" id="154"/>
            <p:cNvSpPr/>
            <p:nvPr/>
          </p:nvSpPr>
          <p:spPr>
            <a:xfrm flipH="false" flipV="false" rot="0">
              <a:off x="0" y="0"/>
              <a:ext cx="6949440" cy="546405"/>
            </a:xfrm>
            <a:custGeom>
              <a:avLst/>
              <a:gdLst/>
              <a:ahLst/>
              <a:cxnLst/>
              <a:rect r="r" b="b" t="t" l="l"/>
              <a:pathLst>
                <a:path h="546405" w="6949440">
                  <a:moveTo>
                    <a:pt x="0" y="0"/>
                  </a:moveTo>
                  <a:lnTo>
                    <a:pt x="6949440" y="0"/>
                  </a:lnTo>
                  <a:lnTo>
                    <a:pt x="6949440" y="546405"/>
                  </a:lnTo>
                  <a:lnTo>
                    <a:pt x="0" y="546405"/>
                  </a:lnTo>
                  <a:close/>
                </a:path>
              </a:pathLst>
            </a:custGeom>
            <a:blipFill>
              <a:blip r:embed="rId2">
                <a:alphaModFix amt="0"/>
              </a:blip>
              <a:stretch>
                <a:fillRect l="0" t="-203193" r="0" b="-192446"/>
              </a:stretch>
            </a:blipFill>
          </p:spPr>
        </p:sp>
        <p:sp>
          <p:nvSpPr>
            <p:cNvPr name="TextBox 155" id="155"/>
            <p:cNvSpPr txBox="true"/>
            <p:nvPr/>
          </p:nvSpPr>
          <p:spPr>
            <a:xfrm>
              <a:off x="0" y="-9525"/>
              <a:ext cx="6949440" cy="555930"/>
            </a:xfrm>
            <a:prstGeom prst="rect">
              <a:avLst/>
            </a:prstGeom>
          </p:spPr>
          <p:txBody>
            <a:bodyPr anchor="ctr" rtlCol="false" tIns="0" lIns="0" bIns="0" rIns="0"/>
            <a:lstStyle/>
            <a:p>
              <a:pPr algn="l">
                <a:lnSpc>
                  <a:spcPts val="2520"/>
                </a:lnSpc>
              </a:pPr>
              <a:r>
                <a:rPr lang="en-US" sz="2100">
                  <a:solidFill>
                    <a:srgbClr val="0D1B2A"/>
                  </a:solidFill>
                  <a:latin typeface="Bree Serif"/>
                  <a:ea typeface="Bree Serif"/>
                  <a:cs typeface="Bree Serif"/>
                  <a:sym typeface="Bree Serif"/>
                </a:rPr>
                <a:t>Flask</a:t>
              </a:r>
            </a:p>
          </p:txBody>
        </p:sp>
      </p:grpSp>
      <p:grpSp>
        <p:nvGrpSpPr>
          <p:cNvPr name="Group 156" id="156"/>
          <p:cNvGrpSpPr/>
          <p:nvPr/>
        </p:nvGrpSpPr>
        <p:grpSpPr>
          <a:xfrm rot="0">
            <a:off x="9032997" y="9018556"/>
            <a:ext cx="2560320" cy="409804"/>
            <a:chOff x="0" y="0"/>
            <a:chExt cx="3413760" cy="546405"/>
          </a:xfrm>
        </p:grpSpPr>
        <p:sp>
          <p:nvSpPr>
            <p:cNvPr name="Freeform 157" id="157"/>
            <p:cNvSpPr/>
            <p:nvPr/>
          </p:nvSpPr>
          <p:spPr>
            <a:xfrm flipH="false" flipV="false" rot="0">
              <a:off x="0" y="0"/>
              <a:ext cx="3413760" cy="546405"/>
            </a:xfrm>
            <a:custGeom>
              <a:avLst/>
              <a:gdLst/>
              <a:ahLst/>
              <a:cxnLst/>
              <a:rect r="r" b="b" t="t" l="l"/>
              <a:pathLst>
                <a:path h="546405" w="3413760">
                  <a:moveTo>
                    <a:pt x="0" y="0"/>
                  </a:moveTo>
                  <a:lnTo>
                    <a:pt x="3413760" y="0"/>
                  </a:lnTo>
                  <a:lnTo>
                    <a:pt x="3413760" y="546405"/>
                  </a:lnTo>
                  <a:lnTo>
                    <a:pt x="0" y="546405"/>
                  </a:lnTo>
                  <a:close/>
                </a:path>
              </a:pathLst>
            </a:custGeom>
            <a:blipFill>
              <a:blip r:embed="rId2">
                <a:alphaModFix amt="0"/>
              </a:blip>
              <a:stretch>
                <a:fillRect l="0" t="-77109" r="0" b="-66362"/>
              </a:stretch>
            </a:blipFill>
          </p:spPr>
        </p:sp>
        <p:sp>
          <p:nvSpPr>
            <p:cNvPr name="TextBox 158" id="158"/>
            <p:cNvSpPr txBox="true"/>
            <p:nvPr/>
          </p:nvSpPr>
          <p:spPr>
            <a:xfrm>
              <a:off x="0" y="-9525"/>
              <a:ext cx="3413760" cy="555930"/>
            </a:xfrm>
            <a:prstGeom prst="rect">
              <a:avLst/>
            </a:prstGeom>
          </p:spPr>
          <p:txBody>
            <a:bodyPr anchor="ctr" rtlCol="false" tIns="0" lIns="0" bIns="0" rIns="0"/>
            <a:lstStyle/>
            <a:p>
              <a:pPr algn="l">
                <a:lnSpc>
                  <a:spcPts val="2520"/>
                </a:lnSpc>
              </a:pPr>
              <a:r>
                <a:rPr lang="en-US" sz="2100">
                  <a:solidFill>
                    <a:srgbClr val="2E5D6A"/>
                  </a:solidFill>
                  <a:latin typeface="Bree Serif"/>
                  <a:ea typeface="Bree Serif"/>
                  <a:cs typeface="Bree Serif"/>
                  <a:sym typeface="Bree Serif"/>
                </a:rPr>
                <a:t>Explain</a:t>
              </a:r>
            </a:p>
          </p:txBody>
        </p:sp>
      </p:grpSp>
      <p:grpSp>
        <p:nvGrpSpPr>
          <p:cNvPr name="Group 159" id="159"/>
          <p:cNvGrpSpPr/>
          <p:nvPr/>
        </p:nvGrpSpPr>
        <p:grpSpPr>
          <a:xfrm rot="0">
            <a:off x="11684757" y="9018556"/>
            <a:ext cx="5212080" cy="409804"/>
            <a:chOff x="0" y="0"/>
            <a:chExt cx="6949440" cy="546405"/>
          </a:xfrm>
        </p:grpSpPr>
        <p:sp>
          <p:nvSpPr>
            <p:cNvPr name="Freeform 160" id="160"/>
            <p:cNvSpPr/>
            <p:nvPr/>
          </p:nvSpPr>
          <p:spPr>
            <a:xfrm flipH="false" flipV="false" rot="0">
              <a:off x="0" y="0"/>
              <a:ext cx="6949440" cy="546405"/>
            </a:xfrm>
            <a:custGeom>
              <a:avLst/>
              <a:gdLst/>
              <a:ahLst/>
              <a:cxnLst/>
              <a:rect r="r" b="b" t="t" l="l"/>
              <a:pathLst>
                <a:path h="546405" w="6949440">
                  <a:moveTo>
                    <a:pt x="0" y="0"/>
                  </a:moveTo>
                  <a:lnTo>
                    <a:pt x="6949440" y="0"/>
                  </a:lnTo>
                  <a:lnTo>
                    <a:pt x="6949440" y="546405"/>
                  </a:lnTo>
                  <a:lnTo>
                    <a:pt x="0" y="546405"/>
                  </a:lnTo>
                  <a:close/>
                </a:path>
              </a:pathLst>
            </a:custGeom>
            <a:blipFill>
              <a:blip r:embed="rId2">
                <a:alphaModFix amt="0"/>
              </a:blip>
              <a:stretch>
                <a:fillRect l="0" t="-203193" r="0" b="-192446"/>
              </a:stretch>
            </a:blipFill>
          </p:spPr>
        </p:sp>
        <p:sp>
          <p:nvSpPr>
            <p:cNvPr name="TextBox 161" id="161"/>
            <p:cNvSpPr txBox="true"/>
            <p:nvPr/>
          </p:nvSpPr>
          <p:spPr>
            <a:xfrm>
              <a:off x="0" y="-9525"/>
              <a:ext cx="6949440" cy="555930"/>
            </a:xfrm>
            <a:prstGeom prst="rect">
              <a:avLst/>
            </a:prstGeom>
          </p:spPr>
          <p:txBody>
            <a:bodyPr anchor="ctr" rtlCol="false" tIns="0" lIns="0" bIns="0" rIns="0"/>
            <a:lstStyle/>
            <a:p>
              <a:pPr algn="l">
                <a:lnSpc>
                  <a:spcPts val="2520"/>
                </a:lnSpc>
              </a:pPr>
              <a:r>
                <a:rPr lang="en-US" sz="2100">
                  <a:solidFill>
                    <a:srgbClr val="0D1B2A"/>
                  </a:solidFill>
                  <a:latin typeface="Bree Serif"/>
                  <a:ea typeface="Bree Serif"/>
                  <a:cs typeface="Bree Serif"/>
                  <a:sym typeface="Bree Serif"/>
                </a:rPr>
                <a:t>SHAP-inspired coefficient attribution</a:t>
              </a:r>
            </a:p>
          </p:txBody>
        </p:sp>
      </p:grpSp>
      <p:sp>
        <p:nvSpPr>
          <p:cNvPr name="TextBox 162" id="16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323962"/>
                </a:solidFill>
                <a:latin typeface="Bree Serif"/>
                <a:ea typeface="Bree Serif"/>
                <a:cs typeface="Bree Serif"/>
                <a:sym typeface="Bree Serif"/>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BD8ED"/>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640080" y="2210028"/>
          <a:ext cx="9066659" cy="5578447"/>
        </p:xfrm>
        <a:graphic>
          <a:graphicData uri="http://schemas.openxmlformats.org/drawingml/2006/table">
            <a:tbl>
              <a:tblPr/>
              <a:tblGrid>
                <a:gridCol w="2088432"/>
                <a:gridCol w="1744557"/>
                <a:gridCol w="1744557"/>
                <a:gridCol w="1744557"/>
                <a:gridCol w="1744557"/>
              </a:tblGrid>
              <a:tr h="877299">
                <a:tc>
                  <a:txBody>
                    <a:bodyPr anchor="t" rtlCol="false"/>
                    <a:lstStyle/>
                    <a:p>
                      <a:pPr algn="l">
                        <a:lnSpc>
                          <a:spcPts val="2400"/>
                        </a:lnSpc>
                        <a:defRPr/>
                      </a:pPr>
                      <a:r>
                        <a:rPr lang="en-US" sz="2000">
                          <a:solidFill>
                            <a:srgbClr val="FFFFFF"/>
                          </a:solidFill>
                          <a:latin typeface="Bree Serif"/>
                          <a:ea typeface="Bree Serif"/>
                          <a:cs typeface="Bree Serif"/>
                          <a:sym typeface="Bree Serif"/>
                        </a:rPr>
                        <a:t>Model</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1800AD"/>
                    </a:solidFill>
                  </a:tcPr>
                </a:tc>
                <a:tc>
                  <a:txBody>
                    <a:bodyPr anchor="t" rtlCol="false"/>
                    <a:lstStyle/>
                    <a:p>
                      <a:pPr algn="l">
                        <a:lnSpc>
                          <a:spcPts val="2400"/>
                        </a:lnSpc>
                        <a:defRPr/>
                      </a:pPr>
                      <a:r>
                        <a:rPr lang="en-US" sz="2000">
                          <a:solidFill>
                            <a:srgbClr val="FFFFFF"/>
                          </a:solidFill>
                          <a:latin typeface="Bree Serif"/>
                          <a:ea typeface="Bree Serif"/>
                          <a:cs typeface="Bree Serif"/>
                          <a:sym typeface="Bree Serif"/>
                        </a:rPr>
                        <a:t>Macro F1</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1800AD"/>
                    </a:solidFill>
                  </a:tcPr>
                </a:tc>
                <a:tc>
                  <a:txBody>
                    <a:bodyPr anchor="t" rtlCol="false"/>
                    <a:lstStyle/>
                    <a:p>
                      <a:pPr algn="l">
                        <a:lnSpc>
                          <a:spcPts val="2400"/>
                        </a:lnSpc>
                        <a:defRPr/>
                      </a:pPr>
                      <a:r>
                        <a:rPr lang="en-US" sz="2000">
                          <a:solidFill>
                            <a:srgbClr val="FFFFFF"/>
                          </a:solidFill>
                          <a:latin typeface="Bree Serif"/>
                          <a:ea typeface="Bree Serif"/>
                          <a:cs typeface="Bree Serif"/>
                          <a:sym typeface="Bree Serif"/>
                        </a:rPr>
                        <a:t>ROC-AUC</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1800AD"/>
                    </a:solidFill>
                  </a:tcPr>
                </a:tc>
                <a:tc>
                  <a:txBody>
                    <a:bodyPr anchor="t" rtlCol="false"/>
                    <a:lstStyle/>
                    <a:p>
                      <a:pPr algn="l">
                        <a:lnSpc>
                          <a:spcPts val="2400"/>
                        </a:lnSpc>
                        <a:defRPr/>
                      </a:pPr>
                      <a:r>
                        <a:rPr lang="en-US" sz="2000">
                          <a:solidFill>
                            <a:srgbClr val="FFFFFF"/>
                          </a:solidFill>
                          <a:latin typeface="Bree Serif"/>
                          <a:ea typeface="Bree Serif"/>
                          <a:cs typeface="Bree Serif"/>
                          <a:sym typeface="Bree Serif"/>
                        </a:rPr>
                        <a:t>High Recall</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1800AD"/>
                    </a:solidFill>
                  </a:tcPr>
                </a:tc>
                <a:tc>
                  <a:txBody>
                    <a:bodyPr anchor="t" rtlCol="false"/>
                    <a:lstStyle/>
                    <a:p>
                      <a:pPr algn="l">
                        <a:lnSpc>
                          <a:spcPts val="2400"/>
                        </a:lnSpc>
                        <a:defRPr/>
                      </a:pPr>
                      <a:r>
                        <a:rPr lang="en-US" sz="2000">
                          <a:solidFill>
                            <a:srgbClr val="FFFFFF"/>
                          </a:solidFill>
                          <a:latin typeface="Bree Serif"/>
                          <a:ea typeface="Bree Serif"/>
                          <a:cs typeface="Bree Serif"/>
                          <a:sym typeface="Bree Serif"/>
                        </a:rPr>
                        <a:t>Critical Errors ↓</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1800AD"/>
                    </a:solidFill>
                  </a:tcPr>
                </a:tc>
              </a:tr>
              <a:tr h="1172910">
                <a:tc>
                  <a:txBody>
                    <a:bodyPr anchor="t" rtlCol="false"/>
                    <a:lstStyle/>
                    <a:p>
                      <a:pPr algn="l">
                        <a:lnSpc>
                          <a:spcPts val="2400"/>
                        </a:lnSpc>
                        <a:defRPr/>
                      </a:pPr>
                      <a:r>
                        <a:rPr lang="en-US" sz="2000">
                          <a:solidFill>
                            <a:srgbClr val="028090"/>
                          </a:solidFill>
                          <a:latin typeface="Bree Serif"/>
                          <a:ea typeface="Bree Serif"/>
                          <a:cs typeface="Bree Serif"/>
                          <a:sym typeface="Bree Serif"/>
                        </a:rPr>
                        <a:t>Logistic Regression ★ (best F1+AUC)</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A1F7DA"/>
                    </a:solidFill>
                  </a:tcPr>
                </a:tc>
                <a:tc>
                  <a:txBody>
                    <a:bodyPr anchor="t" rtlCol="false"/>
                    <a:lstStyle/>
                    <a:p>
                      <a:pPr algn="l">
                        <a:lnSpc>
                          <a:spcPts val="2400"/>
                        </a:lnSpc>
                        <a:defRPr/>
                      </a:pPr>
                      <a:r>
                        <a:rPr lang="en-US" sz="2000">
                          <a:solidFill>
                            <a:srgbClr val="028090"/>
                          </a:solidFill>
                          <a:latin typeface="Bree Serif"/>
                          <a:ea typeface="Bree Serif"/>
                          <a:cs typeface="Bree Serif"/>
                          <a:sym typeface="Bree Serif"/>
                        </a:rPr>
                        <a:t>0.8343</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A1F7DA"/>
                    </a:solidFill>
                  </a:tcPr>
                </a:tc>
                <a:tc>
                  <a:txBody>
                    <a:bodyPr anchor="t" rtlCol="false"/>
                    <a:lstStyle/>
                    <a:p>
                      <a:pPr algn="l">
                        <a:lnSpc>
                          <a:spcPts val="2400"/>
                        </a:lnSpc>
                        <a:defRPr/>
                      </a:pPr>
                      <a:r>
                        <a:rPr lang="en-US" sz="2000">
                          <a:solidFill>
                            <a:srgbClr val="028090"/>
                          </a:solidFill>
                          <a:latin typeface="Bree Serif"/>
                          <a:ea typeface="Bree Serif"/>
                          <a:cs typeface="Bree Serif"/>
                          <a:sym typeface="Bree Serif"/>
                        </a:rPr>
                        <a:t>0.9557</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A1F7DA"/>
                    </a:solidFill>
                  </a:tcPr>
                </a:tc>
                <a:tc>
                  <a:txBody>
                    <a:bodyPr anchor="t" rtlCol="false"/>
                    <a:lstStyle/>
                    <a:p>
                      <a:pPr algn="l">
                        <a:lnSpc>
                          <a:spcPts val="2400"/>
                        </a:lnSpc>
                        <a:defRPr/>
                      </a:pPr>
                      <a:r>
                        <a:rPr lang="en-US" sz="2000">
                          <a:solidFill>
                            <a:srgbClr val="028090"/>
                          </a:solidFill>
                          <a:latin typeface="Bree Serif"/>
                          <a:ea typeface="Bree Serif"/>
                          <a:cs typeface="Bree Serif"/>
                          <a:sym typeface="Bree Serif"/>
                        </a:rPr>
                        <a:t>0.87</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A1F7DA"/>
                    </a:solidFill>
                  </a:tcPr>
                </a:tc>
                <a:tc>
                  <a:txBody>
                    <a:bodyPr anchor="t" rtlCol="false"/>
                    <a:lstStyle/>
                    <a:p>
                      <a:pPr algn="l">
                        <a:lnSpc>
                          <a:spcPts val="2400"/>
                        </a:lnSpc>
                        <a:defRPr/>
                      </a:pPr>
                      <a:r>
                        <a:rPr lang="en-US" sz="2000">
                          <a:solidFill>
                            <a:srgbClr val="028090"/>
                          </a:solidFill>
                          <a:latin typeface="Bree Serif"/>
                          <a:ea typeface="Bree Serif"/>
                          <a:cs typeface="Bree Serif"/>
                          <a:sym typeface="Bree Serif"/>
                        </a:rPr>
                        <a:t>73</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A1F7DA"/>
                    </a:solidFill>
                  </a:tcPr>
                </a:tc>
              </a:tr>
              <a:tr h="591214">
                <a:tc>
                  <a:txBody>
                    <a:bodyPr anchor="t" rtlCol="false"/>
                    <a:lstStyle/>
                    <a:p>
                      <a:pPr algn="l">
                        <a:lnSpc>
                          <a:spcPts val="2400"/>
                        </a:lnSpc>
                        <a:defRPr/>
                      </a:pPr>
                      <a:r>
                        <a:rPr lang="en-US" sz="2000">
                          <a:solidFill>
                            <a:srgbClr val="0D1B2A"/>
                          </a:solidFill>
                          <a:latin typeface="Bree Serif"/>
                          <a:ea typeface="Bree Serif"/>
                          <a:cs typeface="Bree Serif"/>
                          <a:sym typeface="Bree Serif"/>
                        </a:rPr>
                        <a:t>Linear SVM</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0D1B2A"/>
                          </a:solidFill>
                          <a:latin typeface="Bree Serif"/>
                          <a:ea typeface="Bree Serif"/>
                          <a:cs typeface="Bree Serif"/>
                          <a:sym typeface="Bree Serif"/>
                        </a:rPr>
                        <a:t>0.8294</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0D1B2A"/>
                          </a:solidFill>
                          <a:latin typeface="Bree Serif"/>
                          <a:ea typeface="Bree Serif"/>
                          <a:cs typeface="Bree Serif"/>
                          <a:sym typeface="Bree Serif"/>
                        </a:rPr>
                        <a:t>0.9478</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0D1B2A"/>
                          </a:solidFill>
                          <a:latin typeface="Bree Serif"/>
                          <a:ea typeface="Bree Serif"/>
                          <a:cs typeface="Bree Serif"/>
                          <a:sym typeface="Bree Serif"/>
                        </a:rPr>
                        <a:t>0.89</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0D1B2A"/>
                          </a:solidFill>
                          <a:latin typeface="Bree Serif"/>
                          <a:ea typeface="Bree Serif"/>
                          <a:cs typeface="Bree Serif"/>
                          <a:sym typeface="Bree Serif"/>
                        </a:rPr>
                        <a:t>79</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r>
              <a:tr h="591214">
                <a:tc>
                  <a:txBody>
                    <a:bodyPr anchor="t" rtlCol="false"/>
                    <a:lstStyle/>
                    <a:p>
                      <a:pPr algn="l">
                        <a:lnSpc>
                          <a:spcPts val="2400"/>
                        </a:lnSpc>
                        <a:defRPr/>
                      </a:pPr>
                      <a:r>
                        <a:rPr lang="en-US" sz="2000">
                          <a:solidFill>
                            <a:srgbClr val="0D1B2A"/>
                          </a:solidFill>
                          <a:latin typeface="Bree Serif"/>
                          <a:ea typeface="Bree Serif"/>
                          <a:cs typeface="Bree Serif"/>
                          <a:sym typeface="Bree Serif"/>
                        </a:rPr>
                        <a:t>Random Forest</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E8F4F6"/>
                    </a:solidFill>
                  </a:tcPr>
                </a:tc>
                <a:tc>
                  <a:txBody>
                    <a:bodyPr anchor="t" rtlCol="false"/>
                    <a:lstStyle/>
                    <a:p>
                      <a:pPr algn="l">
                        <a:lnSpc>
                          <a:spcPts val="2400"/>
                        </a:lnSpc>
                        <a:defRPr/>
                      </a:pPr>
                      <a:r>
                        <a:rPr lang="en-US" sz="2000">
                          <a:solidFill>
                            <a:srgbClr val="0D1B2A"/>
                          </a:solidFill>
                          <a:latin typeface="Bree Serif"/>
                          <a:ea typeface="Bree Serif"/>
                          <a:cs typeface="Bree Serif"/>
                          <a:sym typeface="Bree Serif"/>
                        </a:rPr>
                        <a:t>0.7641</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E8F4F6"/>
                    </a:solidFill>
                  </a:tcPr>
                </a:tc>
                <a:tc>
                  <a:txBody>
                    <a:bodyPr anchor="t" rtlCol="false"/>
                    <a:lstStyle/>
                    <a:p>
                      <a:pPr algn="l">
                        <a:lnSpc>
                          <a:spcPts val="2400"/>
                        </a:lnSpc>
                        <a:defRPr/>
                      </a:pPr>
                      <a:r>
                        <a:rPr lang="en-US" sz="2000">
                          <a:solidFill>
                            <a:srgbClr val="0D1B2A"/>
                          </a:solidFill>
                          <a:latin typeface="Bree Serif"/>
                          <a:ea typeface="Bree Serif"/>
                          <a:cs typeface="Bree Serif"/>
                          <a:sym typeface="Bree Serif"/>
                        </a:rPr>
                        <a:t>0.9374</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E8F4F6"/>
                    </a:solidFill>
                  </a:tcPr>
                </a:tc>
                <a:tc>
                  <a:txBody>
                    <a:bodyPr anchor="t" rtlCol="false"/>
                    <a:lstStyle/>
                    <a:p>
                      <a:pPr algn="l">
                        <a:lnSpc>
                          <a:spcPts val="2400"/>
                        </a:lnSpc>
                        <a:defRPr/>
                      </a:pPr>
                      <a:r>
                        <a:rPr lang="en-US" sz="2000">
                          <a:solidFill>
                            <a:srgbClr val="0D1B2A"/>
                          </a:solidFill>
                          <a:latin typeface="Bree Serif"/>
                          <a:ea typeface="Bree Serif"/>
                          <a:cs typeface="Bree Serif"/>
                          <a:sym typeface="Bree Serif"/>
                        </a:rPr>
                        <a:t>0.90</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E8F4F6"/>
                    </a:solidFill>
                  </a:tcPr>
                </a:tc>
                <a:tc>
                  <a:txBody>
                    <a:bodyPr anchor="t" rtlCol="false"/>
                    <a:lstStyle/>
                    <a:p>
                      <a:pPr algn="l">
                        <a:lnSpc>
                          <a:spcPts val="2400"/>
                        </a:lnSpc>
                        <a:defRPr/>
                      </a:pPr>
                      <a:r>
                        <a:rPr lang="en-US" sz="2000">
                          <a:solidFill>
                            <a:srgbClr val="0D1B2A"/>
                          </a:solidFill>
                          <a:latin typeface="Bree Serif"/>
                          <a:ea typeface="Bree Serif"/>
                          <a:cs typeface="Bree Serif"/>
                          <a:sym typeface="Bree Serif"/>
                        </a:rPr>
                        <a:t>108</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E8F4F6"/>
                    </a:solidFill>
                  </a:tcPr>
                </a:tc>
              </a:tr>
              <a:tr h="877299">
                <a:tc>
                  <a:txBody>
                    <a:bodyPr anchor="t" rtlCol="false"/>
                    <a:lstStyle/>
                    <a:p>
                      <a:pPr algn="l">
                        <a:lnSpc>
                          <a:spcPts val="2400"/>
                        </a:lnSpc>
                        <a:defRPr/>
                      </a:pPr>
                      <a:r>
                        <a:rPr lang="en-US" sz="2000">
                          <a:solidFill>
                            <a:srgbClr val="0D1B2A"/>
                          </a:solidFill>
                          <a:latin typeface="Bree Serif"/>
                          <a:ea typeface="Bree Serif"/>
                          <a:cs typeface="Bree Serif"/>
                          <a:sym typeface="Bree Serif"/>
                        </a:rPr>
                        <a:t>BiLSTM (Baseline)</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0D1B2A"/>
                          </a:solidFill>
                          <a:latin typeface="Bree Serif"/>
                          <a:ea typeface="Bree Serif"/>
                          <a:cs typeface="Bree Serif"/>
                          <a:sym typeface="Bree Serif"/>
                        </a:rPr>
                        <a:t>0.8269</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0D1B2A"/>
                          </a:solidFill>
                          <a:latin typeface="Bree Serif"/>
                          <a:ea typeface="Bree Serif"/>
                          <a:cs typeface="Bree Serif"/>
                          <a:sym typeface="Bree Serif"/>
                        </a:rPr>
                        <a:t>0.9542</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0D1B2A"/>
                          </a:solidFill>
                          <a:latin typeface="Bree Serif"/>
                          <a:ea typeface="Bree Serif"/>
                          <a:cs typeface="Bree Serif"/>
                          <a:sym typeface="Bree Serif"/>
                        </a:rPr>
                        <a:t>0.82</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0D1B2A"/>
                          </a:solidFill>
                          <a:latin typeface="Bree Serif"/>
                          <a:ea typeface="Bree Serif"/>
                          <a:cs typeface="Bree Serif"/>
                          <a:sym typeface="Bree Serif"/>
                        </a:rPr>
                        <a:t>68</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r>
              <a:tr h="877299">
                <a:tc>
                  <a:txBody>
                    <a:bodyPr anchor="t" rtlCol="false"/>
                    <a:lstStyle/>
                    <a:p>
                      <a:pPr algn="l">
                        <a:lnSpc>
                          <a:spcPts val="2400"/>
                        </a:lnSpc>
                        <a:defRPr/>
                      </a:pPr>
                      <a:r>
                        <a:rPr lang="en-US" sz="2000">
                          <a:solidFill>
                            <a:srgbClr val="028090"/>
                          </a:solidFill>
                          <a:latin typeface="Bree Serif"/>
                          <a:ea typeface="Bree Serif"/>
                          <a:cs typeface="Bree Serif"/>
                          <a:sym typeface="Bree Serif"/>
                        </a:rPr>
                        <a:t>BiLSTM FT-1 ★ (best safety)</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A1F7DA"/>
                    </a:solidFill>
                  </a:tcPr>
                </a:tc>
                <a:tc>
                  <a:txBody>
                    <a:bodyPr anchor="t" rtlCol="false"/>
                    <a:lstStyle/>
                    <a:p>
                      <a:pPr algn="l">
                        <a:lnSpc>
                          <a:spcPts val="2400"/>
                        </a:lnSpc>
                        <a:defRPr/>
                      </a:pPr>
                      <a:r>
                        <a:rPr lang="en-US" sz="2000">
                          <a:solidFill>
                            <a:srgbClr val="028090"/>
                          </a:solidFill>
                          <a:latin typeface="Bree Serif"/>
                          <a:ea typeface="Bree Serif"/>
                          <a:cs typeface="Bree Serif"/>
                          <a:sym typeface="Bree Serif"/>
                        </a:rPr>
                        <a:t>0.8368</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A1F7DA"/>
                    </a:solidFill>
                  </a:tcPr>
                </a:tc>
                <a:tc>
                  <a:txBody>
                    <a:bodyPr anchor="t" rtlCol="false"/>
                    <a:lstStyle/>
                    <a:p>
                      <a:pPr algn="l">
                        <a:lnSpc>
                          <a:spcPts val="2400"/>
                        </a:lnSpc>
                        <a:defRPr/>
                      </a:pPr>
                      <a:r>
                        <a:rPr lang="en-US" sz="2000">
                          <a:solidFill>
                            <a:srgbClr val="028090"/>
                          </a:solidFill>
                          <a:latin typeface="Bree Serif"/>
                          <a:ea typeface="Bree Serif"/>
                          <a:cs typeface="Bree Serif"/>
                          <a:sym typeface="Bree Serif"/>
                        </a:rPr>
                        <a:t>0.9472</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A1F7DA"/>
                    </a:solidFill>
                  </a:tcPr>
                </a:tc>
                <a:tc>
                  <a:txBody>
                    <a:bodyPr anchor="t" rtlCol="false"/>
                    <a:lstStyle/>
                    <a:p>
                      <a:pPr algn="l">
                        <a:lnSpc>
                          <a:spcPts val="2400"/>
                        </a:lnSpc>
                        <a:defRPr/>
                      </a:pPr>
                      <a:r>
                        <a:rPr lang="en-US" sz="2000">
                          <a:solidFill>
                            <a:srgbClr val="028090"/>
                          </a:solidFill>
                          <a:latin typeface="Bree Serif"/>
                          <a:ea typeface="Bree Serif"/>
                          <a:cs typeface="Bree Serif"/>
                          <a:sym typeface="Bree Serif"/>
                        </a:rPr>
                        <a:t>0.85</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A1F7DA"/>
                    </a:solidFill>
                  </a:tcPr>
                </a:tc>
                <a:tc>
                  <a:txBody>
                    <a:bodyPr anchor="t" rtlCol="false"/>
                    <a:lstStyle/>
                    <a:p>
                      <a:pPr algn="l">
                        <a:lnSpc>
                          <a:spcPts val="2400"/>
                        </a:lnSpc>
                        <a:defRPr/>
                      </a:pPr>
                      <a:r>
                        <a:rPr lang="en-US" sz="2000">
                          <a:solidFill>
                            <a:srgbClr val="028090"/>
                          </a:solidFill>
                          <a:latin typeface="Bree Serif"/>
                          <a:ea typeface="Bree Serif"/>
                          <a:cs typeface="Bree Serif"/>
                          <a:sym typeface="Bree Serif"/>
                        </a:rPr>
                        <a:t>41</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A1F7DA"/>
                    </a:solidFill>
                  </a:tcPr>
                </a:tc>
              </a:tr>
              <a:tr h="591214">
                <a:tc>
                  <a:txBody>
                    <a:bodyPr anchor="t" rtlCol="false"/>
                    <a:lstStyle/>
                    <a:p>
                      <a:pPr algn="l">
                        <a:lnSpc>
                          <a:spcPts val="2400"/>
                        </a:lnSpc>
                        <a:defRPr/>
                      </a:pPr>
                      <a:r>
                        <a:rPr lang="en-US" sz="2000">
                          <a:solidFill>
                            <a:srgbClr val="0D1B2A"/>
                          </a:solidFill>
                          <a:latin typeface="Bree Serif"/>
                          <a:ea typeface="Bree Serif"/>
                          <a:cs typeface="Bree Serif"/>
                          <a:sym typeface="Bree Serif"/>
                        </a:rPr>
                        <a:t>BiLSTM FT-2</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0D1B2A"/>
                          </a:solidFill>
                          <a:latin typeface="Bree Serif"/>
                          <a:ea typeface="Bree Serif"/>
                          <a:cs typeface="Bree Serif"/>
                          <a:sym typeface="Bree Serif"/>
                        </a:rPr>
                        <a:t>0.7916</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0D1B2A"/>
                          </a:solidFill>
                          <a:latin typeface="Bree Serif"/>
                          <a:ea typeface="Bree Serif"/>
                          <a:cs typeface="Bree Serif"/>
                          <a:sym typeface="Bree Serif"/>
                        </a:rPr>
                        <a:t>0.9305</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0D1B2A"/>
                          </a:solidFill>
                          <a:latin typeface="Bree Serif"/>
                          <a:ea typeface="Bree Serif"/>
                          <a:cs typeface="Bree Serif"/>
                          <a:sym typeface="Bree Serif"/>
                        </a:rPr>
                        <a:t>0.78</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0D1B2A"/>
                          </a:solidFill>
                          <a:latin typeface="Bree Serif"/>
                          <a:ea typeface="Bree Serif"/>
                          <a:cs typeface="Bree Serif"/>
                          <a:sym typeface="Bree Serif"/>
                        </a:rPr>
                        <a:t>41</a:t>
                      </a:r>
                      <a:endParaRPr lang="en-US" sz="1100"/>
                    </a:p>
                  </a:txBody>
                  <a:tcPr marL="91440" marR="91440" marT="91440" marB="91440" anchor="t">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FFFFFF"/>
                    </a:solidFill>
                  </a:tcPr>
                </a:tc>
              </a:tr>
            </a:tbl>
          </a:graphicData>
        </a:graphic>
      </p:graphicFrame>
      <p:sp>
        <p:nvSpPr>
          <p:cNvPr name="Freeform 3" id="3"/>
          <p:cNvSpPr/>
          <p:nvPr/>
        </p:nvSpPr>
        <p:spPr>
          <a:xfrm flipH="false" flipV="false" rot="0">
            <a:off x="10892949" y="2149775"/>
            <a:ext cx="6066829" cy="5781554"/>
          </a:xfrm>
          <a:custGeom>
            <a:avLst/>
            <a:gdLst/>
            <a:ahLst/>
            <a:cxnLst/>
            <a:rect r="r" b="b" t="t" l="l"/>
            <a:pathLst>
              <a:path h="5781554" w="6066829">
                <a:moveTo>
                  <a:pt x="0" y="0"/>
                </a:moveTo>
                <a:lnTo>
                  <a:pt x="6066829" y="0"/>
                </a:lnTo>
                <a:lnTo>
                  <a:pt x="6066829" y="5781555"/>
                </a:lnTo>
                <a:lnTo>
                  <a:pt x="0" y="5781555"/>
                </a:lnTo>
                <a:lnTo>
                  <a:pt x="0" y="0"/>
                </a:lnTo>
                <a:close/>
              </a:path>
            </a:pathLst>
          </a:custGeom>
          <a:blipFill>
            <a:blip r:embed="rId2"/>
            <a:stretch>
              <a:fillRect l="0" t="0" r="0" b="0"/>
            </a:stretch>
          </a:blipFill>
        </p:spPr>
      </p:sp>
      <p:sp>
        <p:nvSpPr>
          <p:cNvPr name="TextBox 4" id="4"/>
          <p:cNvSpPr txBox="true"/>
          <p:nvPr/>
        </p:nvSpPr>
        <p:spPr>
          <a:xfrm rot="0">
            <a:off x="1112168" y="953367"/>
            <a:ext cx="16063663" cy="741045"/>
          </a:xfrm>
          <a:prstGeom prst="rect">
            <a:avLst/>
          </a:prstGeom>
        </p:spPr>
        <p:txBody>
          <a:bodyPr anchor="t" rtlCol="false" tIns="0" lIns="0" bIns="0" rIns="0">
            <a:spAutoFit/>
          </a:bodyPr>
          <a:lstStyle/>
          <a:p>
            <a:pPr algn="ctr">
              <a:lnSpc>
                <a:spcPts val="5340"/>
              </a:lnSpc>
            </a:pPr>
            <a:r>
              <a:rPr lang="en-US" sz="6000" spc="-330">
                <a:solidFill>
                  <a:srgbClr val="5E17EB"/>
                </a:solidFill>
                <a:latin typeface="Bree Serif"/>
                <a:ea typeface="Bree Serif"/>
                <a:cs typeface="Bree Serif"/>
                <a:sym typeface="Bree Serif"/>
              </a:rPr>
              <a:t>Results</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323962"/>
                </a:solidFill>
                <a:latin typeface="Bree Serif"/>
                <a:ea typeface="Bree Serif"/>
                <a:cs typeface="Bree Serif"/>
                <a:sym typeface="Bree Serif"/>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BD8E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202582"/>
            <a:ext cx="8277553" cy="4076695"/>
          </a:xfrm>
          <a:custGeom>
            <a:avLst/>
            <a:gdLst/>
            <a:ahLst/>
            <a:cxnLst/>
            <a:rect r="r" b="b" t="t" l="l"/>
            <a:pathLst>
              <a:path h="4076695" w="8277553">
                <a:moveTo>
                  <a:pt x="0" y="0"/>
                </a:moveTo>
                <a:lnTo>
                  <a:pt x="8277553" y="0"/>
                </a:lnTo>
                <a:lnTo>
                  <a:pt x="8277553" y="4076695"/>
                </a:lnTo>
                <a:lnTo>
                  <a:pt x="0" y="4076695"/>
                </a:lnTo>
                <a:lnTo>
                  <a:pt x="0" y="0"/>
                </a:lnTo>
                <a:close/>
              </a:path>
            </a:pathLst>
          </a:custGeom>
          <a:blipFill>
            <a:blip r:embed="rId2"/>
            <a:stretch>
              <a:fillRect l="0" t="0" r="0" b="0"/>
            </a:stretch>
          </a:blipFill>
        </p:spPr>
      </p:sp>
      <p:sp>
        <p:nvSpPr>
          <p:cNvPr name="Freeform 3" id="3"/>
          <p:cNvSpPr/>
          <p:nvPr/>
        </p:nvSpPr>
        <p:spPr>
          <a:xfrm flipH="false" flipV="false" rot="0">
            <a:off x="6231026" y="5738567"/>
            <a:ext cx="7027785" cy="3821358"/>
          </a:xfrm>
          <a:custGeom>
            <a:avLst/>
            <a:gdLst/>
            <a:ahLst/>
            <a:cxnLst/>
            <a:rect r="r" b="b" t="t" l="l"/>
            <a:pathLst>
              <a:path h="3821358" w="7027785">
                <a:moveTo>
                  <a:pt x="0" y="0"/>
                </a:moveTo>
                <a:lnTo>
                  <a:pt x="7027784" y="0"/>
                </a:lnTo>
                <a:lnTo>
                  <a:pt x="7027784" y="3821358"/>
                </a:lnTo>
                <a:lnTo>
                  <a:pt x="0" y="3821358"/>
                </a:lnTo>
                <a:lnTo>
                  <a:pt x="0" y="0"/>
                </a:lnTo>
                <a:close/>
              </a:path>
            </a:pathLst>
          </a:custGeom>
          <a:blipFill>
            <a:blip r:embed="rId3"/>
            <a:stretch>
              <a:fillRect l="0" t="0" r="0" b="0"/>
            </a:stretch>
          </a:blipFill>
        </p:spPr>
      </p:sp>
      <p:sp>
        <p:nvSpPr>
          <p:cNvPr name="Freeform 4" id="4"/>
          <p:cNvSpPr/>
          <p:nvPr/>
        </p:nvSpPr>
        <p:spPr>
          <a:xfrm flipH="false" flipV="false" rot="0">
            <a:off x="10058235" y="1262537"/>
            <a:ext cx="6892015" cy="4016740"/>
          </a:xfrm>
          <a:custGeom>
            <a:avLst/>
            <a:gdLst/>
            <a:ahLst/>
            <a:cxnLst/>
            <a:rect r="r" b="b" t="t" l="l"/>
            <a:pathLst>
              <a:path h="4016740" w="6892015">
                <a:moveTo>
                  <a:pt x="0" y="0"/>
                </a:moveTo>
                <a:lnTo>
                  <a:pt x="6892015" y="0"/>
                </a:lnTo>
                <a:lnTo>
                  <a:pt x="6892015" y="4016740"/>
                </a:lnTo>
                <a:lnTo>
                  <a:pt x="0" y="4016740"/>
                </a:lnTo>
                <a:lnTo>
                  <a:pt x="0" y="0"/>
                </a:lnTo>
                <a:close/>
              </a:path>
            </a:pathLst>
          </a:custGeom>
          <a:blipFill>
            <a:blip r:embed="rId4"/>
            <a:stretch>
              <a:fillRect l="0" t="-402" r="0" b="-402"/>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9</a:t>
            </a:r>
          </a:p>
        </p:txBody>
      </p:sp>
      <p:sp>
        <p:nvSpPr>
          <p:cNvPr name="TextBox 6" id="6"/>
          <p:cNvSpPr txBox="true"/>
          <p:nvPr/>
        </p:nvSpPr>
        <p:spPr>
          <a:xfrm rot="0">
            <a:off x="1028700" y="255378"/>
            <a:ext cx="2469952" cy="542925"/>
          </a:xfrm>
          <a:prstGeom prst="rect">
            <a:avLst/>
          </a:prstGeom>
        </p:spPr>
        <p:txBody>
          <a:bodyPr anchor="t" rtlCol="false" tIns="0" lIns="0" bIns="0" rIns="0">
            <a:spAutoFit/>
          </a:bodyPr>
          <a:lstStyle/>
          <a:p>
            <a:pPr algn="ctr">
              <a:lnSpc>
                <a:spcPts val="4319"/>
              </a:lnSpc>
              <a:spcBef>
                <a:spcPct val="0"/>
              </a:spcBef>
            </a:pPr>
            <a:r>
              <a:rPr lang="en-US" sz="3599">
                <a:solidFill>
                  <a:srgbClr val="5E17EB"/>
                </a:solidFill>
                <a:latin typeface="Bree Serif"/>
                <a:ea typeface="Bree Serif"/>
                <a:cs typeface="Bree Serif"/>
                <a:sym typeface="Bree Serif"/>
              </a:rPr>
              <a:t>Deployment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BD8ED"/>
        </a:solidFill>
      </p:bgPr>
    </p:bg>
    <p:spTree>
      <p:nvGrpSpPr>
        <p:cNvPr id="1" name=""/>
        <p:cNvGrpSpPr/>
        <p:nvPr/>
      </p:nvGrpSpPr>
      <p:grpSpPr>
        <a:xfrm>
          <a:off x="0" y="0"/>
          <a:ext cx="0" cy="0"/>
          <a:chOff x="0" y="0"/>
          <a:chExt cx="0" cy="0"/>
        </a:xfrm>
      </p:grpSpPr>
      <p:sp>
        <p:nvSpPr>
          <p:cNvPr name="Freeform 2" id="2"/>
          <p:cNvSpPr/>
          <p:nvPr/>
        </p:nvSpPr>
        <p:spPr>
          <a:xfrm flipH="false" flipV="false" rot="0">
            <a:off x="3634358" y="3272837"/>
            <a:ext cx="9520636" cy="2960052"/>
          </a:xfrm>
          <a:custGeom>
            <a:avLst/>
            <a:gdLst/>
            <a:ahLst/>
            <a:cxnLst/>
            <a:rect r="r" b="b" t="t" l="l"/>
            <a:pathLst>
              <a:path h="2960052" w="9520636">
                <a:moveTo>
                  <a:pt x="0" y="0"/>
                </a:moveTo>
                <a:lnTo>
                  <a:pt x="9520636" y="0"/>
                </a:lnTo>
                <a:lnTo>
                  <a:pt x="9520636" y="2960052"/>
                </a:lnTo>
                <a:lnTo>
                  <a:pt x="0" y="29600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DAHKKWiujYM</dc:identifier>
  <dcterms:modified xsi:type="dcterms:W3CDTF">2011-08-01T06:04:30Z</dcterms:modified>
  <cp:revision>1</cp:revision>
  <dc:title>digital signals</dc:title>
</cp:coreProperties>
</file>